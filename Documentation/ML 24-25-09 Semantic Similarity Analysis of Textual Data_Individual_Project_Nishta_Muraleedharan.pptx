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85" r:id="rId1"/>
  </p:sldMasterIdLst>
  <p:sldIdLst>
    <p:sldId id="256" r:id="rId2"/>
    <p:sldId id="257" r:id="rId3"/>
    <p:sldId id="258" r:id="rId4"/>
    <p:sldId id="259" r:id="rId5"/>
    <p:sldId id="273" r:id="rId6"/>
    <p:sldId id="274" r:id="rId7"/>
    <p:sldId id="275" r:id="rId8"/>
    <p:sldId id="262" r:id="rId9"/>
    <p:sldId id="276" r:id="rId10"/>
    <p:sldId id="277" r:id="rId11"/>
    <p:sldId id="278" r:id="rId12"/>
    <p:sldId id="279" r:id="rId13"/>
    <p:sldId id="281" r:id="rId14"/>
    <p:sldId id="283" r:id="rId15"/>
    <p:sldId id="285" r:id="rId16"/>
    <p:sldId id="286" r:id="rId17"/>
    <p:sldId id="287" r:id="rId18"/>
    <p:sldId id="29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FA43F2-B754-7E9B-5537-A84B939C96D2}" v="3386" dt="2025-03-30T18:44:47.943"/>
    <p1510:client id="{7500EE40-C4CD-65F7-1014-EE5D777896BD}" v="1440" dt="2025-03-31T10:33:31.379"/>
    <p1510:client id="{EB3A9106-A5C0-CC41-47B9-3D86C1534EE3}" v="1577" dt="2025-03-30T20:02:34.1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6C33018E101D6744/TextSimilarityAnalyser.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6C33018E101D6744/TextSimilarityAnalyser.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6C33018E101D6744/TextSimilarityAnalyser.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6C33018E101D6744/TextSimilarityAnalyser.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Single Embedding Comparison</a:t>
            </a:r>
          </a:p>
        </c:rich>
      </c:tx>
      <c:layout>
        <c:manualLayout>
          <c:xMode val="edge"/>
          <c:yMode val="edge"/>
          <c:x val="0.43574568832435534"/>
          <c:y val="2.374432010737728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'best approach for doc vs word '!$C$48</c:f>
              <c:strCache>
                <c:ptCount val="1"/>
                <c:pt idx="0">
                  <c:v>Football</c:v>
                </c:pt>
              </c:strCache>
            </c:strRef>
          </c:tx>
          <c:spPr>
            <a:solidFill>
              <a:schemeClr val="accent1"/>
            </a:solidFill>
            <a:ln>
              <a:noFill/>
            </a:ln>
            <a:effectLst/>
          </c:spPr>
          <c:invertIfNegative val="0"/>
          <c:cat>
            <c:strRef>
              <c:f>'best approach for doc vs word '!$B$49:$B$54</c:f>
              <c:strCache>
                <c:ptCount val="6"/>
                <c:pt idx="0">
                  <c:v>1. Football (only about football)</c:v>
                </c:pt>
                <c:pt idx="1">
                  <c:v>2. Global warming(1 whole para about football)</c:v>
                </c:pt>
                <c:pt idx="2">
                  <c:v>3. Sports(2 mention of football)</c:v>
                </c:pt>
                <c:pt idx="3">
                  <c:v>4. Sports(0 mention of football)</c:v>
                </c:pt>
                <c:pt idx="4">
                  <c:v>5. Leisure activities(0 mentions of football)</c:v>
                </c:pt>
                <c:pt idx="5">
                  <c:v>6. Global warming(0 mention of football)</c:v>
                </c:pt>
              </c:strCache>
            </c:strRef>
          </c:cat>
          <c:val>
            <c:numRef>
              <c:f>'best approach for doc vs word '!$C$49:$C$54</c:f>
              <c:numCache>
                <c:formatCode>General</c:formatCode>
                <c:ptCount val="6"/>
                <c:pt idx="0">
                  <c:v>0.44138524000000001</c:v>
                </c:pt>
                <c:pt idx="1">
                  <c:v>0.33425411999999999</c:v>
                </c:pt>
                <c:pt idx="2">
                  <c:v>0.31419357999999997</c:v>
                </c:pt>
                <c:pt idx="3">
                  <c:v>0.31432622999999998</c:v>
                </c:pt>
                <c:pt idx="4">
                  <c:v>0.18780669999999999</c:v>
                </c:pt>
                <c:pt idx="5">
                  <c:v>0.10135274</c:v>
                </c:pt>
              </c:numCache>
            </c:numRef>
          </c:val>
          <c:extLst>
            <c:ext xmlns:c16="http://schemas.microsoft.com/office/drawing/2014/chart" uri="{C3380CC4-5D6E-409C-BE32-E72D297353CC}">
              <c16:uniqueId val="{00000000-93A4-49DD-B6A9-652937E7157F}"/>
            </c:ext>
          </c:extLst>
        </c:ser>
        <c:ser>
          <c:idx val="1"/>
          <c:order val="1"/>
          <c:tx>
            <c:strRef>
              <c:f>'best approach for doc vs word '!$D$48</c:f>
              <c:strCache>
                <c:ptCount val="1"/>
              </c:strCache>
            </c:strRef>
          </c:tx>
          <c:spPr>
            <a:solidFill>
              <a:schemeClr val="accent2"/>
            </a:solidFill>
            <a:ln>
              <a:noFill/>
            </a:ln>
            <a:effectLst/>
          </c:spPr>
          <c:invertIfNegative val="0"/>
          <c:cat>
            <c:strRef>
              <c:f>'best approach for doc vs word '!$B$49:$B$54</c:f>
              <c:strCache>
                <c:ptCount val="6"/>
                <c:pt idx="0">
                  <c:v>1. Football (only about football)</c:v>
                </c:pt>
                <c:pt idx="1">
                  <c:v>2. Global warming(1 whole para about football)</c:v>
                </c:pt>
                <c:pt idx="2">
                  <c:v>3. Sports(2 mention of football)</c:v>
                </c:pt>
                <c:pt idx="3">
                  <c:v>4. Sports(0 mention of football)</c:v>
                </c:pt>
                <c:pt idx="4">
                  <c:v>5. Leisure activities(0 mentions of football)</c:v>
                </c:pt>
                <c:pt idx="5">
                  <c:v>6. Global warming(0 mention of football)</c:v>
                </c:pt>
              </c:strCache>
            </c:strRef>
          </c:cat>
          <c:val>
            <c:numRef>
              <c:f>'best approach for doc vs word '!$D$49:$D$54</c:f>
              <c:numCache>
                <c:formatCode>General</c:formatCode>
                <c:ptCount val="6"/>
              </c:numCache>
            </c:numRef>
          </c:val>
          <c:extLst>
            <c:ext xmlns:c16="http://schemas.microsoft.com/office/drawing/2014/chart" uri="{C3380CC4-5D6E-409C-BE32-E72D297353CC}">
              <c16:uniqueId val="{00000001-93A4-49DD-B6A9-652937E7157F}"/>
            </c:ext>
          </c:extLst>
        </c:ser>
        <c:dLbls>
          <c:showLegendKey val="0"/>
          <c:showVal val="0"/>
          <c:showCatName val="0"/>
          <c:showSerName val="0"/>
          <c:showPercent val="0"/>
          <c:showBubbleSize val="0"/>
        </c:dLbls>
        <c:gapWidth val="219"/>
        <c:overlap val="-27"/>
        <c:axId val="1485306888"/>
        <c:axId val="1623069704"/>
      </c:barChart>
      <c:catAx>
        <c:axId val="1485306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23069704"/>
        <c:crosses val="autoZero"/>
        <c:auto val="1"/>
        <c:lblAlgn val="ctr"/>
        <c:lblOffset val="100"/>
        <c:noMultiLvlLbl val="0"/>
      </c:catAx>
      <c:valAx>
        <c:axId val="16230697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53068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'best approach for doc vs word '!$C$126</c:f>
              <c:strCache>
                <c:ptCount val="1"/>
                <c:pt idx="0">
                  <c:v>Football</c:v>
                </c:pt>
              </c:strCache>
            </c:strRef>
          </c:tx>
          <c:spPr>
            <a:solidFill>
              <a:schemeClr val="accent1"/>
            </a:solidFill>
            <a:ln>
              <a:noFill/>
            </a:ln>
            <a:effectLst/>
          </c:spPr>
          <c:invertIfNegative val="0"/>
          <c:cat>
            <c:strRef>
              <c:f>'best approach for doc vs word '!$B$127:$B$132</c:f>
              <c:strCache>
                <c:ptCount val="6"/>
                <c:pt idx="0">
                  <c:v>Football (only about football)</c:v>
                </c:pt>
                <c:pt idx="1">
                  <c:v>Global warming(1 whole para about football)</c:v>
                </c:pt>
                <c:pt idx="2">
                  <c:v>Sports(2 mention of football)</c:v>
                </c:pt>
                <c:pt idx="3">
                  <c:v>Sports(0 mention of football)</c:v>
                </c:pt>
                <c:pt idx="4">
                  <c:v>Leisure activities(0 mentions of football)</c:v>
                </c:pt>
                <c:pt idx="5">
                  <c:v>Global warming(0 mention of football)</c:v>
                </c:pt>
              </c:strCache>
            </c:strRef>
          </c:cat>
          <c:val>
            <c:numRef>
              <c:f>'best approach for doc vs word '!$C$127:$C$132</c:f>
              <c:numCache>
                <c:formatCode>General</c:formatCode>
                <c:ptCount val="6"/>
                <c:pt idx="0">
                  <c:v>0.44614163000000001</c:v>
                </c:pt>
                <c:pt idx="1">
                  <c:v>0.39114189999999999</c:v>
                </c:pt>
                <c:pt idx="2">
                  <c:v>0.31431049999999999</c:v>
                </c:pt>
                <c:pt idx="3">
                  <c:v>0.30900929999999999</c:v>
                </c:pt>
                <c:pt idx="4">
                  <c:v>0.18363305999999999</c:v>
                </c:pt>
                <c:pt idx="5">
                  <c:v>9.1521025000000006E-2</c:v>
                </c:pt>
              </c:numCache>
            </c:numRef>
          </c:val>
          <c:extLst>
            <c:ext xmlns:c16="http://schemas.microsoft.com/office/drawing/2014/chart" uri="{C3380CC4-5D6E-409C-BE32-E72D297353CC}">
              <c16:uniqueId val="{00000000-7938-40E3-A9CD-B860CF6E89F5}"/>
            </c:ext>
          </c:extLst>
        </c:ser>
        <c:ser>
          <c:idx val="1"/>
          <c:order val="1"/>
          <c:tx>
            <c:strRef>
              <c:f>'best approach for doc vs word '!$D$126</c:f>
              <c:strCache>
                <c:ptCount val="1"/>
              </c:strCache>
            </c:strRef>
          </c:tx>
          <c:spPr>
            <a:solidFill>
              <a:schemeClr val="accent2"/>
            </a:solidFill>
            <a:ln>
              <a:noFill/>
            </a:ln>
            <a:effectLst/>
          </c:spPr>
          <c:invertIfNegative val="0"/>
          <c:cat>
            <c:strRef>
              <c:f>'best approach for doc vs word '!$B$127:$B$132</c:f>
              <c:strCache>
                <c:ptCount val="6"/>
                <c:pt idx="0">
                  <c:v>Football (only about football)</c:v>
                </c:pt>
                <c:pt idx="1">
                  <c:v>Global warming(1 whole para about football)</c:v>
                </c:pt>
                <c:pt idx="2">
                  <c:v>Sports(2 mention of football)</c:v>
                </c:pt>
                <c:pt idx="3">
                  <c:v>Sports(0 mention of football)</c:v>
                </c:pt>
                <c:pt idx="4">
                  <c:v>Leisure activities(0 mentions of football)</c:v>
                </c:pt>
                <c:pt idx="5">
                  <c:v>Global warming(0 mention of football)</c:v>
                </c:pt>
              </c:strCache>
            </c:strRef>
          </c:cat>
          <c:val>
            <c:numRef>
              <c:f>'best approach for doc vs word '!$D$127:$D$132</c:f>
              <c:numCache>
                <c:formatCode>General</c:formatCode>
                <c:ptCount val="6"/>
              </c:numCache>
            </c:numRef>
          </c:val>
          <c:extLst>
            <c:ext xmlns:c16="http://schemas.microsoft.com/office/drawing/2014/chart" uri="{C3380CC4-5D6E-409C-BE32-E72D297353CC}">
              <c16:uniqueId val="{00000001-7938-40E3-A9CD-B860CF6E89F5}"/>
            </c:ext>
          </c:extLst>
        </c:ser>
        <c:dLbls>
          <c:showLegendKey val="0"/>
          <c:showVal val="0"/>
          <c:showCatName val="0"/>
          <c:showSerName val="0"/>
          <c:showPercent val="0"/>
          <c:showBubbleSize val="0"/>
        </c:dLbls>
        <c:gapWidth val="219"/>
        <c:overlap val="-27"/>
        <c:axId val="1776352776"/>
        <c:axId val="1780258312"/>
      </c:barChart>
      <c:catAx>
        <c:axId val="1776352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0258312"/>
        <c:crosses val="autoZero"/>
        <c:auto val="1"/>
        <c:lblAlgn val="ctr"/>
        <c:lblOffset val="100"/>
        <c:noMultiLvlLbl val="0"/>
      </c:catAx>
      <c:valAx>
        <c:axId val="17802583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63527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'best approach for doc vs word '!$C$151</c:f>
              <c:strCache>
                <c:ptCount val="1"/>
                <c:pt idx="0">
                  <c:v>Effect of cultural diversity on an individual level</c:v>
                </c:pt>
              </c:strCache>
            </c:strRef>
          </c:tx>
          <c:spPr>
            <a:solidFill>
              <a:schemeClr val="accent1"/>
            </a:solidFill>
            <a:ln>
              <a:noFill/>
            </a:ln>
            <a:effectLst/>
          </c:spPr>
          <c:invertIfNegative val="0"/>
          <c:cat>
            <c:strRef>
              <c:f>'best approach for doc vs word '!$B$152:$B$153</c:f>
              <c:strCache>
                <c:ptCount val="2"/>
                <c:pt idx="0">
                  <c:v>Multicultural Experiences</c:v>
                </c:pt>
                <c:pt idx="1">
                  <c:v>Team work in a multicultural context</c:v>
                </c:pt>
              </c:strCache>
            </c:strRef>
          </c:cat>
          <c:val>
            <c:numRef>
              <c:f>'best approach for doc vs word '!$C$152:$C$153</c:f>
              <c:numCache>
                <c:formatCode>General</c:formatCode>
                <c:ptCount val="2"/>
                <c:pt idx="0">
                  <c:v>0.53106123000000005</c:v>
                </c:pt>
                <c:pt idx="1">
                  <c:v>0.52539515000000003</c:v>
                </c:pt>
              </c:numCache>
            </c:numRef>
          </c:val>
          <c:extLst>
            <c:ext xmlns:c16="http://schemas.microsoft.com/office/drawing/2014/chart" uri="{C3380CC4-5D6E-409C-BE32-E72D297353CC}">
              <c16:uniqueId val="{00000000-5321-40AF-8D07-9F7D375AD8EB}"/>
            </c:ext>
          </c:extLst>
        </c:ser>
        <c:dLbls>
          <c:showLegendKey val="0"/>
          <c:showVal val="0"/>
          <c:showCatName val="0"/>
          <c:showSerName val="0"/>
          <c:showPercent val="0"/>
          <c:showBubbleSize val="0"/>
        </c:dLbls>
        <c:gapWidth val="219"/>
        <c:overlap val="-27"/>
        <c:axId val="48833543"/>
        <c:axId val="48835591"/>
      </c:barChart>
      <c:catAx>
        <c:axId val="488335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835591"/>
        <c:crosses val="autoZero"/>
        <c:auto val="1"/>
        <c:lblAlgn val="ctr"/>
        <c:lblOffset val="100"/>
        <c:noMultiLvlLbl val="0"/>
      </c:catAx>
      <c:valAx>
        <c:axId val="48835591"/>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8335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'best approach for doc vs word '!$I$151</c:f>
              <c:strCache>
                <c:ptCount val="1"/>
                <c:pt idx="0">
                  <c:v>Effect of cultural diversity on an individual level</c:v>
                </c:pt>
              </c:strCache>
            </c:strRef>
          </c:tx>
          <c:spPr>
            <a:solidFill>
              <a:schemeClr val="accent1"/>
            </a:solidFill>
            <a:ln>
              <a:noFill/>
            </a:ln>
            <a:effectLst/>
          </c:spPr>
          <c:invertIfNegative val="0"/>
          <c:cat>
            <c:strRef>
              <c:f>'best approach for doc vs word '!$H$152:$H$153</c:f>
              <c:strCache>
                <c:ptCount val="2"/>
                <c:pt idx="0">
                  <c:v>Multicultural Experiences</c:v>
                </c:pt>
                <c:pt idx="1">
                  <c:v>Team work in a multicultural context</c:v>
                </c:pt>
              </c:strCache>
            </c:strRef>
          </c:cat>
          <c:val>
            <c:numRef>
              <c:f>'best approach for doc vs word '!$I$152:$I$153</c:f>
              <c:numCache>
                <c:formatCode>General</c:formatCode>
                <c:ptCount val="2"/>
                <c:pt idx="0">
                  <c:v>0.61500555000000001</c:v>
                </c:pt>
                <c:pt idx="1">
                  <c:v>0.53056884000000004</c:v>
                </c:pt>
              </c:numCache>
            </c:numRef>
          </c:val>
          <c:extLst>
            <c:ext xmlns:c16="http://schemas.microsoft.com/office/drawing/2014/chart" uri="{C3380CC4-5D6E-409C-BE32-E72D297353CC}">
              <c16:uniqueId val="{00000000-20DD-4422-9A3F-169CACAFEA66}"/>
            </c:ext>
          </c:extLst>
        </c:ser>
        <c:dLbls>
          <c:showLegendKey val="0"/>
          <c:showVal val="0"/>
          <c:showCatName val="0"/>
          <c:showSerName val="0"/>
          <c:showPercent val="0"/>
          <c:showBubbleSize val="0"/>
        </c:dLbls>
        <c:gapWidth val="219"/>
        <c:overlap val="-27"/>
        <c:axId val="932802055"/>
        <c:axId val="1441255431"/>
      </c:barChart>
      <c:catAx>
        <c:axId val="932802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1255431"/>
        <c:crosses val="autoZero"/>
        <c:auto val="1"/>
        <c:lblAlgn val="ctr"/>
        <c:lblOffset val="100"/>
        <c:noMultiLvlLbl val="0"/>
      </c:catAx>
      <c:valAx>
        <c:axId val="1441255431"/>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8020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3EC85D-4655-488E-8B8C-8F984A5AF8BA}" type="doc">
      <dgm:prSet loTypeId="urn:microsoft.com/office/officeart/2005/8/layout/process3" loCatId="process" qsTypeId="urn:microsoft.com/office/officeart/2005/8/quickstyle/simple1" qsCatId="simple" csTypeId="urn:microsoft.com/office/officeart/2005/8/colors/accent5_4" csCatId="accent5" phldr="1"/>
      <dgm:spPr/>
      <dgm:t>
        <a:bodyPr/>
        <a:lstStyle/>
        <a:p>
          <a:endParaRPr lang="en-US"/>
        </a:p>
      </dgm:t>
    </dgm:pt>
    <dgm:pt modelId="{5B76DF29-5D61-433A-BCBB-3CEBA8651B34}">
      <dgm:prSet phldrT="[Text]" phldr="0"/>
      <dgm:spPr/>
      <dgm:t>
        <a:bodyPr/>
        <a:lstStyle/>
        <a:p>
          <a:r>
            <a:rPr lang="en-US" b="1">
              <a:latin typeface="Times New Roman"/>
              <a:cs typeface="Times New Roman"/>
            </a:rPr>
            <a:t>Count Based Embeddings</a:t>
          </a:r>
          <a:endParaRPr lang="en-US"/>
        </a:p>
      </dgm:t>
    </dgm:pt>
    <dgm:pt modelId="{6A71B2FA-E253-48BB-9FFE-CFD157768895}" type="parTrans" cxnId="{C5D599AD-88A9-4D7F-B20D-7CC754E64388}">
      <dgm:prSet/>
      <dgm:spPr/>
      <dgm:t>
        <a:bodyPr/>
        <a:lstStyle/>
        <a:p>
          <a:endParaRPr lang="en-US"/>
        </a:p>
      </dgm:t>
    </dgm:pt>
    <dgm:pt modelId="{DB5263FF-0D9B-435D-88AE-2816A6058B7A}" type="sibTrans" cxnId="{C5D599AD-88A9-4D7F-B20D-7CC754E64388}">
      <dgm:prSet/>
      <dgm:spPr/>
      <dgm:t>
        <a:bodyPr/>
        <a:lstStyle/>
        <a:p>
          <a:endParaRPr lang="en-US"/>
        </a:p>
      </dgm:t>
    </dgm:pt>
    <dgm:pt modelId="{7D8CD6F4-758E-4651-9867-19CEF448ACC6}">
      <dgm:prSet phldrT="[Text]" phldr="0"/>
      <dgm:spPr/>
      <dgm:t>
        <a:bodyPr/>
        <a:lstStyle/>
        <a:p>
          <a:r>
            <a:rPr lang="en-US" dirty="0">
              <a:latin typeface="Calibri Light" panose="020F0302020204030204"/>
            </a:rPr>
            <a:t>Eg. </a:t>
          </a:r>
          <a:r>
            <a:rPr lang="en-US" dirty="0">
              <a:latin typeface="Times New Roman"/>
              <a:cs typeface="Times New Roman"/>
            </a:rPr>
            <a:t>Bag of Words, TF-IDF</a:t>
          </a:r>
        </a:p>
      </dgm:t>
    </dgm:pt>
    <dgm:pt modelId="{7E877FE0-BC5D-408C-B477-7EFD3F30F9DC}" type="parTrans" cxnId="{3DD61FDA-34CE-4C50-962B-C71E48136EF5}">
      <dgm:prSet/>
      <dgm:spPr/>
      <dgm:t>
        <a:bodyPr/>
        <a:lstStyle/>
        <a:p>
          <a:endParaRPr lang="en-US"/>
        </a:p>
      </dgm:t>
    </dgm:pt>
    <dgm:pt modelId="{3820C06F-C768-40FE-943D-776DC5922A81}" type="sibTrans" cxnId="{3DD61FDA-34CE-4C50-962B-C71E48136EF5}">
      <dgm:prSet/>
      <dgm:spPr/>
      <dgm:t>
        <a:bodyPr/>
        <a:lstStyle/>
        <a:p>
          <a:endParaRPr lang="en-US"/>
        </a:p>
      </dgm:t>
    </dgm:pt>
    <dgm:pt modelId="{E762A9D4-F248-4945-B1FB-D0A6108326C8}">
      <dgm:prSet phldrT="[Text]" phldr="0"/>
      <dgm:spPr/>
      <dgm:t>
        <a:bodyPr/>
        <a:lstStyle/>
        <a:p>
          <a:r>
            <a:rPr lang="en-US" b="1">
              <a:latin typeface="Times New Roman"/>
              <a:cs typeface="Times New Roman"/>
            </a:rPr>
            <a:t>Static Word Embeddings </a:t>
          </a:r>
          <a:endParaRPr lang="en-US"/>
        </a:p>
      </dgm:t>
    </dgm:pt>
    <dgm:pt modelId="{77892F2D-BAF2-47B0-9C12-1ED665D68266}" type="parTrans" cxnId="{54ECC61E-5F02-4D97-B113-B815236BDF21}">
      <dgm:prSet/>
      <dgm:spPr/>
      <dgm:t>
        <a:bodyPr/>
        <a:lstStyle/>
        <a:p>
          <a:endParaRPr lang="en-US"/>
        </a:p>
      </dgm:t>
    </dgm:pt>
    <dgm:pt modelId="{690BFF8D-A435-4625-AEEE-CFED10F5C6DD}" type="sibTrans" cxnId="{54ECC61E-5F02-4D97-B113-B815236BDF21}">
      <dgm:prSet/>
      <dgm:spPr/>
      <dgm:t>
        <a:bodyPr/>
        <a:lstStyle/>
        <a:p>
          <a:endParaRPr lang="en-US"/>
        </a:p>
      </dgm:t>
    </dgm:pt>
    <dgm:pt modelId="{DFD7285C-0F7D-403C-986F-8316C909C206}">
      <dgm:prSet phldrT="[Text]" phldr="0"/>
      <dgm:spPr/>
      <dgm:t>
        <a:bodyPr/>
        <a:lstStyle/>
        <a:p>
          <a:r>
            <a:rPr lang="en-US" b="1" dirty="0">
              <a:latin typeface="Times New Roman"/>
              <a:cs typeface="Times New Roman"/>
            </a:rPr>
            <a:t> </a:t>
          </a:r>
          <a:r>
            <a:rPr lang="en-US" b="0" dirty="0">
              <a:latin typeface="Times New Roman"/>
              <a:cs typeface="Times New Roman"/>
            </a:rPr>
            <a:t>Eg. Word2Vec, GloVe</a:t>
          </a:r>
          <a:endParaRPr lang="en-US" b="0" dirty="0"/>
        </a:p>
      </dgm:t>
    </dgm:pt>
    <dgm:pt modelId="{BBD1C4C3-3570-4180-821E-2392DD994F7F}" type="parTrans" cxnId="{B0AF307B-89D5-4533-BF1D-9BE2EF0CE1C1}">
      <dgm:prSet/>
      <dgm:spPr/>
      <dgm:t>
        <a:bodyPr/>
        <a:lstStyle/>
        <a:p>
          <a:endParaRPr lang="en-US"/>
        </a:p>
      </dgm:t>
    </dgm:pt>
    <dgm:pt modelId="{99BA65A7-259F-413C-9E09-9DC614583424}" type="sibTrans" cxnId="{B0AF307B-89D5-4533-BF1D-9BE2EF0CE1C1}">
      <dgm:prSet/>
      <dgm:spPr/>
      <dgm:t>
        <a:bodyPr/>
        <a:lstStyle/>
        <a:p>
          <a:endParaRPr lang="en-US"/>
        </a:p>
      </dgm:t>
    </dgm:pt>
    <dgm:pt modelId="{808C7DAB-178A-4088-B810-452FF0D0A942}">
      <dgm:prSet phldrT="[Text]" phldr="0"/>
      <dgm:spPr/>
      <dgm:t>
        <a:bodyPr/>
        <a:lstStyle/>
        <a:p>
          <a:r>
            <a:rPr lang="en-US" b="1" dirty="0">
              <a:latin typeface="Times New Roman"/>
              <a:cs typeface="Times New Roman"/>
            </a:rPr>
            <a:t>Contextualized Embeddings</a:t>
          </a:r>
          <a:endParaRPr lang="en-US" b="1" dirty="0"/>
        </a:p>
      </dgm:t>
    </dgm:pt>
    <dgm:pt modelId="{EFE7E342-B988-4B4C-B327-C19DFEC43DF6}" type="parTrans" cxnId="{28D46DB8-39C8-444A-9D4F-63EEB0F2586D}">
      <dgm:prSet/>
      <dgm:spPr/>
      <dgm:t>
        <a:bodyPr/>
        <a:lstStyle/>
        <a:p>
          <a:endParaRPr lang="en-US"/>
        </a:p>
      </dgm:t>
    </dgm:pt>
    <dgm:pt modelId="{905E61A8-4DD3-4302-8766-2CF0EBB0043F}" type="sibTrans" cxnId="{28D46DB8-39C8-444A-9D4F-63EEB0F2586D}">
      <dgm:prSet/>
      <dgm:spPr/>
      <dgm:t>
        <a:bodyPr/>
        <a:lstStyle/>
        <a:p>
          <a:endParaRPr lang="en-US"/>
        </a:p>
      </dgm:t>
    </dgm:pt>
    <dgm:pt modelId="{7CE93EFB-15AD-4029-99DF-BD6F984531DB}">
      <dgm:prSet phldrT="[Text]" phldr="0"/>
      <dgm:spPr/>
      <dgm:t>
        <a:bodyPr/>
        <a:lstStyle/>
        <a:p>
          <a:r>
            <a:rPr lang="en-US" dirty="0">
              <a:latin typeface="Calibri Light" panose="020F0302020204030204"/>
            </a:rPr>
            <a:t> Eg. BERT, OpenAI's Ada</a:t>
          </a:r>
          <a:endParaRPr lang="en-US" dirty="0"/>
        </a:p>
      </dgm:t>
    </dgm:pt>
    <dgm:pt modelId="{6048F6E9-FF3D-4DCC-973F-21375CE86E2B}" type="parTrans" cxnId="{E4D95560-2EA5-430A-8659-3EBD51BF36AF}">
      <dgm:prSet/>
      <dgm:spPr/>
      <dgm:t>
        <a:bodyPr/>
        <a:lstStyle/>
        <a:p>
          <a:endParaRPr lang="en-US"/>
        </a:p>
      </dgm:t>
    </dgm:pt>
    <dgm:pt modelId="{52A5BFD1-39D6-4FA2-A4BC-3B478E4BF4D5}" type="sibTrans" cxnId="{E4D95560-2EA5-430A-8659-3EBD51BF36AF}">
      <dgm:prSet/>
      <dgm:spPr/>
      <dgm:t>
        <a:bodyPr/>
        <a:lstStyle/>
        <a:p>
          <a:endParaRPr lang="en-US"/>
        </a:p>
      </dgm:t>
    </dgm:pt>
    <dgm:pt modelId="{BECDF6B6-CE0D-4872-98BD-594458488C2A}">
      <dgm:prSet phldr="0"/>
      <dgm:spPr/>
      <dgm:t>
        <a:bodyPr/>
        <a:lstStyle/>
        <a:p>
          <a:r>
            <a:rPr lang="en-US">
              <a:latin typeface="Times New Roman"/>
              <a:cs typeface="Times New Roman"/>
            </a:rPr>
            <a:t> Keyword-based, lacks semantic understanding.</a:t>
          </a:r>
          <a:endParaRPr lang="en-US" dirty="0">
            <a:latin typeface="Times New Roman"/>
            <a:cs typeface="Times New Roman"/>
          </a:endParaRPr>
        </a:p>
      </dgm:t>
    </dgm:pt>
    <dgm:pt modelId="{076B885D-7542-4159-AEEC-07DA9747432C}" type="parTrans" cxnId="{74CDC801-DBC8-4C89-BABC-06C7B7168290}">
      <dgm:prSet/>
      <dgm:spPr/>
    </dgm:pt>
    <dgm:pt modelId="{6D9B1D82-EE72-4C50-92C5-982B0FBBADE5}" type="sibTrans" cxnId="{74CDC801-DBC8-4C89-BABC-06C7B7168290}">
      <dgm:prSet/>
      <dgm:spPr/>
    </dgm:pt>
    <dgm:pt modelId="{E9AA7EA8-123B-44CE-86A8-646681CB2E68}">
      <dgm:prSet phldr="0"/>
      <dgm:spPr/>
      <dgm:t>
        <a:bodyPr/>
        <a:lstStyle/>
        <a:p>
          <a:r>
            <a:rPr lang="en-US">
              <a:latin typeface="Times New Roman"/>
              <a:cs typeface="Times New Roman"/>
            </a:rPr>
            <a:t> Mapping words into a vector space but lack contextual adaptation.</a:t>
          </a:r>
          <a:endParaRPr lang="en-US" dirty="0">
            <a:latin typeface="Times New Roman"/>
            <a:cs typeface="Times New Roman"/>
          </a:endParaRPr>
        </a:p>
      </dgm:t>
    </dgm:pt>
    <dgm:pt modelId="{9DB3B851-E411-4BF2-A1BC-49E92B4D4CF3}" type="parTrans" cxnId="{03E7D208-1A02-4522-ABE4-5FF60CFF6414}">
      <dgm:prSet/>
      <dgm:spPr/>
    </dgm:pt>
    <dgm:pt modelId="{D604316C-39A5-4E83-8383-AFF015BD89DC}" type="sibTrans" cxnId="{03E7D208-1A02-4522-ABE4-5FF60CFF6414}">
      <dgm:prSet/>
      <dgm:spPr/>
    </dgm:pt>
    <dgm:pt modelId="{498CAB7D-22C9-4330-B607-48907D8A32B7}">
      <dgm:prSet phldr="0"/>
      <dgm:spPr/>
      <dgm:t>
        <a:bodyPr/>
        <a:lstStyle/>
        <a:p>
          <a:r>
            <a:rPr lang="en-US">
              <a:latin typeface="Times New Roman"/>
              <a:cs typeface="Times New Roman"/>
            </a:rPr>
            <a:t>Adjust dynamically based on surrounding context, capturing deeper semantic relationships.</a:t>
          </a:r>
          <a:endParaRPr lang="en-US" dirty="0">
            <a:latin typeface="Times New Roman"/>
            <a:cs typeface="Times New Roman"/>
          </a:endParaRPr>
        </a:p>
      </dgm:t>
    </dgm:pt>
    <dgm:pt modelId="{922F9698-3A03-4D63-87B4-B498D100A9BC}" type="parTrans" cxnId="{0C67BF3F-4915-41BD-8879-9D042F4CF384}">
      <dgm:prSet/>
      <dgm:spPr/>
    </dgm:pt>
    <dgm:pt modelId="{B4440E6F-730F-4E0E-9BEB-82C46FEC8374}" type="sibTrans" cxnId="{0C67BF3F-4915-41BD-8879-9D042F4CF384}">
      <dgm:prSet/>
      <dgm:spPr/>
    </dgm:pt>
    <dgm:pt modelId="{276993FA-BA9B-4EF2-B236-562E29D01101}" type="pres">
      <dgm:prSet presAssocID="{113EC85D-4655-488E-8B8C-8F984A5AF8BA}" presName="linearFlow" presStyleCnt="0">
        <dgm:presLayoutVars>
          <dgm:dir/>
          <dgm:animLvl val="lvl"/>
          <dgm:resizeHandles val="exact"/>
        </dgm:presLayoutVars>
      </dgm:prSet>
      <dgm:spPr/>
    </dgm:pt>
    <dgm:pt modelId="{56B08F91-862E-4F39-AFA3-786A929B4B68}" type="pres">
      <dgm:prSet presAssocID="{5B76DF29-5D61-433A-BCBB-3CEBA8651B34}" presName="composite" presStyleCnt="0"/>
      <dgm:spPr/>
    </dgm:pt>
    <dgm:pt modelId="{230595E9-07F1-4ABD-AF9D-E8BFD195E8EE}" type="pres">
      <dgm:prSet presAssocID="{5B76DF29-5D61-433A-BCBB-3CEBA8651B34}" presName="parTx" presStyleLbl="node1" presStyleIdx="0" presStyleCnt="3">
        <dgm:presLayoutVars>
          <dgm:chMax val="0"/>
          <dgm:chPref val="0"/>
          <dgm:bulletEnabled val="1"/>
        </dgm:presLayoutVars>
      </dgm:prSet>
      <dgm:spPr/>
    </dgm:pt>
    <dgm:pt modelId="{BF75CE43-2750-44C6-9FC5-B78823D1772D}" type="pres">
      <dgm:prSet presAssocID="{5B76DF29-5D61-433A-BCBB-3CEBA8651B34}" presName="parSh" presStyleLbl="node1" presStyleIdx="0" presStyleCnt="3"/>
      <dgm:spPr/>
    </dgm:pt>
    <dgm:pt modelId="{B12DD2B0-3E5D-4232-85D6-66F9B71E586E}" type="pres">
      <dgm:prSet presAssocID="{5B76DF29-5D61-433A-BCBB-3CEBA8651B34}" presName="desTx" presStyleLbl="fgAcc1" presStyleIdx="0" presStyleCnt="3">
        <dgm:presLayoutVars>
          <dgm:bulletEnabled val="1"/>
        </dgm:presLayoutVars>
      </dgm:prSet>
      <dgm:spPr/>
    </dgm:pt>
    <dgm:pt modelId="{C4891152-DAF0-4EC6-8E77-C53D36BA72AD}" type="pres">
      <dgm:prSet presAssocID="{DB5263FF-0D9B-435D-88AE-2816A6058B7A}" presName="sibTrans" presStyleLbl="sibTrans2D1" presStyleIdx="0" presStyleCnt="2"/>
      <dgm:spPr/>
    </dgm:pt>
    <dgm:pt modelId="{D0210D7A-7932-4185-B59E-F22F3FA74986}" type="pres">
      <dgm:prSet presAssocID="{DB5263FF-0D9B-435D-88AE-2816A6058B7A}" presName="connTx" presStyleLbl="sibTrans2D1" presStyleIdx="0" presStyleCnt="2"/>
      <dgm:spPr/>
    </dgm:pt>
    <dgm:pt modelId="{07B7235E-8140-4961-B46D-5A8E48B6CA6C}" type="pres">
      <dgm:prSet presAssocID="{E762A9D4-F248-4945-B1FB-D0A6108326C8}" presName="composite" presStyleCnt="0"/>
      <dgm:spPr/>
    </dgm:pt>
    <dgm:pt modelId="{0D5D28A3-D3D7-463B-8B06-825DACEAE216}" type="pres">
      <dgm:prSet presAssocID="{E762A9D4-F248-4945-B1FB-D0A6108326C8}" presName="parTx" presStyleLbl="node1" presStyleIdx="0" presStyleCnt="3">
        <dgm:presLayoutVars>
          <dgm:chMax val="0"/>
          <dgm:chPref val="0"/>
          <dgm:bulletEnabled val="1"/>
        </dgm:presLayoutVars>
      </dgm:prSet>
      <dgm:spPr/>
    </dgm:pt>
    <dgm:pt modelId="{268EBEA2-5C73-4B88-B24E-EB631D2A7CC8}" type="pres">
      <dgm:prSet presAssocID="{E762A9D4-F248-4945-B1FB-D0A6108326C8}" presName="parSh" presStyleLbl="node1" presStyleIdx="1" presStyleCnt="3"/>
      <dgm:spPr/>
    </dgm:pt>
    <dgm:pt modelId="{04B41011-41D3-4CB6-AB74-5E741E0FECF0}" type="pres">
      <dgm:prSet presAssocID="{E762A9D4-F248-4945-B1FB-D0A6108326C8}" presName="desTx" presStyleLbl="fgAcc1" presStyleIdx="1" presStyleCnt="3">
        <dgm:presLayoutVars>
          <dgm:bulletEnabled val="1"/>
        </dgm:presLayoutVars>
      </dgm:prSet>
      <dgm:spPr/>
    </dgm:pt>
    <dgm:pt modelId="{F0E512BF-3841-4684-A57E-0D5D6F1FA684}" type="pres">
      <dgm:prSet presAssocID="{690BFF8D-A435-4625-AEEE-CFED10F5C6DD}" presName="sibTrans" presStyleLbl="sibTrans2D1" presStyleIdx="1" presStyleCnt="2"/>
      <dgm:spPr/>
    </dgm:pt>
    <dgm:pt modelId="{741F95CB-A928-4521-BEF9-DE49BD936822}" type="pres">
      <dgm:prSet presAssocID="{690BFF8D-A435-4625-AEEE-CFED10F5C6DD}" presName="connTx" presStyleLbl="sibTrans2D1" presStyleIdx="1" presStyleCnt="2"/>
      <dgm:spPr/>
    </dgm:pt>
    <dgm:pt modelId="{0C16F882-21A6-4FCA-BEF9-D8B574EF4EDC}" type="pres">
      <dgm:prSet presAssocID="{808C7DAB-178A-4088-B810-452FF0D0A942}" presName="composite" presStyleCnt="0"/>
      <dgm:spPr/>
    </dgm:pt>
    <dgm:pt modelId="{19DE0084-70E3-49FE-89CE-EBD8570BE5D2}" type="pres">
      <dgm:prSet presAssocID="{808C7DAB-178A-4088-B810-452FF0D0A942}" presName="parTx" presStyleLbl="node1" presStyleIdx="1" presStyleCnt="3">
        <dgm:presLayoutVars>
          <dgm:chMax val="0"/>
          <dgm:chPref val="0"/>
          <dgm:bulletEnabled val="1"/>
        </dgm:presLayoutVars>
      </dgm:prSet>
      <dgm:spPr/>
    </dgm:pt>
    <dgm:pt modelId="{420B29D5-55A1-45A1-B4BF-4D88BD746680}" type="pres">
      <dgm:prSet presAssocID="{808C7DAB-178A-4088-B810-452FF0D0A942}" presName="parSh" presStyleLbl="node1" presStyleIdx="2" presStyleCnt="3"/>
      <dgm:spPr/>
    </dgm:pt>
    <dgm:pt modelId="{889FF242-FF08-4E2C-A653-025E51980DF9}" type="pres">
      <dgm:prSet presAssocID="{808C7DAB-178A-4088-B810-452FF0D0A942}" presName="desTx" presStyleLbl="fgAcc1" presStyleIdx="2" presStyleCnt="3">
        <dgm:presLayoutVars>
          <dgm:bulletEnabled val="1"/>
        </dgm:presLayoutVars>
      </dgm:prSet>
      <dgm:spPr/>
    </dgm:pt>
  </dgm:ptLst>
  <dgm:cxnLst>
    <dgm:cxn modelId="{74CDC801-DBC8-4C89-BABC-06C7B7168290}" srcId="{5B76DF29-5D61-433A-BCBB-3CEBA8651B34}" destId="{BECDF6B6-CE0D-4872-98BD-594458488C2A}" srcOrd="0" destOrd="0" parTransId="{076B885D-7542-4159-AEEC-07DA9747432C}" sibTransId="{6D9B1D82-EE72-4C50-92C5-982B0FBBADE5}"/>
    <dgm:cxn modelId="{03E7D208-1A02-4522-ABE4-5FF60CFF6414}" srcId="{E762A9D4-F248-4945-B1FB-D0A6108326C8}" destId="{E9AA7EA8-123B-44CE-86A8-646681CB2E68}" srcOrd="0" destOrd="0" parTransId="{9DB3B851-E411-4BF2-A1BC-49E92B4D4CF3}" sibTransId="{D604316C-39A5-4E83-8383-AFF015BD89DC}"/>
    <dgm:cxn modelId="{0704860D-E333-456C-A992-8A9BA9FB5254}" type="presOf" srcId="{E9AA7EA8-123B-44CE-86A8-646681CB2E68}" destId="{04B41011-41D3-4CB6-AB74-5E741E0FECF0}" srcOrd="0" destOrd="0" presId="urn:microsoft.com/office/officeart/2005/8/layout/process3"/>
    <dgm:cxn modelId="{54ECC61E-5F02-4D97-B113-B815236BDF21}" srcId="{113EC85D-4655-488E-8B8C-8F984A5AF8BA}" destId="{E762A9D4-F248-4945-B1FB-D0A6108326C8}" srcOrd="1" destOrd="0" parTransId="{77892F2D-BAF2-47B0-9C12-1ED665D68266}" sibTransId="{690BFF8D-A435-4625-AEEE-CFED10F5C6DD}"/>
    <dgm:cxn modelId="{72882826-DB3C-4502-8C7A-0E6A4DFFA526}" type="presOf" srcId="{E762A9D4-F248-4945-B1FB-D0A6108326C8}" destId="{268EBEA2-5C73-4B88-B24E-EB631D2A7CC8}" srcOrd="1" destOrd="0" presId="urn:microsoft.com/office/officeart/2005/8/layout/process3"/>
    <dgm:cxn modelId="{7E732F2A-4FEB-4FE2-81C9-BC87439E9A37}" type="presOf" srcId="{808C7DAB-178A-4088-B810-452FF0D0A942}" destId="{19DE0084-70E3-49FE-89CE-EBD8570BE5D2}" srcOrd="0" destOrd="0" presId="urn:microsoft.com/office/officeart/2005/8/layout/process3"/>
    <dgm:cxn modelId="{0F803134-312C-4FCF-9EE6-08B7D4394987}" type="presOf" srcId="{7D8CD6F4-758E-4651-9867-19CEF448ACC6}" destId="{B12DD2B0-3E5D-4232-85D6-66F9B71E586E}" srcOrd="0" destOrd="1" presId="urn:microsoft.com/office/officeart/2005/8/layout/process3"/>
    <dgm:cxn modelId="{A05F5C3D-6E74-4971-A5FA-9E46427D3FEB}" type="presOf" srcId="{DFD7285C-0F7D-403C-986F-8316C909C206}" destId="{04B41011-41D3-4CB6-AB74-5E741E0FECF0}" srcOrd="0" destOrd="1" presId="urn:microsoft.com/office/officeart/2005/8/layout/process3"/>
    <dgm:cxn modelId="{0C67BF3F-4915-41BD-8879-9D042F4CF384}" srcId="{808C7DAB-178A-4088-B810-452FF0D0A942}" destId="{498CAB7D-22C9-4330-B607-48907D8A32B7}" srcOrd="0" destOrd="0" parTransId="{922F9698-3A03-4D63-87B4-B498D100A9BC}" sibTransId="{B4440E6F-730F-4E0E-9BEB-82C46FEC8374}"/>
    <dgm:cxn modelId="{76E34A5B-8CE1-482B-A9AA-69093258B4C8}" type="presOf" srcId="{498CAB7D-22C9-4330-B607-48907D8A32B7}" destId="{889FF242-FF08-4E2C-A653-025E51980DF9}" srcOrd="0" destOrd="0" presId="urn:microsoft.com/office/officeart/2005/8/layout/process3"/>
    <dgm:cxn modelId="{E4D95560-2EA5-430A-8659-3EBD51BF36AF}" srcId="{808C7DAB-178A-4088-B810-452FF0D0A942}" destId="{7CE93EFB-15AD-4029-99DF-BD6F984531DB}" srcOrd="1" destOrd="0" parTransId="{6048F6E9-FF3D-4DCC-973F-21375CE86E2B}" sibTransId="{52A5BFD1-39D6-4FA2-A4BC-3B478E4BF4D5}"/>
    <dgm:cxn modelId="{73000F41-D01B-46AF-9F33-22A4A4B9B36C}" type="presOf" srcId="{7CE93EFB-15AD-4029-99DF-BD6F984531DB}" destId="{889FF242-FF08-4E2C-A653-025E51980DF9}" srcOrd="0" destOrd="1" presId="urn:microsoft.com/office/officeart/2005/8/layout/process3"/>
    <dgm:cxn modelId="{425AFD4E-1C02-4F3D-B06A-3BC5940D00C1}" type="presOf" srcId="{113EC85D-4655-488E-8B8C-8F984A5AF8BA}" destId="{276993FA-BA9B-4EF2-B236-562E29D01101}" srcOrd="0" destOrd="0" presId="urn:microsoft.com/office/officeart/2005/8/layout/process3"/>
    <dgm:cxn modelId="{54C8E275-6D85-4B5E-ABBC-ED5224E45316}" type="presOf" srcId="{690BFF8D-A435-4625-AEEE-CFED10F5C6DD}" destId="{741F95CB-A928-4521-BEF9-DE49BD936822}" srcOrd="1" destOrd="0" presId="urn:microsoft.com/office/officeart/2005/8/layout/process3"/>
    <dgm:cxn modelId="{B0AF307B-89D5-4533-BF1D-9BE2EF0CE1C1}" srcId="{E762A9D4-F248-4945-B1FB-D0A6108326C8}" destId="{DFD7285C-0F7D-403C-986F-8316C909C206}" srcOrd="1" destOrd="0" parTransId="{BBD1C4C3-3570-4180-821E-2392DD994F7F}" sibTransId="{99BA65A7-259F-413C-9E09-9DC614583424}"/>
    <dgm:cxn modelId="{FA032E85-CEC8-4165-BEB3-EA168E521E5D}" type="presOf" srcId="{808C7DAB-178A-4088-B810-452FF0D0A942}" destId="{420B29D5-55A1-45A1-B4BF-4D88BD746680}" srcOrd="1" destOrd="0" presId="urn:microsoft.com/office/officeart/2005/8/layout/process3"/>
    <dgm:cxn modelId="{C2FF0391-C34E-4192-A571-82EA49E44037}" type="presOf" srcId="{DB5263FF-0D9B-435D-88AE-2816A6058B7A}" destId="{C4891152-DAF0-4EC6-8E77-C53D36BA72AD}" srcOrd="0" destOrd="0" presId="urn:microsoft.com/office/officeart/2005/8/layout/process3"/>
    <dgm:cxn modelId="{48A2BDA4-1172-4FEA-B87D-167F33A571EB}" type="presOf" srcId="{DB5263FF-0D9B-435D-88AE-2816A6058B7A}" destId="{D0210D7A-7932-4185-B59E-F22F3FA74986}" srcOrd="1" destOrd="0" presId="urn:microsoft.com/office/officeart/2005/8/layout/process3"/>
    <dgm:cxn modelId="{0A7009A8-9346-4546-BDBF-8358E1868087}" type="presOf" srcId="{5B76DF29-5D61-433A-BCBB-3CEBA8651B34}" destId="{BF75CE43-2750-44C6-9FC5-B78823D1772D}" srcOrd="1" destOrd="0" presId="urn:microsoft.com/office/officeart/2005/8/layout/process3"/>
    <dgm:cxn modelId="{C5D599AD-88A9-4D7F-B20D-7CC754E64388}" srcId="{113EC85D-4655-488E-8B8C-8F984A5AF8BA}" destId="{5B76DF29-5D61-433A-BCBB-3CEBA8651B34}" srcOrd="0" destOrd="0" parTransId="{6A71B2FA-E253-48BB-9FFE-CFD157768895}" sibTransId="{DB5263FF-0D9B-435D-88AE-2816A6058B7A}"/>
    <dgm:cxn modelId="{28D46DB8-39C8-444A-9D4F-63EEB0F2586D}" srcId="{113EC85D-4655-488E-8B8C-8F984A5AF8BA}" destId="{808C7DAB-178A-4088-B810-452FF0D0A942}" srcOrd="2" destOrd="0" parTransId="{EFE7E342-B988-4B4C-B327-C19DFEC43DF6}" sibTransId="{905E61A8-4DD3-4302-8766-2CF0EBB0043F}"/>
    <dgm:cxn modelId="{013F31C0-9FB6-4C15-AE32-B5991D451804}" type="presOf" srcId="{690BFF8D-A435-4625-AEEE-CFED10F5C6DD}" destId="{F0E512BF-3841-4684-A57E-0D5D6F1FA684}" srcOrd="0" destOrd="0" presId="urn:microsoft.com/office/officeart/2005/8/layout/process3"/>
    <dgm:cxn modelId="{B237F7D5-3488-42EA-9A28-17F93DC2DBC7}" type="presOf" srcId="{5B76DF29-5D61-433A-BCBB-3CEBA8651B34}" destId="{230595E9-07F1-4ABD-AF9D-E8BFD195E8EE}" srcOrd="0" destOrd="0" presId="urn:microsoft.com/office/officeart/2005/8/layout/process3"/>
    <dgm:cxn modelId="{821355D9-4A2F-4F9C-A0B9-9B07F35FEEC8}" type="presOf" srcId="{BECDF6B6-CE0D-4872-98BD-594458488C2A}" destId="{B12DD2B0-3E5D-4232-85D6-66F9B71E586E}" srcOrd="0" destOrd="0" presId="urn:microsoft.com/office/officeart/2005/8/layout/process3"/>
    <dgm:cxn modelId="{3DD61FDA-34CE-4C50-962B-C71E48136EF5}" srcId="{5B76DF29-5D61-433A-BCBB-3CEBA8651B34}" destId="{7D8CD6F4-758E-4651-9867-19CEF448ACC6}" srcOrd="1" destOrd="0" parTransId="{7E877FE0-BC5D-408C-B477-7EFD3F30F9DC}" sibTransId="{3820C06F-C768-40FE-943D-776DC5922A81}"/>
    <dgm:cxn modelId="{F3E422DF-A837-4D76-85A2-8317B9C6DA6F}" type="presOf" srcId="{E762A9D4-F248-4945-B1FB-D0A6108326C8}" destId="{0D5D28A3-D3D7-463B-8B06-825DACEAE216}" srcOrd="0" destOrd="0" presId="urn:microsoft.com/office/officeart/2005/8/layout/process3"/>
    <dgm:cxn modelId="{8C61CCA0-827B-4E2A-8A01-F3ACF6AC28D1}" type="presParOf" srcId="{276993FA-BA9B-4EF2-B236-562E29D01101}" destId="{56B08F91-862E-4F39-AFA3-786A929B4B68}" srcOrd="0" destOrd="0" presId="urn:microsoft.com/office/officeart/2005/8/layout/process3"/>
    <dgm:cxn modelId="{2F927EE6-934D-4BB9-9DFB-7AF8BE101BAC}" type="presParOf" srcId="{56B08F91-862E-4F39-AFA3-786A929B4B68}" destId="{230595E9-07F1-4ABD-AF9D-E8BFD195E8EE}" srcOrd="0" destOrd="0" presId="urn:microsoft.com/office/officeart/2005/8/layout/process3"/>
    <dgm:cxn modelId="{60515C8A-2A97-4E74-A4A3-54815184D602}" type="presParOf" srcId="{56B08F91-862E-4F39-AFA3-786A929B4B68}" destId="{BF75CE43-2750-44C6-9FC5-B78823D1772D}" srcOrd="1" destOrd="0" presId="urn:microsoft.com/office/officeart/2005/8/layout/process3"/>
    <dgm:cxn modelId="{506D1623-C742-4F43-976E-70BA6F2C8D80}" type="presParOf" srcId="{56B08F91-862E-4F39-AFA3-786A929B4B68}" destId="{B12DD2B0-3E5D-4232-85D6-66F9B71E586E}" srcOrd="2" destOrd="0" presId="urn:microsoft.com/office/officeart/2005/8/layout/process3"/>
    <dgm:cxn modelId="{38FA310F-DFD8-40B3-91B6-1083F326DC41}" type="presParOf" srcId="{276993FA-BA9B-4EF2-B236-562E29D01101}" destId="{C4891152-DAF0-4EC6-8E77-C53D36BA72AD}" srcOrd="1" destOrd="0" presId="urn:microsoft.com/office/officeart/2005/8/layout/process3"/>
    <dgm:cxn modelId="{94E14F3C-DBA6-4104-9FF9-52A6EE93B5FB}" type="presParOf" srcId="{C4891152-DAF0-4EC6-8E77-C53D36BA72AD}" destId="{D0210D7A-7932-4185-B59E-F22F3FA74986}" srcOrd="0" destOrd="0" presId="urn:microsoft.com/office/officeart/2005/8/layout/process3"/>
    <dgm:cxn modelId="{94A2EEBE-388E-4D8F-A8A4-44FEF290CE77}" type="presParOf" srcId="{276993FA-BA9B-4EF2-B236-562E29D01101}" destId="{07B7235E-8140-4961-B46D-5A8E48B6CA6C}" srcOrd="2" destOrd="0" presId="urn:microsoft.com/office/officeart/2005/8/layout/process3"/>
    <dgm:cxn modelId="{0FF34CAD-3212-448F-9C0A-53F6B6FACA01}" type="presParOf" srcId="{07B7235E-8140-4961-B46D-5A8E48B6CA6C}" destId="{0D5D28A3-D3D7-463B-8B06-825DACEAE216}" srcOrd="0" destOrd="0" presId="urn:microsoft.com/office/officeart/2005/8/layout/process3"/>
    <dgm:cxn modelId="{0B0FB7A1-2AD4-4025-A15B-8BE834DE359E}" type="presParOf" srcId="{07B7235E-8140-4961-B46D-5A8E48B6CA6C}" destId="{268EBEA2-5C73-4B88-B24E-EB631D2A7CC8}" srcOrd="1" destOrd="0" presId="urn:microsoft.com/office/officeart/2005/8/layout/process3"/>
    <dgm:cxn modelId="{430250C2-2913-45D5-BDFE-9836A0F969BF}" type="presParOf" srcId="{07B7235E-8140-4961-B46D-5A8E48B6CA6C}" destId="{04B41011-41D3-4CB6-AB74-5E741E0FECF0}" srcOrd="2" destOrd="0" presId="urn:microsoft.com/office/officeart/2005/8/layout/process3"/>
    <dgm:cxn modelId="{2B062E44-A92C-486C-95DF-25FFDC94F057}" type="presParOf" srcId="{276993FA-BA9B-4EF2-B236-562E29D01101}" destId="{F0E512BF-3841-4684-A57E-0D5D6F1FA684}" srcOrd="3" destOrd="0" presId="urn:microsoft.com/office/officeart/2005/8/layout/process3"/>
    <dgm:cxn modelId="{5B4FD6F3-2D3A-43E2-A94F-1A6EEC9D9BE3}" type="presParOf" srcId="{F0E512BF-3841-4684-A57E-0D5D6F1FA684}" destId="{741F95CB-A928-4521-BEF9-DE49BD936822}" srcOrd="0" destOrd="0" presId="urn:microsoft.com/office/officeart/2005/8/layout/process3"/>
    <dgm:cxn modelId="{13DADF48-1FA9-4770-BB85-2D866914D21C}" type="presParOf" srcId="{276993FA-BA9B-4EF2-B236-562E29D01101}" destId="{0C16F882-21A6-4FCA-BEF9-D8B574EF4EDC}" srcOrd="4" destOrd="0" presId="urn:microsoft.com/office/officeart/2005/8/layout/process3"/>
    <dgm:cxn modelId="{D6DEF044-E559-47CB-96FC-B6366CFDF060}" type="presParOf" srcId="{0C16F882-21A6-4FCA-BEF9-D8B574EF4EDC}" destId="{19DE0084-70E3-49FE-89CE-EBD8570BE5D2}" srcOrd="0" destOrd="0" presId="urn:microsoft.com/office/officeart/2005/8/layout/process3"/>
    <dgm:cxn modelId="{FAE8F107-9FD1-4892-BD85-6CFA75A44512}" type="presParOf" srcId="{0C16F882-21A6-4FCA-BEF9-D8B574EF4EDC}" destId="{420B29D5-55A1-45A1-B4BF-4D88BD746680}" srcOrd="1" destOrd="0" presId="urn:microsoft.com/office/officeart/2005/8/layout/process3"/>
    <dgm:cxn modelId="{8118A00E-3701-4BEE-8C0F-F7E73D312F51}" type="presParOf" srcId="{0C16F882-21A6-4FCA-BEF9-D8B574EF4EDC}" destId="{889FF242-FF08-4E2C-A653-025E51980DF9}"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75CE43-2750-44C6-9FC5-B78823D1772D}">
      <dsp:nvSpPr>
        <dsp:cNvPr id="0" name=""/>
        <dsp:cNvSpPr/>
      </dsp:nvSpPr>
      <dsp:spPr>
        <a:xfrm>
          <a:off x="3622" y="154903"/>
          <a:ext cx="1646996" cy="849992"/>
        </a:xfrm>
        <a:prstGeom prst="roundRect">
          <a:avLst>
            <a:gd name="adj" fmla="val 10000"/>
          </a:avLst>
        </a:prstGeom>
        <a:solidFill>
          <a:schemeClr val="accent5">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marL="0" lvl="0" indent="0" algn="l" defTabSz="666750">
            <a:lnSpc>
              <a:spcPct val="90000"/>
            </a:lnSpc>
            <a:spcBef>
              <a:spcPct val="0"/>
            </a:spcBef>
            <a:spcAft>
              <a:spcPct val="35000"/>
            </a:spcAft>
            <a:buNone/>
          </a:pPr>
          <a:r>
            <a:rPr lang="en-US" sz="1500" b="1" kern="1200">
              <a:latin typeface="Times New Roman"/>
              <a:cs typeface="Times New Roman"/>
            </a:rPr>
            <a:t>Count Based Embeddings</a:t>
          </a:r>
          <a:endParaRPr lang="en-US" sz="1500" kern="1200"/>
        </a:p>
      </dsp:txBody>
      <dsp:txXfrm>
        <a:off x="3622" y="154903"/>
        <a:ext cx="1646996" cy="566661"/>
      </dsp:txXfrm>
    </dsp:sp>
    <dsp:sp modelId="{B12DD2B0-3E5D-4232-85D6-66F9B71E586E}">
      <dsp:nvSpPr>
        <dsp:cNvPr id="0" name=""/>
        <dsp:cNvSpPr/>
      </dsp:nvSpPr>
      <dsp:spPr>
        <a:xfrm>
          <a:off x="340959" y="721564"/>
          <a:ext cx="1646996" cy="2480625"/>
        </a:xfrm>
        <a:prstGeom prst="roundRect">
          <a:avLst>
            <a:gd name="adj" fmla="val 10000"/>
          </a:avLst>
        </a:prstGeom>
        <a:solidFill>
          <a:schemeClr val="lt1">
            <a:alpha val="90000"/>
            <a:hueOff val="0"/>
            <a:satOff val="0"/>
            <a:lumOff val="0"/>
            <a:alphaOff val="0"/>
          </a:schemeClr>
        </a:solidFill>
        <a:ln w="12700" cap="flat" cmpd="sng" algn="ctr">
          <a:solidFill>
            <a:schemeClr val="accent5">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a:latin typeface="Times New Roman"/>
              <a:cs typeface="Times New Roman"/>
            </a:rPr>
            <a:t> Keyword-based, lacks semantic understanding.</a:t>
          </a:r>
          <a:endParaRPr lang="en-US" sz="1500" kern="1200" dirty="0">
            <a:latin typeface="Times New Roman"/>
            <a:cs typeface="Times New Roman"/>
          </a:endParaRPr>
        </a:p>
        <a:p>
          <a:pPr marL="114300" lvl="1" indent="-114300" algn="l" defTabSz="666750">
            <a:lnSpc>
              <a:spcPct val="90000"/>
            </a:lnSpc>
            <a:spcBef>
              <a:spcPct val="0"/>
            </a:spcBef>
            <a:spcAft>
              <a:spcPct val="15000"/>
            </a:spcAft>
            <a:buChar char="•"/>
          </a:pPr>
          <a:r>
            <a:rPr lang="en-US" sz="1500" kern="1200" dirty="0">
              <a:latin typeface="Calibri Light" panose="020F0302020204030204"/>
            </a:rPr>
            <a:t>Eg. </a:t>
          </a:r>
          <a:r>
            <a:rPr lang="en-US" sz="1500" kern="1200" dirty="0">
              <a:latin typeface="Times New Roman"/>
              <a:cs typeface="Times New Roman"/>
            </a:rPr>
            <a:t>Bag of Words, TF-IDF</a:t>
          </a:r>
        </a:p>
      </dsp:txBody>
      <dsp:txXfrm>
        <a:off x="389198" y="769803"/>
        <a:ext cx="1550518" cy="2384147"/>
      </dsp:txXfrm>
    </dsp:sp>
    <dsp:sp modelId="{C4891152-DAF0-4EC6-8E77-C53D36BA72AD}">
      <dsp:nvSpPr>
        <dsp:cNvPr id="0" name=""/>
        <dsp:cNvSpPr/>
      </dsp:nvSpPr>
      <dsp:spPr>
        <a:xfrm>
          <a:off x="1900297" y="233206"/>
          <a:ext cx="529318" cy="410054"/>
        </a:xfrm>
        <a:prstGeom prst="rightArrow">
          <a:avLst>
            <a:gd name="adj1" fmla="val 60000"/>
            <a:gd name="adj2" fmla="val 50000"/>
          </a:avLst>
        </a:prstGeom>
        <a:solidFill>
          <a:schemeClr val="accent5">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1900297" y="315217"/>
        <a:ext cx="406302" cy="246032"/>
      </dsp:txXfrm>
    </dsp:sp>
    <dsp:sp modelId="{268EBEA2-5C73-4B88-B24E-EB631D2A7CC8}">
      <dsp:nvSpPr>
        <dsp:cNvPr id="0" name=""/>
        <dsp:cNvSpPr/>
      </dsp:nvSpPr>
      <dsp:spPr>
        <a:xfrm>
          <a:off x="2649334" y="154903"/>
          <a:ext cx="1646996" cy="849992"/>
        </a:xfrm>
        <a:prstGeom prst="roundRect">
          <a:avLst>
            <a:gd name="adj" fmla="val 10000"/>
          </a:avLst>
        </a:prstGeom>
        <a:solidFill>
          <a:schemeClr val="accent5">
            <a:shade val="50000"/>
            <a:hueOff val="222839"/>
            <a:satOff val="5970"/>
            <a:lumOff val="263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marL="0" lvl="0" indent="0" algn="l" defTabSz="666750">
            <a:lnSpc>
              <a:spcPct val="90000"/>
            </a:lnSpc>
            <a:spcBef>
              <a:spcPct val="0"/>
            </a:spcBef>
            <a:spcAft>
              <a:spcPct val="35000"/>
            </a:spcAft>
            <a:buNone/>
          </a:pPr>
          <a:r>
            <a:rPr lang="en-US" sz="1500" b="1" kern="1200">
              <a:latin typeface="Times New Roman"/>
              <a:cs typeface="Times New Roman"/>
            </a:rPr>
            <a:t>Static Word Embeddings </a:t>
          </a:r>
          <a:endParaRPr lang="en-US" sz="1500" kern="1200"/>
        </a:p>
      </dsp:txBody>
      <dsp:txXfrm>
        <a:off x="2649334" y="154903"/>
        <a:ext cx="1646996" cy="566661"/>
      </dsp:txXfrm>
    </dsp:sp>
    <dsp:sp modelId="{04B41011-41D3-4CB6-AB74-5E741E0FECF0}">
      <dsp:nvSpPr>
        <dsp:cNvPr id="0" name=""/>
        <dsp:cNvSpPr/>
      </dsp:nvSpPr>
      <dsp:spPr>
        <a:xfrm>
          <a:off x="2986670" y="721564"/>
          <a:ext cx="1646996" cy="2480625"/>
        </a:xfrm>
        <a:prstGeom prst="roundRect">
          <a:avLst>
            <a:gd name="adj" fmla="val 10000"/>
          </a:avLst>
        </a:prstGeom>
        <a:solidFill>
          <a:schemeClr val="lt1">
            <a:alpha val="90000"/>
            <a:hueOff val="0"/>
            <a:satOff val="0"/>
            <a:lumOff val="0"/>
            <a:alphaOff val="0"/>
          </a:schemeClr>
        </a:solidFill>
        <a:ln w="12700" cap="flat" cmpd="sng" algn="ctr">
          <a:solidFill>
            <a:schemeClr val="accent5">
              <a:shade val="50000"/>
              <a:hueOff val="222839"/>
              <a:satOff val="5970"/>
              <a:lumOff val="2630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a:latin typeface="Times New Roman"/>
              <a:cs typeface="Times New Roman"/>
            </a:rPr>
            <a:t> Mapping words into a vector space but lack contextual adaptation.</a:t>
          </a:r>
          <a:endParaRPr lang="en-US" sz="1500" kern="1200" dirty="0">
            <a:latin typeface="Times New Roman"/>
            <a:cs typeface="Times New Roman"/>
          </a:endParaRPr>
        </a:p>
        <a:p>
          <a:pPr marL="114300" lvl="1" indent="-114300" algn="l" defTabSz="666750">
            <a:lnSpc>
              <a:spcPct val="90000"/>
            </a:lnSpc>
            <a:spcBef>
              <a:spcPct val="0"/>
            </a:spcBef>
            <a:spcAft>
              <a:spcPct val="15000"/>
            </a:spcAft>
            <a:buChar char="•"/>
          </a:pPr>
          <a:r>
            <a:rPr lang="en-US" sz="1500" b="1" kern="1200" dirty="0">
              <a:latin typeface="Times New Roman"/>
              <a:cs typeface="Times New Roman"/>
            </a:rPr>
            <a:t> </a:t>
          </a:r>
          <a:r>
            <a:rPr lang="en-US" sz="1500" b="0" kern="1200" dirty="0">
              <a:latin typeface="Times New Roman"/>
              <a:cs typeface="Times New Roman"/>
            </a:rPr>
            <a:t>Eg. Word2Vec, GloVe</a:t>
          </a:r>
          <a:endParaRPr lang="en-US" sz="1500" b="0" kern="1200" dirty="0"/>
        </a:p>
      </dsp:txBody>
      <dsp:txXfrm>
        <a:off x="3034909" y="769803"/>
        <a:ext cx="1550518" cy="2384147"/>
      </dsp:txXfrm>
    </dsp:sp>
    <dsp:sp modelId="{F0E512BF-3841-4684-A57E-0D5D6F1FA684}">
      <dsp:nvSpPr>
        <dsp:cNvPr id="0" name=""/>
        <dsp:cNvSpPr/>
      </dsp:nvSpPr>
      <dsp:spPr>
        <a:xfrm>
          <a:off x="4546009" y="233206"/>
          <a:ext cx="529318" cy="410054"/>
        </a:xfrm>
        <a:prstGeom prst="rightArrow">
          <a:avLst>
            <a:gd name="adj1" fmla="val 60000"/>
            <a:gd name="adj2" fmla="val 50000"/>
          </a:avLst>
        </a:prstGeom>
        <a:solidFill>
          <a:schemeClr val="accent5">
            <a:shade val="90000"/>
            <a:hueOff val="350915"/>
            <a:satOff val="-3215"/>
            <a:lumOff val="277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4546009" y="315217"/>
        <a:ext cx="406302" cy="246032"/>
      </dsp:txXfrm>
    </dsp:sp>
    <dsp:sp modelId="{420B29D5-55A1-45A1-B4BF-4D88BD746680}">
      <dsp:nvSpPr>
        <dsp:cNvPr id="0" name=""/>
        <dsp:cNvSpPr/>
      </dsp:nvSpPr>
      <dsp:spPr>
        <a:xfrm>
          <a:off x="5295046" y="154903"/>
          <a:ext cx="1646996" cy="849992"/>
        </a:xfrm>
        <a:prstGeom prst="roundRect">
          <a:avLst>
            <a:gd name="adj" fmla="val 10000"/>
          </a:avLst>
        </a:prstGeom>
        <a:solidFill>
          <a:schemeClr val="accent5">
            <a:shade val="50000"/>
            <a:hueOff val="222839"/>
            <a:satOff val="5970"/>
            <a:lumOff val="263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marL="0" lvl="0" indent="0" algn="l" defTabSz="666750">
            <a:lnSpc>
              <a:spcPct val="90000"/>
            </a:lnSpc>
            <a:spcBef>
              <a:spcPct val="0"/>
            </a:spcBef>
            <a:spcAft>
              <a:spcPct val="35000"/>
            </a:spcAft>
            <a:buNone/>
          </a:pPr>
          <a:r>
            <a:rPr lang="en-US" sz="1500" b="1" kern="1200" dirty="0">
              <a:latin typeface="Times New Roman"/>
              <a:cs typeface="Times New Roman"/>
            </a:rPr>
            <a:t>Contextualized Embeddings</a:t>
          </a:r>
          <a:endParaRPr lang="en-US" sz="1500" b="1" kern="1200" dirty="0"/>
        </a:p>
      </dsp:txBody>
      <dsp:txXfrm>
        <a:off x="5295046" y="154903"/>
        <a:ext cx="1646996" cy="566661"/>
      </dsp:txXfrm>
    </dsp:sp>
    <dsp:sp modelId="{889FF242-FF08-4E2C-A653-025E51980DF9}">
      <dsp:nvSpPr>
        <dsp:cNvPr id="0" name=""/>
        <dsp:cNvSpPr/>
      </dsp:nvSpPr>
      <dsp:spPr>
        <a:xfrm>
          <a:off x="5632382" y="721564"/>
          <a:ext cx="1646996" cy="2480625"/>
        </a:xfrm>
        <a:prstGeom prst="roundRect">
          <a:avLst>
            <a:gd name="adj" fmla="val 10000"/>
          </a:avLst>
        </a:prstGeom>
        <a:solidFill>
          <a:schemeClr val="lt1">
            <a:alpha val="90000"/>
            <a:hueOff val="0"/>
            <a:satOff val="0"/>
            <a:lumOff val="0"/>
            <a:alphaOff val="0"/>
          </a:schemeClr>
        </a:solidFill>
        <a:ln w="12700" cap="flat" cmpd="sng" algn="ctr">
          <a:solidFill>
            <a:schemeClr val="accent5">
              <a:shade val="50000"/>
              <a:hueOff val="222839"/>
              <a:satOff val="5970"/>
              <a:lumOff val="2630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a:latin typeface="Times New Roman"/>
              <a:cs typeface="Times New Roman"/>
            </a:rPr>
            <a:t>Adjust dynamically based on surrounding context, capturing deeper semantic relationships.</a:t>
          </a:r>
          <a:endParaRPr lang="en-US" sz="1500" kern="1200" dirty="0">
            <a:latin typeface="Times New Roman"/>
            <a:cs typeface="Times New Roman"/>
          </a:endParaRPr>
        </a:p>
        <a:p>
          <a:pPr marL="114300" lvl="1" indent="-114300" algn="l" defTabSz="666750">
            <a:lnSpc>
              <a:spcPct val="90000"/>
            </a:lnSpc>
            <a:spcBef>
              <a:spcPct val="0"/>
            </a:spcBef>
            <a:spcAft>
              <a:spcPct val="15000"/>
            </a:spcAft>
            <a:buChar char="•"/>
          </a:pPr>
          <a:r>
            <a:rPr lang="en-US" sz="1500" kern="1200" dirty="0">
              <a:latin typeface="Calibri Light" panose="020F0302020204030204"/>
            </a:rPr>
            <a:t> Eg. BERT, OpenAI's Ada</a:t>
          </a:r>
          <a:endParaRPr lang="en-US" sz="1500" kern="1200" dirty="0"/>
        </a:p>
      </dsp:txBody>
      <dsp:txXfrm>
        <a:off x="5680621" y="769803"/>
        <a:ext cx="1550518" cy="2384147"/>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39585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7842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78476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3/31/2025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78360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3/31/2025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49525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3/31/2025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5837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3/31/2025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27832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14720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29395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69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96976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3/31/2025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817911274"/>
      </p:ext>
    </p:extLst>
  </p:cSld>
  <p:clrMap bg1="lt1" tx1="dk1" bg2="lt2" tx2="dk2" accent1="accent1" accent2="accent2" accent3="accent3" accent4="accent4" accent5="accent5" accent6="accent6" hlink="hlink" folHlink="folHlink"/>
  <p:sldLayoutIdLst>
    <p:sldLayoutId id="2147484386" r:id="rId1"/>
    <p:sldLayoutId id="2147484387" r:id="rId2"/>
    <p:sldLayoutId id="2147484388" r:id="rId3"/>
    <p:sldLayoutId id="2147484389" r:id="rId4"/>
    <p:sldLayoutId id="2147484390" r:id="rId5"/>
    <p:sldLayoutId id="2147484391" r:id="rId6"/>
    <p:sldLayoutId id="2147484392" r:id="rId7"/>
    <p:sldLayoutId id="2147484393" r:id="rId8"/>
    <p:sldLayoutId id="2147484394" r:id="rId9"/>
    <p:sldLayoutId id="2147484395" r:id="rId10"/>
    <p:sldLayoutId id="21474843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arxiv.org/abs/2406.01607"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91" name="Group 90">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67" name="Freeform: Shape 66">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2" name="Freeform: Shape 91">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9" name="Freeform: Shape 68">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0" name="Freeform: Shape 69">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Freeform: Shape 70">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2" name="Freeform: Shape 71">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p:cNvSpPr>
            <a:spLocks noGrp="1"/>
          </p:cNvSpPr>
          <p:nvPr>
            <p:ph type="ctrTitle"/>
          </p:nvPr>
        </p:nvSpPr>
        <p:spPr>
          <a:xfrm>
            <a:off x="3045368" y="2043663"/>
            <a:ext cx="6105194" cy="2031055"/>
          </a:xfrm>
        </p:spPr>
        <p:txBody>
          <a:bodyPr>
            <a:normAutofit/>
          </a:bodyPr>
          <a:lstStyle/>
          <a:p>
            <a:r>
              <a:rPr lang="en-US" sz="3600">
                <a:solidFill>
                  <a:schemeClr val="tx2"/>
                </a:solidFill>
                <a:latin typeface="Times New Roman"/>
                <a:cs typeface="Times New Roman"/>
              </a:rPr>
              <a:t>ML 24/25-09 </a:t>
            </a:r>
            <a:br>
              <a:rPr lang="en-US" sz="3600">
                <a:solidFill>
                  <a:schemeClr val="tx2"/>
                </a:solidFill>
                <a:latin typeface="Times New Roman"/>
                <a:cs typeface="Times New Roman"/>
              </a:rPr>
            </a:br>
            <a:r>
              <a:rPr lang="en-US" sz="3600">
                <a:solidFill>
                  <a:schemeClr val="tx2"/>
                </a:solidFill>
                <a:latin typeface="Times New Roman"/>
                <a:cs typeface="Times New Roman"/>
              </a:rPr>
              <a:t>Semantic Similarity Analysis </a:t>
            </a:r>
            <a:br>
              <a:rPr lang="en-US" sz="3600">
                <a:solidFill>
                  <a:schemeClr val="tx2"/>
                </a:solidFill>
                <a:latin typeface="Times New Roman"/>
                <a:cs typeface="Times New Roman"/>
              </a:rPr>
            </a:br>
            <a:r>
              <a:rPr lang="en-US" sz="3600">
                <a:solidFill>
                  <a:schemeClr val="tx2"/>
                </a:solidFill>
                <a:latin typeface="Times New Roman"/>
                <a:cs typeface="Times New Roman"/>
              </a:rPr>
              <a:t>of Textual Data</a:t>
            </a:r>
          </a:p>
        </p:txBody>
      </p:sp>
      <p:sp>
        <p:nvSpPr>
          <p:cNvPr id="3" name="Subtitle 2"/>
          <p:cNvSpPr>
            <a:spLocks noGrp="1"/>
          </p:cNvSpPr>
          <p:nvPr>
            <p:ph type="subTitle" idx="1"/>
          </p:nvPr>
        </p:nvSpPr>
        <p:spPr>
          <a:xfrm>
            <a:off x="3045368" y="4160126"/>
            <a:ext cx="6105194" cy="682079"/>
          </a:xfrm>
        </p:spPr>
        <p:txBody>
          <a:bodyPr vert="horz" lIns="91440" tIns="45720" rIns="91440" bIns="45720" rtlCol="0">
            <a:normAutofit/>
          </a:bodyPr>
          <a:lstStyle/>
          <a:p>
            <a:r>
              <a:rPr lang="en-US" i="1">
                <a:solidFill>
                  <a:schemeClr val="tx2"/>
                </a:solidFill>
                <a:latin typeface="Times New Roman"/>
                <a:cs typeface="Times New Roman"/>
              </a:rPr>
              <a:t>Nishta Muraleedharan - 1520040</a:t>
            </a:r>
            <a:endParaRPr lang="en-US">
              <a:solidFill>
                <a:schemeClr val="tx2"/>
              </a:solidFill>
            </a:endParaRPr>
          </a:p>
        </p:txBody>
      </p:sp>
      <p:pic>
        <p:nvPicPr>
          <p:cNvPr id="9" name="Picture 8" descr="A logo for a company&#10;&#10;AI-generated content may be incorrect.">
            <a:extLst>
              <a:ext uri="{FF2B5EF4-FFF2-40B4-BE49-F238E27FC236}">
                <a16:creationId xmlns:a16="http://schemas.microsoft.com/office/drawing/2014/main" id="{D3CDA132-468E-87FE-3BF3-B5E6798741B2}"/>
              </a:ext>
            </a:extLst>
          </p:cNvPr>
          <p:cNvPicPr>
            <a:picLocks noChangeAspect="1"/>
          </p:cNvPicPr>
          <p:nvPr/>
        </p:nvPicPr>
        <p:blipFill>
          <a:blip r:embed="rId2"/>
          <a:stretch>
            <a:fillRect/>
          </a:stretch>
        </p:blipFill>
        <p:spPr>
          <a:xfrm>
            <a:off x="5159130" y="1150848"/>
            <a:ext cx="2066925" cy="885825"/>
          </a:xfrm>
          <a:prstGeom prst="rect">
            <a:avLst/>
          </a:prstGeom>
          <a:ln>
            <a:noFill/>
          </a:ln>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 name="Rectangle 76">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79" name="Group 78">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57" name="Freeform: Shape 56">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Shape 57">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D0D6445-2E7E-4C90-0CEC-AB0CD48865B6}"/>
              </a:ext>
            </a:extLst>
          </p:cNvPr>
          <p:cNvSpPr>
            <a:spLocks noGrp="1"/>
          </p:cNvSpPr>
          <p:nvPr>
            <p:ph type="title"/>
          </p:nvPr>
        </p:nvSpPr>
        <p:spPr>
          <a:xfrm>
            <a:off x="640080" y="1243013"/>
            <a:ext cx="3855720" cy="4371974"/>
          </a:xfrm>
        </p:spPr>
        <p:txBody>
          <a:bodyPr>
            <a:normAutofit/>
          </a:bodyPr>
          <a:lstStyle/>
          <a:p>
            <a:r>
              <a:rPr lang="en-US" sz="3600">
                <a:solidFill>
                  <a:schemeClr val="tx2"/>
                </a:solidFill>
                <a:latin typeface="Times New Roman"/>
                <a:cs typeface="Times New Roman"/>
              </a:rPr>
              <a:t>CONTENTS</a:t>
            </a:r>
          </a:p>
        </p:txBody>
      </p:sp>
      <p:sp>
        <p:nvSpPr>
          <p:cNvPr id="3" name="Content Placeholder 2">
            <a:extLst>
              <a:ext uri="{FF2B5EF4-FFF2-40B4-BE49-F238E27FC236}">
                <a16:creationId xmlns:a16="http://schemas.microsoft.com/office/drawing/2014/main" id="{BB302304-1930-D217-3919-6EB1169A8A1E}"/>
              </a:ext>
            </a:extLst>
          </p:cNvPr>
          <p:cNvSpPr>
            <a:spLocks noGrp="1"/>
          </p:cNvSpPr>
          <p:nvPr>
            <p:ph idx="1"/>
          </p:nvPr>
        </p:nvSpPr>
        <p:spPr>
          <a:xfrm>
            <a:off x="6129270" y="1019320"/>
            <a:ext cx="5221224" cy="5230368"/>
          </a:xfrm>
        </p:spPr>
        <p:txBody>
          <a:bodyPr vert="horz" lIns="91440" tIns="45720" rIns="91440" bIns="45720" rtlCol="0" anchor="ctr">
            <a:normAutofit/>
          </a:bodyPr>
          <a:lstStyle/>
          <a:p>
            <a:pPr marL="457200" indent="-457200">
              <a:buAutoNum type="arabicPeriod"/>
            </a:pPr>
            <a:r>
              <a:rPr lang="en-US" sz="1800">
                <a:solidFill>
                  <a:schemeClr val="tx2"/>
                </a:solidFill>
                <a:latin typeface="Times New Roman"/>
                <a:cs typeface="Times New Roman"/>
              </a:rPr>
              <a:t>Objective</a:t>
            </a:r>
            <a:endParaRPr lang="en-US" sz="1800">
              <a:solidFill>
                <a:schemeClr val="tx2"/>
              </a:solidFill>
              <a:latin typeface="Times New Roman"/>
              <a:ea typeface="Calibri"/>
              <a:cs typeface="Calibri"/>
            </a:endParaRPr>
          </a:p>
          <a:p>
            <a:pPr marL="457200" indent="-457200">
              <a:buAutoNum type="arabicPeriod"/>
            </a:pPr>
            <a:r>
              <a:rPr lang="en-US" sz="1800">
                <a:solidFill>
                  <a:schemeClr val="tx2"/>
                </a:solidFill>
                <a:latin typeface="Times New Roman"/>
                <a:cs typeface="Times New Roman"/>
              </a:rPr>
              <a:t>Introduction</a:t>
            </a:r>
          </a:p>
          <a:p>
            <a:pPr marL="457200" indent="-457200">
              <a:buAutoNum type="arabicPeriod"/>
            </a:pPr>
            <a:r>
              <a:rPr lang="en-US" sz="1800">
                <a:solidFill>
                  <a:schemeClr val="tx2"/>
                </a:solidFill>
                <a:latin typeface="Times New Roman"/>
                <a:cs typeface="Times New Roman"/>
              </a:rPr>
              <a:t>System Architecture</a:t>
            </a:r>
          </a:p>
          <a:p>
            <a:pPr marL="457200" indent="-457200">
              <a:buAutoNum type="arabicPeriod"/>
            </a:pPr>
            <a:r>
              <a:rPr lang="en-US" sz="1800">
                <a:solidFill>
                  <a:schemeClr val="tx2"/>
                </a:solidFill>
                <a:latin typeface="Times New Roman"/>
                <a:cs typeface="Times New Roman"/>
              </a:rPr>
              <a:t>Input Handling</a:t>
            </a:r>
          </a:p>
          <a:p>
            <a:pPr marL="457200" indent="-457200">
              <a:buAutoNum type="arabicPeriod"/>
            </a:pPr>
            <a:r>
              <a:rPr lang="en-US" sz="1800">
                <a:solidFill>
                  <a:schemeClr val="tx2"/>
                </a:solidFill>
                <a:latin typeface="Times New Roman"/>
                <a:cs typeface="Times New Roman"/>
              </a:rPr>
              <a:t>Best Embedding Model</a:t>
            </a:r>
          </a:p>
          <a:p>
            <a:pPr marL="457200" indent="-457200">
              <a:buAutoNum type="arabicPeriod"/>
            </a:pPr>
            <a:r>
              <a:rPr lang="en-US" sz="1800">
                <a:solidFill>
                  <a:schemeClr val="tx2"/>
                </a:solidFill>
                <a:latin typeface="Times New Roman"/>
                <a:cs typeface="Times New Roman"/>
              </a:rPr>
              <a:t>Best Similarity Metric</a:t>
            </a:r>
          </a:p>
          <a:p>
            <a:pPr marL="457200" indent="-457200">
              <a:buAutoNum type="arabicPeriod"/>
            </a:pPr>
            <a:r>
              <a:rPr lang="en-US" sz="1800">
                <a:solidFill>
                  <a:schemeClr val="tx2"/>
                </a:solidFill>
                <a:latin typeface="Times New Roman"/>
                <a:cs typeface="Times New Roman"/>
              </a:rPr>
              <a:t>Comparing Documents with words</a:t>
            </a:r>
          </a:p>
          <a:p>
            <a:pPr marL="457200" indent="-457200">
              <a:buAutoNum type="arabicPeriod"/>
            </a:pPr>
            <a:r>
              <a:rPr lang="en-US" sz="1800">
                <a:solidFill>
                  <a:schemeClr val="tx2"/>
                </a:solidFill>
                <a:latin typeface="Times New Roman"/>
                <a:cs typeface="Times New Roman"/>
              </a:rPr>
              <a:t>Results</a:t>
            </a:r>
          </a:p>
          <a:p>
            <a:pPr marL="457200" indent="-457200">
              <a:buAutoNum type="arabicPeriod"/>
            </a:pPr>
            <a:r>
              <a:rPr lang="en-US" sz="1800">
                <a:solidFill>
                  <a:schemeClr val="tx2"/>
                </a:solidFill>
                <a:latin typeface="Times New Roman"/>
                <a:cs typeface="Times New Roman"/>
              </a:rPr>
              <a:t>Conclusion</a:t>
            </a:r>
          </a:p>
          <a:p>
            <a:pPr>
              <a:buAutoNum type="arabicPeriod"/>
            </a:pPr>
            <a:endParaRPr lang="en-US" sz="1800">
              <a:solidFill>
                <a:schemeClr val="tx2"/>
              </a:solidFill>
              <a:latin typeface="Times New Roman"/>
              <a:cs typeface="Times New Roman"/>
            </a:endParaRPr>
          </a:p>
          <a:p>
            <a:pPr>
              <a:buAutoNum type="arabicPeriod"/>
            </a:pPr>
            <a:endParaRPr lang="en-US" sz="1800">
              <a:solidFill>
                <a:schemeClr val="tx2"/>
              </a:solidFill>
              <a:latin typeface="Times New Roman"/>
              <a:cs typeface="Times New Roman"/>
            </a:endParaRPr>
          </a:p>
          <a:p>
            <a:pPr>
              <a:buAutoNum type="arabicPeriod"/>
            </a:pPr>
            <a:endParaRPr lang="en-US" sz="1800">
              <a:solidFill>
                <a:schemeClr val="tx2"/>
              </a:solidFill>
              <a:latin typeface="Times New Roman"/>
              <a:cs typeface="Times New Roman"/>
            </a:endParaRPr>
          </a:p>
        </p:txBody>
      </p:sp>
      <p:sp>
        <p:nvSpPr>
          <p:cNvPr id="4" name="Date Placeholder 3">
            <a:extLst>
              <a:ext uri="{FF2B5EF4-FFF2-40B4-BE49-F238E27FC236}">
                <a16:creationId xmlns:a16="http://schemas.microsoft.com/office/drawing/2014/main" id="{9F705928-61AD-4C57-E089-9D7B31A5C91E}"/>
              </a:ext>
            </a:extLst>
          </p:cNvPr>
          <p:cNvSpPr>
            <a:spLocks noGrp="1"/>
          </p:cNvSpPr>
          <p:nvPr>
            <p:ph type="dt" sz="half" idx="10"/>
          </p:nvPr>
        </p:nvSpPr>
        <p:spPr>
          <a:xfrm>
            <a:off x="804672" y="6356350"/>
            <a:ext cx="2743200" cy="365125"/>
          </a:xfrm>
        </p:spPr>
        <p:txBody>
          <a:bodyPr>
            <a:normAutofit/>
          </a:bodyPr>
          <a:lstStyle/>
          <a:p>
            <a:pPr>
              <a:spcAft>
                <a:spcPts val="600"/>
              </a:spcAft>
            </a:pPr>
            <a:fld id="{68A2FD28-13D3-428C-8B6C-21526DA9D1C6}" type="datetime1">
              <a:rPr lang="en-US"/>
              <a:pPr>
                <a:spcAft>
                  <a:spcPts val="600"/>
                </a:spcAft>
              </a:pPr>
              <a:t>3/31/2025</a:t>
            </a:fld>
            <a:endParaRPr lang="en-US"/>
          </a:p>
        </p:txBody>
      </p:sp>
      <p:sp>
        <p:nvSpPr>
          <p:cNvPr id="6" name="Slide Number Placeholder 5">
            <a:extLst>
              <a:ext uri="{FF2B5EF4-FFF2-40B4-BE49-F238E27FC236}">
                <a16:creationId xmlns:a16="http://schemas.microsoft.com/office/drawing/2014/main" id="{862DB8CF-9A34-8ADB-356F-D2ED5F8DB609}"/>
              </a:ext>
            </a:extLst>
          </p:cNvPr>
          <p:cNvSpPr>
            <a:spLocks noGrp="1"/>
          </p:cNvSpPr>
          <p:nvPr>
            <p:ph type="sldNum" sz="quarter" idx="12"/>
          </p:nvPr>
        </p:nvSpPr>
        <p:spPr>
          <a:xfrm>
            <a:off x="8610600" y="6356350"/>
            <a:ext cx="2743200" cy="365125"/>
          </a:xfrm>
        </p:spPr>
        <p:txBody>
          <a:bodyPr>
            <a:normAutofit/>
          </a:bodyPr>
          <a:lstStyle/>
          <a:p>
            <a:pPr>
              <a:spcAft>
                <a:spcPts val="600"/>
              </a:spcAft>
            </a:pPr>
            <a:fld id="{A65A5C87-DF58-40C8-B092-1DE63DB4547E}" type="slidenum">
              <a:rPr lang="en-US" dirty="0"/>
              <a:pPr>
                <a:spcAft>
                  <a:spcPts val="600"/>
                </a:spcAft>
              </a:pPr>
              <a:t>2</a:t>
            </a:fld>
            <a:endParaRPr lang="en-US"/>
          </a:p>
        </p:txBody>
      </p:sp>
    </p:spTree>
    <p:extLst>
      <p:ext uri="{BB962C8B-B14F-4D97-AF65-F5344CB8AC3E}">
        <p14:creationId xmlns:p14="http://schemas.microsoft.com/office/powerpoint/2010/main" val="2502341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5" name="Group 14">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6" name="Freeform: Shape 15">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BD03760-4968-970D-F847-BC8979164AA8}"/>
              </a:ext>
            </a:extLst>
          </p:cNvPr>
          <p:cNvSpPr>
            <a:spLocks noGrp="1"/>
          </p:cNvSpPr>
          <p:nvPr>
            <p:ph type="title"/>
          </p:nvPr>
        </p:nvSpPr>
        <p:spPr>
          <a:xfrm>
            <a:off x="640080" y="1243013"/>
            <a:ext cx="3855720" cy="4371974"/>
          </a:xfrm>
        </p:spPr>
        <p:txBody>
          <a:bodyPr>
            <a:normAutofit/>
          </a:bodyPr>
          <a:lstStyle/>
          <a:p>
            <a:r>
              <a:rPr lang="en-US" sz="3600">
                <a:solidFill>
                  <a:schemeClr val="tx2"/>
                </a:solidFill>
                <a:latin typeface="Times New Roman"/>
                <a:cs typeface="Times New Roman"/>
              </a:rPr>
              <a:t>OBJECTIVE</a:t>
            </a:r>
          </a:p>
        </p:txBody>
      </p:sp>
      <p:sp>
        <p:nvSpPr>
          <p:cNvPr id="3" name="Content Placeholder 2">
            <a:extLst>
              <a:ext uri="{FF2B5EF4-FFF2-40B4-BE49-F238E27FC236}">
                <a16:creationId xmlns:a16="http://schemas.microsoft.com/office/drawing/2014/main" id="{CBAE4EC7-3DB7-26E4-93E9-86EA423811FE}"/>
              </a:ext>
            </a:extLst>
          </p:cNvPr>
          <p:cNvSpPr>
            <a:spLocks noGrp="1"/>
          </p:cNvSpPr>
          <p:nvPr>
            <p:ph idx="1"/>
          </p:nvPr>
        </p:nvSpPr>
        <p:spPr>
          <a:xfrm>
            <a:off x="6172200" y="804672"/>
            <a:ext cx="5221224" cy="5230368"/>
          </a:xfrm>
        </p:spPr>
        <p:txBody>
          <a:bodyPr vert="horz" lIns="91440" tIns="45720" rIns="91440" bIns="45720" rtlCol="0" anchor="ctr">
            <a:normAutofit/>
          </a:bodyPr>
          <a:lstStyle/>
          <a:p>
            <a:endParaRPr lang="en-US" sz="1800">
              <a:solidFill>
                <a:schemeClr val="tx2"/>
              </a:solidFill>
              <a:latin typeface="Times New Roman"/>
              <a:cs typeface="Times New Roman"/>
            </a:endParaRPr>
          </a:p>
          <a:p>
            <a:pPr algn="just"/>
            <a:r>
              <a:rPr lang="en-US" sz="1800">
                <a:solidFill>
                  <a:schemeClr val="tx2"/>
                </a:solidFill>
                <a:latin typeface="Times New Roman"/>
                <a:cs typeface="Times New Roman"/>
              </a:rPr>
              <a:t>Design and implement an application in C# that can effectively compute the semantic similarity between various levels of textual data, including words, phrases, and documents using OpenAI's embedding model and export the results in CSV format that can be further used for visualization</a:t>
            </a:r>
          </a:p>
          <a:p>
            <a:r>
              <a:rPr lang="en-US" sz="1800" dirty="0">
                <a:solidFill>
                  <a:schemeClr val="tx2"/>
                </a:solidFill>
                <a:latin typeface="Times New Roman"/>
                <a:cs typeface="Times New Roman"/>
              </a:rPr>
              <a:t>Analyze embedding vectors by plotting their scalar values to gain deeper insights into their structure and representation.</a:t>
            </a:r>
          </a:p>
        </p:txBody>
      </p:sp>
      <p:sp>
        <p:nvSpPr>
          <p:cNvPr id="4" name="Date Placeholder 3">
            <a:extLst>
              <a:ext uri="{FF2B5EF4-FFF2-40B4-BE49-F238E27FC236}">
                <a16:creationId xmlns:a16="http://schemas.microsoft.com/office/drawing/2014/main" id="{0D3B710D-1086-F36D-FF58-0B88442C7926}"/>
              </a:ext>
            </a:extLst>
          </p:cNvPr>
          <p:cNvSpPr>
            <a:spLocks noGrp="1"/>
          </p:cNvSpPr>
          <p:nvPr>
            <p:ph type="dt" sz="half" idx="10"/>
          </p:nvPr>
        </p:nvSpPr>
        <p:spPr>
          <a:xfrm>
            <a:off x="804672" y="6356350"/>
            <a:ext cx="2743200" cy="365125"/>
          </a:xfrm>
        </p:spPr>
        <p:txBody>
          <a:bodyPr>
            <a:normAutofit/>
          </a:bodyPr>
          <a:lstStyle/>
          <a:p>
            <a:pPr>
              <a:spcAft>
                <a:spcPts val="600"/>
              </a:spcAft>
            </a:pPr>
            <a:fld id="{21E91230-FA8C-48AB-83AA-874D40DEDEA6}" type="datetime1">
              <a:rPr lang="en-US"/>
              <a:pPr>
                <a:spcAft>
                  <a:spcPts val="600"/>
                </a:spcAft>
              </a:pPr>
              <a:t>3/31/2025</a:t>
            </a:fld>
            <a:endParaRPr lang="en-US"/>
          </a:p>
        </p:txBody>
      </p:sp>
      <p:sp>
        <p:nvSpPr>
          <p:cNvPr id="6" name="Slide Number Placeholder 5">
            <a:extLst>
              <a:ext uri="{FF2B5EF4-FFF2-40B4-BE49-F238E27FC236}">
                <a16:creationId xmlns:a16="http://schemas.microsoft.com/office/drawing/2014/main" id="{F60371D4-6B72-C35A-39F9-A48B0959EAD0}"/>
              </a:ext>
            </a:extLst>
          </p:cNvPr>
          <p:cNvSpPr>
            <a:spLocks noGrp="1"/>
          </p:cNvSpPr>
          <p:nvPr>
            <p:ph type="sldNum" sz="quarter" idx="12"/>
          </p:nvPr>
        </p:nvSpPr>
        <p:spPr>
          <a:xfrm>
            <a:off x="8610600" y="6356350"/>
            <a:ext cx="2743200" cy="365125"/>
          </a:xfrm>
        </p:spPr>
        <p:txBody>
          <a:bodyPr>
            <a:normAutofit/>
          </a:bodyPr>
          <a:lstStyle/>
          <a:p>
            <a:pPr>
              <a:spcAft>
                <a:spcPts val="600"/>
              </a:spcAft>
            </a:pPr>
            <a:fld id="{A65A5C87-DF58-40C8-B092-1DE63DB4547E}" type="slidenum">
              <a:rPr lang="en-US" dirty="0"/>
              <a:pPr>
                <a:spcAft>
                  <a:spcPts val="600"/>
                </a:spcAft>
              </a:pPr>
              <a:t>3</a:t>
            </a:fld>
            <a:endParaRPr lang="en-US"/>
          </a:p>
        </p:txBody>
      </p:sp>
    </p:spTree>
    <p:extLst>
      <p:ext uri="{BB962C8B-B14F-4D97-AF65-F5344CB8AC3E}">
        <p14:creationId xmlns:p14="http://schemas.microsoft.com/office/powerpoint/2010/main" val="3959157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C289949D-B9F6-468A-86FE-2694DC5AE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useBgFill="1">
        <p:nvSpPr>
          <p:cNvPr id="60" name="Rectangle 59">
            <a:extLst>
              <a:ext uri="{FF2B5EF4-FFF2-40B4-BE49-F238E27FC236}">
                <a16:creationId xmlns:a16="http://schemas.microsoft.com/office/drawing/2014/main" id="{FA3C7DEA-BCC2-4295-8850-147993296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650DE4-A2A0-A8B9-4887-A6D40DD4E465}"/>
              </a:ext>
            </a:extLst>
          </p:cNvPr>
          <p:cNvSpPr>
            <a:spLocks noGrp="1"/>
          </p:cNvSpPr>
          <p:nvPr>
            <p:ph type="title"/>
          </p:nvPr>
        </p:nvSpPr>
        <p:spPr>
          <a:xfrm>
            <a:off x="907083" y="555651"/>
            <a:ext cx="9833548" cy="1066802"/>
          </a:xfrm>
        </p:spPr>
        <p:txBody>
          <a:bodyPr vert="horz" lIns="91440" tIns="45720" rIns="91440" bIns="45720" rtlCol="0" anchor="b">
            <a:noAutofit/>
          </a:bodyPr>
          <a:lstStyle/>
          <a:p>
            <a:br>
              <a:rPr lang="en-US" dirty="0">
                <a:latin typeface="Times New Roman"/>
                <a:ea typeface="Calibri Light"/>
                <a:cs typeface="Calibri Light"/>
              </a:rPr>
            </a:br>
            <a:r>
              <a:rPr lang="en-US" dirty="0">
                <a:solidFill>
                  <a:schemeClr val="tx2"/>
                </a:solidFill>
                <a:latin typeface="Times New Roman"/>
                <a:ea typeface="Calibri Light"/>
                <a:cs typeface="Calibri Light"/>
              </a:rPr>
              <a:t>Introduction</a:t>
            </a:r>
            <a:endParaRPr lang="en-US">
              <a:solidFill>
                <a:schemeClr val="tx2"/>
              </a:solidFill>
              <a:latin typeface="Times New Roman"/>
              <a:ea typeface="Calibri"/>
              <a:cs typeface="Calibri"/>
            </a:endParaRPr>
          </a:p>
          <a:p>
            <a:endParaRPr lang="en-US" sz="3300" dirty="0">
              <a:latin typeface="+mj-ea"/>
            </a:endParaRPr>
          </a:p>
        </p:txBody>
      </p:sp>
      <p:grpSp>
        <p:nvGrpSpPr>
          <p:cNvPr id="62" name="Group 61">
            <a:extLst>
              <a:ext uri="{FF2B5EF4-FFF2-40B4-BE49-F238E27FC236}">
                <a16:creationId xmlns:a16="http://schemas.microsoft.com/office/drawing/2014/main" id="{E4DF0958-0C87-4C28-9554-2FADC788C2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6" name="Freeform: Shape 15">
              <a:extLst>
                <a:ext uri="{FF2B5EF4-FFF2-40B4-BE49-F238E27FC236}">
                  <a16:creationId xmlns:a16="http://schemas.microsoft.com/office/drawing/2014/main" id="{DEC53B48-7B73-49D1-A6FD-9DBF5141E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7DEDDC41-2C98-4AF1-A0EA-AEEC34827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2208F20-F93C-4530-8370-FC7818BAB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52F51E0-B50B-43EA-B6AC-C16BD29C3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CD2A4B28-816A-B973-B9EE-18217C05DAEB}"/>
              </a:ext>
            </a:extLst>
          </p:cNvPr>
          <p:cNvSpPr>
            <a:spLocks noGrp="1"/>
          </p:cNvSpPr>
          <p:nvPr>
            <p:ph idx="1"/>
          </p:nvPr>
        </p:nvSpPr>
        <p:spPr>
          <a:xfrm>
            <a:off x="907083" y="1340269"/>
            <a:ext cx="9833548" cy="5862943"/>
          </a:xfrm>
        </p:spPr>
        <p:txBody>
          <a:bodyPr vert="horz" lIns="91440" tIns="45720" rIns="91440" bIns="45720" rtlCol="0" anchor="ctr">
            <a:noAutofit/>
          </a:bodyPr>
          <a:lstStyle/>
          <a:p>
            <a:pPr marL="0" indent="0">
              <a:buNone/>
            </a:pPr>
            <a:r>
              <a:rPr lang="en-US" sz="2000" b="1" dirty="0">
                <a:solidFill>
                  <a:schemeClr val="tx2"/>
                </a:solidFill>
                <a:latin typeface="Times New Roman"/>
                <a:ea typeface="+mn-lt"/>
                <a:cs typeface="Times New Roman"/>
              </a:rPr>
              <a:t>Importance of Semantic Similarity Analysis</a:t>
            </a:r>
            <a:endParaRPr lang="en-US" sz="2000">
              <a:solidFill>
                <a:schemeClr val="tx2"/>
              </a:solidFill>
              <a:latin typeface="Times New Roman"/>
              <a:ea typeface="+mn-lt"/>
              <a:cs typeface="Times New Roman"/>
            </a:endParaRPr>
          </a:p>
          <a:p>
            <a:pPr marL="0" indent="0">
              <a:buNone/>
            </a:pPr>
            <a:r>
              <a:rPr lang="en-US" sz="1800" dirty="0">
                <a:solidFill>
                  <a:schemeClr val="tx2"/>
                </a:solidFill>
                <a:latin typeface="Times New Roman"/>
                <a:ea typeface="+mn-lt"/>
                <a:cs typeface="Times New Roman"/>
              </a:rPr>
              <a:t>Crucial for text classification, recommendation systems, question answering, and automated document analysis.</a:t>
            </a:r>
            <a:endParaRPr lang="en-US" sz="1800">
              <a:solidFill>
                <a:schemeClr val="tx2"/>
              </a:solidFill>
              <a:latin typeface="Times New Roman"/>
              <a:ea typeface="Calibri"/>
              <a:cs typeface="Times New Roman"/>
            </a:endParaRPr>
          </a:p>
          <a:p>
            <a:pPr>
              <a:buFont typeface="Arial"/>
              <a:buChar char="•"/>
            </a:pPr>
            <a:endParaRPr lang="en-US" sz="1800" dirty="0">
              <a:solidFill>
                <a:schemeClr val="tx2"/>
              </a:solidFill>
              <a:latin typeface="Times New Roman"/>
              <a:ea typeface="+mn-lt"/>
              <a:cs typeface="Times New Roman"/>
            </a:endParaRPr>
          </a:p>
          <a:p>
            <a:pPr marL="0" indent="0">
              <a:buNone/>
            </a:pPr>
            <a:r>
              <a:rPr lang="en-US" sz="2000" b="1" dirty="0">
                <a:solidFill>
                  <a:schemeClr val="tx2"/>
                </a:solidFill>
                <a:latin typeface="Times New Roman"/>
                <a:ea typeface="+mn-lt"/>
                <a:cs typeface="+mn-lt"/>
              </a:rPr>
              <a:t>Evolution of Text Representation</a:t>
            </a:r>
            <a:endParaRPr lang="en-US" sz="2000" dirty="0">
              <a:solidFill>
                <a:schemeClr val="tx2"/>
              </a:solidFill>
              <a:latin typeface="Times New Roman"/>
              <a:ea typeface="+mn-lt"/>
              <a:cs typeface="Times New Roman"/>
            </a:endParaRPr>
          </a:p>
          <a:p>
            <a:endParaRPr lang="en-US" sz="1400" b="1" dirty="0">
              <a:solidFill>
                <a:schemeClr val="tx2"/>
              </a:solidFill>
              <a:latin typeface="Times New Roman"/>
              <a:ea typeface="+mn-lt"/>
              <a:cs typeface="Times New Roman"/>
            </a:endParaRPr>
          </a:p>
          <a:p>
            <a:endParaRPr lang="en-US" sz="1400" b="1" dirty="0">
              <a:solidFill>
                <a:schemeClr val="tx2"/>
              </a:solidFill>
              <a:latin typeface="Times New Roman"/>
              <a:ea typeface="+mn-lt"/>
              <a:cs typeface="Times New Roman"/>
            </a:endParaRPr>
          </a:p>
          <a:p>
            <a:endParaRPr lang="en-US" sz="1400" b="1" dirty="0">
              <a:solidFill>
                <a:schemeClr val="tx2"/>
              </a:solidFill>
              <a:latin typeface="Times New Roman"/>
              <a:ea typeface="+mn-lt"/>
              <a:cs typeface="Times New Roman"/>
            </a:endParaRPr>
          </a:p>
          <a:p>
            <a:endParaRPr lang="en-US" sz="1400" b="1" dirty="0">
              <a:solidFill>
                <a:schemeClr val="tx2"/>
              </a:solidFill>
              <a:latin typeface="Times New Roman"/>
              <a:ea typeface="+mn-lt"/>
              <a:cs typeface="Times New Roman"/>
            </a:endParaRPr>
          </a:p>
          <a:p>
            <a:pPr marL="0" indent="0">
              <a:buNone/>
            </a:pPr>
            <a:endParaRPr lang="en-US" sz="1400" b="1" dirty="0">
              <a:solidFill>
                <a:schemeClr val="tx2"/>
              </a:solidFill>
              <a:latin typeface="Times New Roman"/>
              <a:ea typeface="+mn-lt"/>
              <a:cs typeface="Times New Roman"/>
            </a:endParaRPr>
          </a:p>
          <a:p>
            <a:pPr marL="0" indent="0">
              <a:buNone/>
            </a:pPr>
            <a:endParaRPr lang="en-US" sz="1400" b="1" dirty="0">
              <a:solidFill>
                <a:schemeClr val="tx2"/>
              </a:solidFill>
              <a:latin typeface="Times New Roman"/>
              <a:ea typeface="+mn-lt"/>
              <a:cs typeface="Times New Roman"/>
            </a:endParaRPr>
          </a:p>
          <a:p>
            <a:pPr marL="0" indent="0">
              <a:buNone/>
            </a:pPr>
            <a:endParaRPr lang="en-US" sz="1400" b="1" dirty="0">
              <a:solidFill>
                <a:schemeClr val="tx2"/>
              </a:solidFill>
              <a:latin typeface="Times New Roman"/>
              <a:ea typeface="+mn-lt"/>
              <a:cs typeface="Times New Roman"/>
            </a:endParaRPr>
          </a:p>
          <a:p>
            <a:pPr marL="0" indent="0">
              <a:buNone/>
            </a:pPr>
            <a:endParaRPr lang="en-US" sz="1400" b="1" dirty="0">
              <a:solidFill>
                <a:schemeClr val="tx2"/>
              </a:solidFill>
              <a:latin typeface="Times New Roman"/>
              <a:ea typeface="+mn-lt"/>
              <a:cs typeface="Times New Roman"/>
            </a:endParaRPr>
          </a:p>
          <a:p>
            <a:pPr marL="0" indent="0">
              <a:buNone/>
            </a:pPr>
            <a:endParaRPr lang="en-US" sz="1400" dirty="0">
              <a:solidFill>
                <a:schemeClr val="tx2"/>
              </a:solidFill>
              <a:latin typeface="Times New Roman"/>
              <a:ea typeface="Calibri"/>
              <a:cs typeface="Calibri"/>
            </a:endParaRPr>
          </a:p>
          <a:p>
            <a:endParaRPr lang="en-US" sz="1000">
              <a:solidFill>
                <a:schemeClr val="tx2"/>
              </a:solidFill>
            </a:endParaRPr>
          </a:p>
          <a:p>
            <a:endParaRPr lang="en-US" sz="1000">
              <a:solidFill>
                <a:schemeClr val="tx2"/>
              </a:solidFill>
              <a:latin typeface="Avenir Next LT Pro"/>
              <a:cs typeface="Times New Roman"/>
            </a:endParaRPr>
          </a:p>
          <a:p>
            <a:pPr marL="0" indent="0">
              <a:buNone/>
            </a:pPr>
            <a:endParaRPr lang="en-US" sz="1000">
              <a:solidFill>
                <a:schemeClr val="tx2"/>
              </a:solidFill>
              <a:latin typeface="Times New Roman"/>
              <a:cs typeface="Times New Roman"/>
            </a:endParaRPr>
          </a:p>
          <a:p>
            <a:endParaRPr lang="en-US" sz="1000">
              <a:solidFill>
                <a:schemeClr val="tx2"/>
              </a:solidFill>
              <a:latin typeface="Times New Roman"/>
              <a:cs typeface="Times New Roman"/>
            </a:endParaRPr>
          </a:p>
        </p:txBody>
      </p:sp>
      <p:sp>
        <p:nvSpPr>
          <p:cNvPr id="6" name="Slide Number Placeholder 5">
            <a:extLst>
              <a:ext uri="{FF2B5EF4-FFF2-40B4-BE49-F238E27FC236}">
                <a16:creationId xmlns:a16="http://schemas.microsoft.com/office/drawing/2014/main" id="{C789A303-1055-81DD-F0D2-08131F6F2011}"/>
              </a:ext>
            </a:extLst>
          </p:cNvPr>
          <p:cNvSpPr>
            <a:spLocks noGrp="1"/>
          </p:cNvSpPr>
          <p:nvPr>
            <p:ph type="sldNum" sz="quarter" idx="12"/>
          </p:nvPr>
        </p:nvSpPr>
        <p:spPr>
          <a:xfrm>
            <a:off x="8610600" y="6356350"/>
            <a:ext cx="2743200" cy="365125"/>
          </a:xfrm>
        </p:spPr>
        <p:txBody>
          <a:bodyPr>
            <a:normAutofit/>
          </a:bodyPr>
          <a:lstStyle/>
          <a:p>
            <a:pPr>
              <a:spcAft>
                <a:spcPts val="600"/>
              </a:spcAft>
            </a:pPr>
            <a:fld id="{A65A5C87-DF58-40C8-B092-1DE63DB4547E}" type="slidenum">
              <a:rPr lang="en-US" dirty="0"/>
              <a:pPr>
                <a:spcAft>
                  <a:spcPts val="600"/>
                </a:spcAft>
              </a:pPr>
              <a:t>4</a:t>
            </a:fld>
            <a:endParaRPr lang="en-US"/>
          </a:p>
        </p:txBody>
      </p:sp>
      <p:graphicFrame>
        <p:nvGraphicFramePr>
          <p:cNvPr id="59" name="Diagram 58">
            <a:extLst>
              <a:ext uri="{FF2B5EF4-FFF2-40B4-BE49-F238E27FC236}">
                <a16:creationId xmlns:a16="http://schemas.microsoft.com/office/drawing/2014/main" id="{29865DE3-AC4F-3B6A-CDBC-8987660CD887}"/>
              </a:ext>
            </a:extLst>
          </p:cNvPr>
          <p:cNvGraphicFramePr/>
          <p:nvPr>
            <p:extLst>
              <p:ext uri="{D42A27DB-BD31-4B8C-83A1-F6EECF244321}">
                <p14:modId xmlns:p14="http://schemas.microsoft.com/office/powerpoint/2010/main" val="2711021261"/>
              </p:ext>
            </p:extLst>
          </p:nvPr>
        </p:nvGraphicFramePr>
        <p:xfrm>
          <a:off x="2180669" y="3194267"/>
          <a:ext cx="7283002" cy="33570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78804196-FDC9-7BAA-01F3-5858268A8034}"/>
              </a:ext>
            </a:extLst>
          </p:cNvPr>
          <p:cNvSpPr>
            <a:spLocks noGrp="1"/>
          </p:cNvSpPr>
          <p:nvPr>
            <p:ph type="dt" sz="half" idx="10"/>
          </p:nvPr>
        </p:nvSpPr>
        <p:spPr>
          <a:xfrm>
            <a:off x="804672" y="6356350"/>
            <a:ext cx="2743200" cy="365125"/>
          </a:xfrm>
        </p:spPr>
        <p:txBody>
          <a:bodyPr>
            <a:normAutofit/>
          </a:bodyPr>
          <a:lstStyle/>
          <a:p>
            <a:pPr>
              <a:spcAft>
                <a:spcPts val="600"/>
              </a:spcAft>
            </a:pPr>
            <a:fld id="{347B3B64-E82E-4B4A-9E04-97E41708B91C}" type="datetime1">
              <a:rPr lang="en-US"/>
              <a:pPr>
                <a:spcAft>
                  <a:spcPts val="600"/>
                </a:spcAft>
              </a:pPr>
              <a:t>3/31/2025</a:t>
            </a:fld>
            <a:endParaRPr lang="en-US"/>
          </a:p>
        </p:txBody>
      </p:sp>
    </p:spTree>
    <p:extLst>
      <p:ext uri="{BB962C8B-B14F-4D97-AF65-F5344CB8AC3E}">
        <p14:creationId xmlns:p14="http://schemas.microsoft.com/office/powerpoint/2010/main" val="2988247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B9B556-BEB7-7136-613F-437CAADC8211}"/>
            </a:ext>
          </a:extLst>
        </p:cNvPr>
        <p:cNvGrpSpPr/>
        <p:nvPr/>
      </p:nvGrpSpPr>
      <p:grpSpPr>
        <a:xfrm>
          <a:off x="0" y="0"/>
          <a:ext cx="0" cy="0"/>
          <a:chOff x="0" y="0"/>
          <a:chExt cx="0" cy="0"/>
        </a:xfrm>
      </p:grpSpPr>
      <p:sp>
        <p:nvSpPr>
          <p:cNvPr id="61" name="Rectangle 60">
            <a:extLst>
              <a:ext uri="{FF2B5EF4-FFF2-40B4-BE49-F238E27FC236}">
                <a16:creationId xmlns:a16="http://schemas.microsoft.com/office/drawing/2014/main" id="{D92A9108-F009-DB28-EEBC-6972B67893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useBgFill="1">
        <p:nvSpPr>
          <p:cNvPr id="60" name="Rectangle 59">
            <a:extLst>
              <a:ext uri="{FF2B5EF4-FFF2-40B4-BE49-F238E27FC236}">
                <a16:creationId xmlns:a16="http://schemas.microsoft.com/office/drawing/2014/main" id="{2E40341C-DA55-D877-0CF9-8E778C88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216534-750A-982A-7D81-B6B5FE487761}"/>
              </a:ext>
            </a:extLst>
          </p:cNvPr>
          <p:cNvSpPr>
            <a:spLocks noGrp="1"/>
          </p:cNvSpPr>
          <p:nvPr>
            <p:ph type="title"/>
          </p:nvPr>
        </p:nvSpPr>
        <p:spPr>
          <a:xfrm>
            <a:off x="907083" y="652243"/>
            <a:ext cx="9833548" cy="1066802"/>
          </a:xfrm>
        </p:spPr>
        <p:txBody>
          <a:bodyPr vert="horz" lIns="91440" tIns="45720" rIns="91440" bIns="45720" rtlCol="0" anchor="b">
            <a:noAutofit/>
          </a:bodyPr>
          <a:lstStyle/>
          <a:p>
            <a:r>
              <a:rPr lang="en-US" dirty="0">
                <a:solidFill>
                  <a:schemeClr val="tx2"/>
                </a:solidFill>
                <a:latin typeface="Times New Roman"/>
                <a:ea typeface="Calibri Light"/>
                <a:cs typeface="Calibri Light"/>
              </a:rPr>
              <a:t>Introduction</a:t>
            </a:r>
            <a:br>
              <a:rPr lang="en-US" dirty="0">
                <a:latin typeface="Times New Roman"/>
              </a:rPr>
            </a:br>
            <a:endParaRPr lang="en-US" dirty="0">
              <a:solidFill>
                <a:schemeClr val="tx2"/>
              </a:solidFill>
              <a:latin typeface="Times New Roman"/>
              <a:ea typeface="Calibri Light"/>
              <a:cs typeface="Calibri Light"/>
            </a:endParaRPr>
          </a:p>
        </p:txBody>
      </p:sp>
      <p:grpSp>
        <p:nvGrpSpPr>
          <p:cNvPr id="62" name="Group 61">
            <a:extLst>
              <a:ext uri="{FF2B5EF4-FFF2-40B4-BE49-F238E27FC236}">
                <a16:creationId xmlns:a16="http://schemas.microsoft.com/office/drawing/2014/main" id="{E30A95BD-B189-008E-61F4-4C546B75B2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6" name="Freeform: Shape 15">
              <a:extLst>
                <a:ext uri="{FF2B5EF4-FFF2-40B4-BE49-F238E27FC236}">
                  <a16:creationId xmlns:a16="http://schemas.microsoft.com/office/drawing/2014/main" id="{5884D004-D171-BC51-B6A5-5F4EA5C07F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0058F22D-29DF-0ED8-7D70-C50A4A076F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2C98A25-93B7-9EF1-B31C-8BB554EBF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F32D2305-75FC-A9F7-2FE6-79C2C28AA0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7F2DD7FF-5DB8-A6FA-1246-ED4195C3742F}"/>
              </a:ext>
            </a:extLst>
          </p:cNvPr>
          <p:cNvSpPr>
            <a:spLocks noGrp="1"/>
          </p:cNvSpPr>
          <p:nvPr>
            <p:ph idx="1"/>
          </p:nvPr>
        </p:nvSpPr>
        <p:spPr>
          <a:xfrm>
            <a:off x="907083" y="943170"/>
            <a:ext cx="9833548" cy="5862943"/>
          </a:xfrm>
        </p:spPr>
        <p:txBody>
          <a:bodyPr vert="horz" lIns="91440" tIns="45720" rIns="91440" bIns="45720" rtlCol="0" anchor="ctr">
            <a:noAutofit/>
          </a:bodyPr>
          <a:lstStyle/>
          <a:p>
            <a:pPr marL="0" indent="0">
              <a:buNone/>
            </a:pPr>
            <a:endParaRPr lang="en-US" sz="1800" dirty="0">
              <a:solidFill>
                <a:srgbClr val="000000"/>
              </a:solidFill>
              <a:latin typeface="Calibri"/>
              <a:ea typeface="+mn-lt"/>
              <a:cs typeface="Times New Roman"/>
            </a:endParaRPr>
          </a:p>
          <a:p>
            <a:pPr marL="0" indent="0">
              <a:buNone/>
            </a:pPr>
            <a:r>
              <a:rPr lang="en-US" sz="1800" b="1" dirty="0">
                <a:solidFill>
                  <a:schemeClr val="tx2"/>
                </a:solidFill>
                <a:latin typeface="Times New Roman"/>
                <a:ea typeface="+mn-lt"/>
                <a:cs typeface="Times New Roman"/>
              </a:rPr>
              <a:t>Real-World Applications:</a:t>
            </a:r>
            <a:endParaRPr lang="en-US" sz="1800">
              <a:solidFill>
                <a:schemeClr val="tx2"/>
              </a:solidFill>
              <a:latin typeface="Times New Roman"/>
              <a:ea typeface="+mn-lt"/>
              <a:cs typeface="Times New Roman"/>
            </a:endParaRPr>
          </a:p>
          <a:p>
            <a:pPr>
              <a:buFont typeface="Arial"/>
              <a:buChar char="•"/>
            </a:pPr>
            <a:r>
              <a:rPr lang="en-US" sz="1800" b="1" dirty="0">
                <a:solidFill>
                  <a:schemeClr val="tx2"/>
                </a:solidFill>
                <a:latin typeface="Times New Roman"/>
                <a:ea typeface="+mn-lt"/>
                <a:cs typeface="Calibri"/>
              </a:rPr>
              <a:t>Search engines</a:t>
            </a:r>
            <a:r>
              <a:rPr lang="en-US" sz="1800" dirty="0">
                <a:solidFill>
                  <a:schemeClr val="tx2"/>
                </a:solidFill>
                <a:latin typeface="Times New Roman"/>
                <a:ea typeface="+mn-lt"/>
                <a:cs typeface="Calibri"/>
              </a:rPr>
              <a:t> (Google, Bing) – query intent recognition.</a:t>
            </a:r>
          </a:p>
          <a:p>
            <a:pPr>
              <a:buFont typeface="Arial"/>
              <a:buChar char="•"/>
            </a:pPr>
            <a:r>
              <a:rPr lang="en-US" sz="1800" b="1" dirty="0">
                <a:solidFill>
                  <a:schemeClr val="tx2"/>
                </a:solidFill>
                <a:latin typeface="Times New Roman"/>
                <a:ea typeface="+mn-lt"/>
                <a:cs typeface="Calibri"/>
              </a:rPr>
              <a:t>E-commerce platforms</a:t>
            </a:r>
            <a:r>
              <a:rPr lang="en-US" sz="1800" dirty="0">
                <a:solidFill>
                  <a:schemeClr val="tx2"/>
                </a:solidFill>
                <a:latin typeface="Times New Roman"/>
                <a:ea typeface="+mn-lt"/>
                <a:cs typeface="Calibri"/>
              </a:rPr>
              <a:t> (Amazon, eBay) – product ranking and recommendations.</a:t>
            </a:r>
          </a:p>
          <a:p>
            <a:pPr>
              <a:buFont typeface="Arial"/>
              <a:buChar char="•"/>
            </a:pPr>
            <a:r>
              <a:rPr lang="en-US" sz="1800" b="1" dirty="0">
                <a:solidFill>
                  <a:schemeClr val="tx2"/>
                </a:solidFill>
                <a:latin typeface="Times New Roman"/>
                <a:ea typeface="+mn-lt"/>
                <a:cs typeface="Calibri"/>
              </a:rPr>
              <a:t>Healthcare and legal sectors</a:t>
            </a:r>
            <a:r>
              <a:rPr lang="en-US" sz="1800" dirty="0">
                <a:solidFill>
                  <a:schemeClr val="tx2"/>
                </a:solidFill>
                <a:latin typeface="Times New Roman"/>
                <a:ea typeface="+mn-lt"/>
                <a:cs typeface="Calibri"/>
              </a:rPr>
              <a:t> – document retrieval and case law matching.</a:t>
            </a:r>
          </a:p>
          <a:p>
            <a:pPr>
              <a:buFont typeface="Arial"/>
              <a:buChar char="•"/>
            </a:pPr>
            <a:r>
              <a:rPr lang="en-US" sz="1800" b="1" dirty="0">
                <a:solidFill>
                  <a:schemeClr val="tx2"/>
                </a:solidFill>
                <a:latin typeface="Times New Roman"/>
                <a:ea typeface="+mn-lt"/>
                <a:cs typeface="Calibri"/>
              </a:rPr>
              <a:t>Job portals</a:t>
            </a:r>
            <a:r>
              <a:rPr lang="en-US" sz="1800" dirty="0">
                <a:solidFill>
                  <a:schemeClr val="tx2"/>
                </a:solidFill>
                <a:latin typeface="Times New Roman"/>
                <a:ea typeface="+mn-lt"/>
                <a:cs typeface="Calibri"/>
              </a:rPr>
              <a:t> (LinkedIn, Indeed) – resume-to-job matching based on skills.</a:t>
            </a:r>
          </a:p>
          <a:p>
            <a:pPr marL="0" indent="0">
              <a:buNone/>
            </a:pPr>
            <a:endParaRPr lang="en-US" sz="1800" dirty="0">
              <a:solidFill>
                <a:schemeClr val="tx2"/>
              </a:solidFill>
              <a:latin typeface="Times New Roman"/>
              <a:ea typeface="+mn-lt"/>
              <a:cs typeface="Times New Roman"/>
            </a:endParaRPr>
          </a:p>
          <a:p>
            <a:pPr marL="0" indent="0">
              <a:buNone/>
            </a:pPr>
            <a:r>
              <a:rPr lang="en-US" sz="1800" b="1" dirty="0">
                <a:solidFill>
                  <a:schemeClr val="tx2"/>
                </a:solidFill>
                <a:latin typeface="Times New Roman"/>
                <a:ea typeface="+mn-lt"/>
                <a:cs typeface="Calibri"/>
              </a:rPr>
              <a:t>Why OpenAI's GPT Embeddings?</a:t>
            </a:r>
            <a:endParaRPr lang="en-US" sz="1800" dirty="0">
              <a:solidFill>
                <a:schemeClr val="tx2"/>
              </a:solidFill>
              <a:latin typeface="Times New Roman"/>
              <a:ea typeface="+mn-lt"/>
              <a:cs typeface="Calibri"/>
            </a:endParaRPr>
          </a:p>
          <a:p>
            <a:pPr>
              <a:lnSpc>
                <a:spcPct val="100000"/>
              </a:lnSpc>
              <a:spcBef>
                <a:spcPts val="0"/>
              </a:spcBef>
              <a:buFont typeface="Arial"/>
              <a:buChar char="•"/>
            </a:pPr>
            <a:r>
              <a:rPr lang="en-US" sz="1800" b="1" dirty="0">
                <a:solidFill>
                  <a:schemeClr val="tx2"/>
                </a:solidFill>
                <a:latin typeface="Times New Roman"/>
                <a:ea typeface="+mn-lt"/>
                <a:cs typeface="Calibri"/>
              </a:rPr>
              <a:t>Consistent Vector Dimensions:</a:t>
            </a:r>
            <a:r>
              <a:rPr lang="en-US" sz="1800" dirty="0">
                <a:solidFill>
                  <a:schemeClr val="tx2"/>
                </a:solidFill>
                <a:latin typeface="Times New Roman"/>
                <a:ea typeface="+mn-lt"/>
                <a:cs typeface="Calibri"/>
              </a:rPr>
              <a:t> Works effectively across varying text lengths, from single words to entire documents.</a:t>
            </a:r>
          </a:p>
          <a:p>
            <a:pPr>
              <a:lnSpc>
                <a:spcPct val="100000"/>
              </a:lnSpc>
              <a:spcBef>
                <a:spcPts val="0"/>
              </a:spcBef>
              <a:buFont typeface="Arial"/>
              <a:buChar char="•"/>
            </a:pPr>
            <a:r>
              <a:rPr lang="en-US" sz="1800" b="1" dirty="0">
                <a:solidFill>
                  <a:schemeClr val="tx2"/>
                </a:solidFill>
                <a:latin typeface="Times New Roman"/>
                <a:ea typeface="+mn-lt"/>
                <a:cs typeface="Calibri"/>
              </a:rPr>
              <a:t>High Semantic Accuracy:</a:t>
            </a:r>
            <a:r>
              <a:rPr lang="en-US" sz="1800" dirty="0">
                <a:solidFill>
                  <a:schemeClr val="tx2"/>
                </a:solidFill>
                <a:latin typeface="Times New Roman"/>
                <a:ea typeface="+mn-lt"/>
                <a:cs typeface="Calibri"/>
              </a:rPr>
              <a:t> Captures contextual nuances better than static models.</a:t>
            </a:r>
          </a:p>
          <a:p>
            <a:pPr>
              <a:lnSpc>
                <a:spcPct val="100000"/>
              </a:lnSpc>
              <a:spcBef>
                <a:spcPts val="0"/>
              </a:spcBef>
              <a:buFont typeface="Arial"/>
              <a:buChar char="•"/>
            </a:pPr>
            <a:r>
              <a:rPr lang="en-US" sz="1800" b="1" dirty="0">
                <a:solidFill>
                  <a:schemeClr val="tx2"/>
                </a:solidFill>
                <a:latin typeface="Times New Roman"/>
                <a:ea typeface="+mn-lt"/>
                <a:cs typeface="Calibri"/>
              </a:rPr>
              <a:t>Scalability &amp; Adaptability:</a:t>
            </a:r>
            <a:r>
              <a:rPr lang="en-US" sz="1800" dirty="0">
                <a:solidFill>
                  <a:schemeClr val="tx2"/>
                </a:solidFill>
                <a:latin typeface="Times New Roman"/>
                <a:ea typeface="+mn-lt"/>
                <a:cs typeface="Calibri"/>
              </a:rPr>
              <a:t> Trained on large, diverse datasets, making it generalizable across multiple domains.</a:t>
            </a:r>
          </a:p>
          <a:p>
            <a:pPr>
              <a:lnSpc>
                <a:spcPct val="100000"/>
              </a:lnSpc>
              <a:spcBef>
                <a:spcPts val="0"/>
              </a:spcBef>
              <a:buFont typeface="Arial"/>
              <a:buChar char="•"/>
            </a:pPr>
            <a:r>
              <a:rPr lang="en-US" sz="1800" b="1" dirty="0">
                <a:solidFill>
                  <a:schemeClr val="tx2"/>
                </a:solidFill>
                <a:latin typeface="Times New Roman"/>
                <a:ea typeface="+mn-lt"/>
                <a:cs typeface="Calibri"/>
              </a:rPr>
              <a:t>Optimized for Similarity Tasks:</a:t>
            </a:r>
            <a:r>
              <a:rPr lang="en-US" sz="1800" dirty="0">
                <a:solidFill>
                  <a:schemeClr val="tx2"/>
                </a:solidFill>
                <a:latin typeface="Times New Roman"/>
                <a:ea typeface="+mn-lt"/>
                <a:cs typeface="Calibri"/>
              </a:rPr>
              <a:t> Unlike models like BERT, which are designed for sentence-level tasks, OpenAI embeddings excel in broader semantic comparisons.</a:t>
            </a:r>
            <a:endParaRPr lang="en-US" dirty="0">
              <a:solidFill>
                <a:schemeClr val="tx2"/>
              </a:solidFill>
              <a:latin typeface="Times New Roman"/>
              <a:ea typeface="Calibri"/>
              <a:cs typeface="Calibri"/>
            </a:endParaRPr>
          </a:p>
          <a:p>
            <a:endParaRPr lang="en-US" sz="1000" dirty="0">
              <a:solidFill>
                <a:schemeClr val="tx2"/>
              </a:solidFill>
              <a:latin typeface="Calibri"/>
              <a:ea typeface="Calibri"/>
              <a:cs typeface="Times New Roman"/>
            </a:endParaRPr>
          </a:p>
          <a:p>
            <a:pPr marL="0" indent="0">
              <a:buNone/>
            </a:pPr>
            <a:endParaRPr lang="en-US" sz="1000" dirty="0">
              <a:solidFill>
                <a:schemeClr val="tx2"/>
              </a:solidFill>
              <a:latin typeface="Calibri"/>
              <a:ea typeface="Calibri"/>
              <a:cs typeface="Times New Roman"/>
            </a:endParaRPr>
          </a:p>
          <a:p>
            <a:endParaRPr lang="en-US" sz="1000" dirty="0">
              <a:solidFill>
                <a:schemeClr val="tx2"/>
              </a:solidFill>
              <a:latin typeface="Calibri"/>
              <a:ea typeface="Calibri"/>
              <a:cs typeface="Times New Roman"/>
            </a:endParaRPr>
          </a:p>
        </p:txBody>
      </p:sp>
      <p:sp>
        <p:nvSpPr>
          <p:cNvPr id="6" name="Slide Number Placeholder 5">
            <a:extLst>
              <a:ext uri="{FF2B5EF4-FFF2-40B4-BE49-F238E27FC236}">
                <a16:creationId xmlns:a16="http://schemas.microsoft.com/office/drawing/2014/main" id="{D11ECC15-9D35-F284-BE6C-A1754E97AF25}"/>
              </a:ext>
            </a:extLst>
          </p:cNvPr>
          <p:cNvSpPr>
            <a:spLocks noGrp="1"/>
          </p:cNvSpPr>
          <p:nvPr>
            <p:ph type="sldNum" sz="quarter" idx="12"/>
          </p:nvPr>
        </p:nvSpPr>
        <p:spPr>
          <a:xfrm>
            <a:off x="8610600" y="6356350"/>
            <a:ext cx="2743200" cy="365125"/>
          </a:xfrm>
        </p:spPr>
        <p:txBody>
          <a:bodyPr>
            <a:normAutofit/>
          </a:bodyPr>
          <a:lstStyle/>
          <a:p>
            <a:pPr>
              <a:spcAft>
                <a:spcPts val="600"/>
              </a:spcAft>
            </a:pPr>
            <a:fld id="{A65A5C87-DF58-40C8-B092-1DE63DB4547E}" type="slidenum">
              <a:rPr lang="en-US" dirty="0"/>
              <a:pPr>
                <a:spcAft>
                  <a:spcPts val="600"/>
                </a:spcAft>
              </a:pPr>
              <a:t>5</a:t>
            </a:fld>
            <a:endParaRPr lang="en-US"/>
          </a:p>
        </p:txBody>
      </p:sp>
      <p:sp>
        <p:nvSpPr>
          <p:cNvPr id="4" name="Date Placeholder 3">
            <a:extLst>
              <a:ext uri="{FF2B5EF4-FFF2-40B4-BE49-F238E27FC236}">
                <a16:creationId xmlns:a16="http://schemas.microsoft.com/office/drawing/2014/main" id="{EA55166F-BBDD-8F84-8ABA-37DB82FDFF8C}"/>
              </a:ext>
            </a:extLst>
          </p:cNvPr>
          <p:cNvSpPr>
            <a:spLocks noGrp="1"/>
          </p:cNvSpPr>
          <p:nvPr>
            <p:ph type="dt" sz="half" idx="10"/>
          </p:nvPr>
        </p:nvSpPr>
        <p:spPr>
          <a:xfrm>
            <a:off x="804672" y="6356350"/>
            <a:ext cx="2743200" cy="365125"/>
          </a:xfrm>
        </p:spPr>
        <p:txBody>
          <a:bodyPr>
            <a:normAutofit/>
          </a:bodyPr>
          <a:lstStyle/>
          <a:p>
            <a:pPr>
              <a:spcAft>
                <a:spcPts val="600"/>
              </a:spcAft>
            </a:pPr>
            <a:fld id="{347B3B64-E82E-4B4A-9E04-97E41708B91C}" type="datetime1">
              <a:rPr lang="en-US"/>
              <a:pPr>
                <a:spcAft>
                  <a:spcPts val="600"/>
                </a:spcAft>
              </a:pPr>
              <a:t>3/31/2025</a:t>
            </a:fld>
            <a:endParaRPr lang="en-US"/>
          </a:p>
        </p:txBody>
      </p:sp>
    </p:spTree>
    <p:extLst>
      <p:ext uri="{BB962C8B-B14F-4D97-AF65-F5344CB8AC3E}">
        <p14:creationId xmlns:p14="http://schemas.microsoft.com/office/powerpoint/2010/main" val="4017521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535099-6C8F-40B4-BBAD-7B3C6845CC93}"/>
            </a:ext>
          </a:extLst>
        </p:cNvPr>
        <p:cNvGrpSpPr/>
        <p:nvPr/>
      </p:nvGrpSpPr>
      <p:grpSpPr>
        <a:xfrm>
          <a:off x="0" y="0"/>
          <a:ext cx="0" cy="0"/>
          <a:chOff x="0" y="0"/>
          <a:chExt cx="0" cy="0"/>
        </a:xfrm>
      </p:grpSpPr>
      <p:sp>
        <p:nvSpPr>
          <p:cNvPr id="61" name="Rectangle 60">
            <a:extLst>
              <a:ext uri="{FF2B5EF4-FFF2-40B4-BE49-F238E27FC236}">
                <a16:creationId xmlns:a16="http://schemas.microsoft.com/office/drawing/2014/main" id="{90E76A1A-4BF2-0F2A-1EE6-666F62696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useBgFill="1">
        <p:nvSpPr>
          <p:cNvPr id="60" name="Rectangle 59">
            <a:extLst>
              <a:ext uri="{FF2B5EF4-FFF2-40B4-BE49-F238E27FC236}">
                <a16:creationId xmlns:a16="http://schemas.microsoft.com/office/drawing/2014/main" id="{EFEC65D1-A9A8-7F89-E66E-3A44E0599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11CD05-FF67-A01E-A4A8-26E1A821E589}"/>
              </a:ext>
            </a:extLst>
          </p:cNvPr>
          <p:cNvSpPr>
            <a:spLocks noGrp="1"/>
          </p:cNvSpPr>
          <p:nvPr>
            <p:ph type="title"/>
          </p:nvPr>
        </p:nvSpPr>
        <p:spPr>
          <a:xfrm>
            <a:off x="897558" y="-2970"/>
            <a:ext cx="9833548" cy="1066802"/>
          </a:xfrm>
        </p:spPr>
        <p:txBody>
          <a:bodyPr anchor="b">
            <a:normAutofit/>
          </a:bodyPr>
          <a:lstStyle/>
          <a:p>
            <a:r>
              <a:rPr lang="en-US" dirty="0">
                <a:solidFill>
                  <a:srgbClr val="44546A"/>
                </a:solidFill>
                <a:latin typeface="Times New Roman"/>
                <a:ea typeface="Calibri Light"/>
                <a:cs typeface="Calibri Light"/>
              </a:rPr>
              <a:t>System Design</a:t>
            </a:r>
            <a:endParaRPr lang="en-US">
              <a:solidFill>
                <a:srgbClr val="44546A"/>
              </a:solidFill>
              <a:latin typeface="Times New Roman"/>
              <a:ea typeface="Calibri Light"/>
              <a:cs typeface="Calibri Light"/>
            </a:endParaRPr>
          </a:p>
        </p:txBody>
      </p:sp>
      <p:grpSp>
        <p:nvGrpSpPr>
          <p:cNvPr id="62" name="Group 61">
            <a:extLst>
              <a:ext uri="{FF2B5EF4-FFF2-40B4-BE49-F238E27FC236}">
                <a16:creationId xmlns:a16="http://schemas.microsoft.com/office/drawing/2014/main" id="{26ECB43F-DBC3-B02A-7C1C-174B6237CF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6" name="Freeform: Shape 15">
              <a:extLst>
                <a:ext uri="{FF2B5EF4-FFF2-40B4-BE49-F238E27FC236}">
                  <a16:creationId xmlns:a16="http://schemas.microsoft.com/office/drawing/2014/main" id="{D85EDE41-B1AC-AA51-73B4-BB9EABE2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63" name="Freeform: Shape 62">
              <a:extLst>
                <a:ext uri="{FF2B5EF4-FFF2-40B4-BE49-F238E27FC236}">
                  <a16:creationId xmlns:a16="http://schemas.microsoft.com/office/drawing/2014/main" id="{C59F2D69-0DF6-7372-C12E-7B64BCAA4A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8" name="Freeform: Shape 17">
              <a:extLst>
                <a:ext uri="{FF2B5EF4-FFF2-40B4-BE49-F238E27FC236}">
                  <a16:creationId xmlns:a16="http://schemas.microsoft.com/office/drawing/2014/main" id="{FBDA4EF4-E01E-AC43-29C2-C9E8C2F32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9" name="Freeform: Shape 18">
              <a:extLst>
                <a:ext uri="{FF2B5EF4-FFF2-40B4-BE49-F238E27FC236}">
                  <a16:creationId xmlns:a16="http://schemas.microsoft.com/office/drawing/2014/main" id="{486B65E6-0CA7-74F2-8A4E-A3F5F8A3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grpSp>
      <p:sp>
        <p:nvSpPr>
          <p:cNvPr id="3" name="Content Placeholder 2">
            <a:extLst>
              <a:ext uri="{FF2B5EF4-FFF2-40B4-BE49-F238E27FC236}">
                <a16:creationId xmlns:a16="http://schemas.microsoft.com/office/drawing/2014/main" id="{98A98DCE-3327-934E-775C-8D68F85CF623}"/>
              </a:ext>
            </a:extLst>
          </p:cNvPr>
          <p:cNvSpPr>
            <a:spLocks noGrp="1"/>
          </p:cNvSpPr>
          <p:nvPr>
            <p:ph idx="1"/>
          </p:nvPr>
        </p:nvSpPr>
        <p:spPr>
          <a:xfrm>
            <a:off x="907083" y="943170"/>
            <a:ext cx="9833548" cy="5862943"/>
          </a:xfrm>
        </p:spPr>
        <p:txBody>
          <a:bodyPr vert="horz" lIns="91440" tIns="45720" rIns="91440" bIns="45720" rtlCol="0" anchor="ctr">
            <a:noAutofit/>
          </a:bodyPr>
          <a:lstStyle/>
          <a:p>
            <a:pPr marL="0" indent="0">
              <a:buNone/>
            </a:pPr>
            <a:endParaRPr lang="en-US" sz="1800" dirty="0">
              <a:solidFill>
                <a:srgbClr val="44546A"/>
              </a:solidFill>
              <a:latin typeface="Times New Roman"/>
              <a:ea typeface="+mn-lt"/>
              <a:cs typeface="Times New Roman"/>
            </a:endParaRPr>
          </a:p>
          <a:p>
            <a:pPr>
              <a:lnSpc>
                <a:spcPct val="100000"/>
              </a:lnSpc>
              <a:spcBef>
                <a:spcPts val="0"/>
              </a:spcBef>
              <a:buFont typeface="Arial"/>
              <a:buChar char="•"/>
            </a:pPr>
            <a:endParaRPr lang="en-US" sz="1800" dirty="0">
              <a:solidFill>
                <a:srgbClr val="44546A"/>
              </a:solidFill>
              <a:latin typeface="Times New Roman"/>
              <a:ea typeface="Calibri"/>
              <a:cs typeface="Times New Roman"/>
            </a:endParaRPr>
          </a:p>
          <a:p>
            <a:endParaRPr lang="en-US" sz="1000">
              <a:solidFill>
                <a:srgbClr val="44546A"/>
              </a:solidFill>
              <a:latin typeface="Times New Roman"/>
              <a:ea typeface="Calibri"/>
              <a:cs typeface="Times New Roman"/>
            </a:endParaRPr>
          </a:p>
          <a:p>
            <a:pPr marL="0" indent="0">
              <a:buNone/>
            </a:pPr>
            <a:endParaRPr lang="en-US" sz="1000">
              <a:solidFill>
                <a:srgbClr val="44546A"/>
              </a:solidFill>
              <a:latin typeface="Times New Roman"/>
              <a:cs typeface="Times New Roman"/>
            </a:endParaRPr>
          </a:p>
          <a:p>
            <a:endParaRPr lang="en-US" sz="1000">
              <a:solidFill>
                <a:srgbClr val="44546A"/>
              </a:solidFill>
              <a:latin typeface="Times New Roman"/>
              <a:cs typeface="Times New Roman"/>
            </a:endParaRPr>
          </a:p>
        </p:txBody>
      </p:sp>
      <p:sp>
        <p:nvSpPr>
          <p:cNvPr id="6" name="Slide Number Placeholder 5">
            <a:extLst>
              <a:ext uri="{FF2B5EF4-FFF2-40B4-BE49-F238E27FC236}">
                <a16:creationId xmlns:a16="http://schemas.microsoft.com/office/drawing/2014/main" id="{6358AE5D-6008-00E4-07FA-ABDF94C71500}"/>
              </a:ext>
            </a:extLst>
          </p:cNvPr>
          <p:cNvSpPr>
            <a:spLocks noGrp="1"/>
          </p:cNvSpPr>
          <p:nvPr>
            <p:ph type="sldNum" sz="quarter" idx="12"/>
          </p:nvPr>
        </p:nvSpPr>
        <p:spPr>
          <a:xfrm>
            <a:off x="8610600" y="6356350"/>
            <a:ext cx="2743200" cy="365125"/>
          </a:xfrm>
        </p:spPr>
        <p:txBody>
          <a:bodyPr>
            <a:normAutofit/>
          </a:bodyPr>
          <a:lstStyle/>
          <a:p>
            <a:pPr>
              <a:spcAft>
                <a:spcPts val="600"/>
              </a:spcAft>
            </a:pPr>
            <a:fld id="{A65A5C87-DF58-40C8-B092-1DE63DB4547E}" type="slidenum">
              <a:rPr lang="en-US" dirty="0">
                <a:solidFill>
                  <a:srgbClr val="44546A"/>
                </a:solidFill>
                <a:latin typeface="Times New Roman"/>
                <a:cs typeface="Times New Roman"/>
              </a:rPr>
              <a:pPr>
                <a:spcAft>
                  <a:spcPts val="600"/>
                </a:spcAft>
              </a:pPr>
              <a:t>6</a:t>
            </a:fld>
            <a:endParaRPr lang="en-US">
              <a:solidFill>
                <a:srgbClr val="44546A"/>
              </a:solidFill>
              <a:latin typeface="Times New Roman"/>
              <a:cs typeface="Times New Roman"/>
            </a:endParaRPr>
          </a:p>
        </p:txBody>
      </p:sp>
      <p:sp>
        <p:nvSpPr>
          <p:cNvPr id="4" name="Date Placeholder 3">
            <a:extLst>
              <a:ext uri="{FF2B5EF4-FFF2-40B4-BE49-F238E27FC236}">
                <a16:creationId xmlns:a16="http://schemas.microsoft.com/office/drawing/2014/main" id="{B7BA749F-F75B-7DF4-E646-744E5724CAFF}"/>
              </a:ext>
            </a:extLst>
          </p:cNvPr>
          <p:cNvSpPr>
            <a:spLocks noGrp="1"/>
          </p:cNvSpPr>
          <p:nvPr>
            <p:ph type="dt" sz="half" idx="10"/>
          </p:nvPr>
        </p:nvSpPr>
        <p:spPr>
          <a:xfrm>
            <a:off x="804672" y="6356350"/>
            <a:ext cx="2743200" cy="365125"/>
          </a:xfrm>
        </p:spPr>
        <p:txBody>
          <a:bodyPr>
            <a:normAutofit/>
          </a:bodyPr>
          <a:lstStyle/>
          <a:p>
            <a:pPr>
              <a:spcAft>
                <a:spcPts val="600"/>
              </a:spcAft>
            </a:pPr>
            <a:fld id="{347B3B64-E82E-4B4A-9E04-97E41708B91C}" type="datetime1">
              <a:rPr lang="en-US"/>
              <a:pPr>
                <a:spcAft>
                  <a:spcPts val="600"/>
                </a:spcAft>
              </a:pPr>
              <a:t>3/31/2025</a:t>
            </a:fld>
            <a:endParaRPr lang="en-US"/>
          </a:p>
        </p:txBody>
      </p:sp>
      <p:pic>
        <p:nvPicPr>
          <p:cNvPr id="7" name="Picture 6" descr="A white rectangular box with black text&#10;&#10;AI-generated content may be incorrect.">
            <a:extLst>
              <a:ext uri="{FF2B5EF4-FFF2-40B4-BE49-F238E27FC236}">
                <a16:creationId xmlns:a16="http://schemas.microsoft.com/office/drawing/2014/main" id="{834E28D9-B3A7-4647-1C5C-05CBC95A95E1}"/>
              </a:ext>
            </a:extLst>
          </p:cNvPr>
          <p:cNvPicPr>
            <a:picLocks noChangeAspect="1"/>
          </p:cNvPicPr>
          <p:nvPr/>
        </p:nvPicPr>
        <p:blipFill>
          <a:blip r:embed="rId2"/>
          <a:stretch>
            <a:fillRect/>
          </a:stretch>
        </p:blipFill>
        <p:spPr>
          <a:xfrm>
            <a:off x="900448" y="3748796"/>
            <a:ext cx="8725437" cy="2617958"/>
          </a:xfrm>
          <a:prstGeom prst="rect">
            <a:avLst/>
          </a:prstGeom>
          <a:ln>
            <a:noFill/>
          </a:ln>
        </p:spPr>
      </p:pic>
      <p:sp>
        <p:nvSpPr>
          <p:cNvPr id="8" name="TextBox 7">
            <a:extLst>
              <a:ext uri="{FF2B5EF4-FFF2-40B4-BE49-F238E27FC236}">
                <a16:creationId xmlns:a16="http://schemas.microsoft.com/office/drawing/2014/main" id="{3534C4B9-6AC7-BC97-3897-426CA04A36AB}"/>
              </a:ext>
            </a:extLst>
          </p:cNvPr>
          <p:cNvSpPr txBox="1"/>
          <p:nvPr/>
        </p:nvSpPr>
        <p:spPr>
          <a:xfrm>
            <a:off x="905092" y="3301848"/>
            <a:ext cx="6044792" cy="11587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ct val="0"/>
              </a:spcBef>
            </a:pPr>
            <a:r>
              <a:rPr lang="en-US" sz="2400">
                <a:solidFill>
                  <a:srgbClr val="44546A"/>
                </a:solidFill>
                <a:latin typeface="Times New Roman"/>
                <a:ea typeface="Calibri Light"/>
                <a:cs typeface="Times New Roman"/>
              </a:rPr>
              <a:t>Expected CSV Output</a:t>
            </a:r>
          </a:p>
          <a:p>
            <a:pPr>
              <a:lnSpc>
                <a:spcPct val="90000"/>
              </a:lnSpc>
              <a:spcBef>
                <a:spcPct val="0"/>
              </a:spcBef>
            </a:pPr>
            <a:endParaRPr lang="en-US" sz="3300" dirty="0">
              <a:solidFill>
                <a:srgbClr val="44546A"/>
              </a:solidFill>
              <a:latin typeface="Times New Roman"/>
              <a:cs typeface="Times New Roman"/>
            </a:endParaRPr>
          </a:p>
          <a:p>
            <a:pPr algn="l"/>
            <a:endParaRPr lang="en-US" dirty="0">
              <a:solidFill>
                <a:srgbClr val="44546A"/>
              </a:solidFill>
              <a:latin typeface="Times New Roman"/>
              <a:ea typeface="Calibri"/>
              <a:cs typeface="Times New Roman"/>
            </a:endParaRPr>
          </a:p>
        </p:txBody>
      </p:sp>
      <p:sp>
        <p:nvSpPr>
          <p:cNvPr id="9" name="TextBox 8">
            <a:extLst>
              <a:ext uri="{FF2B5EF4-FFF2-40B4-BE49-F238E27FC236}">
                <a16:creationId xmlns:a16="http://schemas.microsoft.com/office/drawing/2014/main" id="{D444127C-BB8C-E68E-C46C-D53CB00826AB}"/>
              </a:ext>
            </a:extLst>
          </p:cNvPr>
          <p:cNvSpPr txBox="1"/>
          <p:nvPr/>
        </p:nvSpPr>
        <p:spPr>
          <a:xfrm>
            <a:off x="907461" y="1871332"/>
            <a:ext cx="1016039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44546A"/>
                </a:solidFill>
                <a:latin typeface="Times New Roman"/>
                <a:ea typeface="Calibri"/>
                <a:cs typeface="Times New Roman"/>
              </a:rPr>
              <a:t>To facilitate comparison across all levels of textual data, there are three modes of operation:</a:t>
            </a:r>
          </a:p>
          <a:p>
            <a:pPr marL="285750" indent="-285750">
              <a:buFont typeface="Calibri"/>
              <a:buChar char="-"/>
            </a:pPr>
            <a:r>
              <a:rPr lang="en-US">
                <a:solidFill>
                  <a:srgbClr val="44546A"/>
                </a:solidFill>
                <a:latin typeface="Times New Roman"/>
                <a:ea typeface="Calibri"/>
                <a:cs typeface="Times New Roman"/>
              </a:rPr>
              <a:t>Compare words or phrases with words or phrases</a:t>
            </a:r>
          </a:p>
          <a:p>
            <a:pPr marL="285750" indent="-285750">
              <a:buFont typeface="Calibri"/>
              <a:buChar char="-"/>
            </a:pPr>
            <a:r>
              <a:rPr lang="en-US">
                <a:solidFill>
                  <a:srgbClr val="44546A"/>
                </a:solidFill>
                <a:latin typeface="Times New Roman"/>
                <a:ea typeface="Calibri"/>
                <a:cs typeface="Times New Roman"/>
              </a:rPr>
              <a:t>Compare documents with words or phrases</a:t>
            </a:r>
            <a:endParaRPr lang="en-US" dirty="0">
              <a:solidFill>
                <a:srgbClr val="44546A"/>
              </a:solidFill>
              <a:latin typeface="Times New Roman"/>
              <a:ea typeface="Calibri"/>
              <a:cs typeface="Times New Roman"/>
            </a:endParaRPr>
          </a:p>
          <a:p>
            <a:pPr marL="285750" indent="-285750">
              <a:buFont typeface="Calibri"/>
              <a:buChar char="-"/>
            </a:pPr>
            <a:r>
              <a:rPr lang="en-US">
                <a:solidFill>
                  <a:srgbClr val="44546A"/>
                </a:solidFill>
                <a:latin typeface="Times New Roman"/>
                <a:ea typeface="Calibri"/>
                <a:cs typeface="Times New Roman"/>
              </a:rPr>
              <a:t>Compare documents with documents</a:t>
            </a:r>
            <a:endParaRPr lang="en-US" dirty="0">
              <a:solidFill>
                <a:srgbClr val="44546A"/>
              </a:solidFill>
              <a:latin typeface="Times New Roman"/>
              <a:ea typeface="Calibri"/>
              <a:cs typeface="Times New Roman"/>
            </a:endParaRPr>
          </a:p>
        </p:txBody>
      </p:sp>
      <p:sp>
        <p:nvSpPr>
          <p:cNvPr id="10" name="TextBox 9">
            <a:extLst>
              <a:ext uri="{FF2B5EF4-FFF2-40B4-BE49-F238E27FC236}">
                <a16:creationId xmlns:a16="http://schemas.microsoft.com/office/drawing/2014/main" id="{149A7B59-49A4-7A1C-0D89-303254733A1C}"/>
              </a:ext>
            </a:extLst>
          </p:cNvPr>
          <p:cNvSpPr txBox="1"/>
          <p:nvPr/>
        </p:nvSpPr>
        <p:spPr>
          <a:xfrm>
            <a:off x="905091" y="1320648"/>
            <a:ext cx="6044792" cy="11587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ct val="0"/>
              </a:spcBef>
            </a:pPr>
            <a:r>
              <a:rPr lang="en-US" sz="2400">
                <a:solidFill>
                  <a:srgbClr val="44546A"/>
                </a:solidFill>
                <a:latin typeface="Times New Roman"/>
                <a:ea typeface="Calibri Light"/>
                <a:cs typeface="Times New Roman"/>
              </a:rPr>
              <a:t>Modes of Operation</a:t>
            </a:r>
            <a:endParaRPr lang="en-US">
              <a:solidFill>
                <a:srgbClr val="44546A"/>
              </a:solidFill>
              <a:latin typeface="Times New Roman"/>
              <a:cs typeface="Times New Roman"/>
            </a:endParaRPr>
          </a:p>
          <a:p>
            <a:pPr>
              <a:lnSpc>
                <a:spcPct val="90000"/>
              </a:lnSpc>
              <a:spcBef>
                <a:spcPct val="0"/>
              </a:spcBef>
            </a:pPr>
            <a:endParaRPr lang="en-US" sz="3300" dirty="0">
              <a:solidFill>
                <a:srgbClr val="44546A"/>
              </a:solidFill>
              <a:latin typeface="Times New Roman"/>
              <a:cs typeface="Times New Roman"/>
            </a:endParaRPr>
          </a:p>
          <a:p>
            <a:pPr algn="l"/>
            <a:endParaRPr lang="en-US" dirty="0">
              <a:solidFill>
                <a:srgbClr val="44546A"/>
              </a:solidFill>
              <a:latin typeface="Times New Roman"/>
              <a:ea typeface="Calibri"/>
              <a:cs typeface="Times New Roman"/>
            </a:endParaRPr>
          </a:p>
        </p:txBody>
      </p:sp>
    </p:spTree>
    <p:extLst>
      <p:ext uri="{BB962C8B-B14F-4D97-AF65-F5344CB8AC3E}">
        <p14:creationId xmlns:p14="http://schemas.microsoft.com/office/powerpoint/2010/main" val="752523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D4503F-645B-29FC-024A-50298B01BDAE}"/>
            </a:ext>
          </a:extLst>
        </p:cNvPr>
        <p:cNvGrpSpPr/>
        <p:nvPr/>
      </p:nvGrpSpPr>
      <p:grpSpPr>
        <a:xfrm>
          <a:off x="0" y="0"/>
          <a:ext cx="0" cy="0"/>
          <a:chOff x="0" y="0"/>
          <a:chExt cx="0" cy="0"/>
        </a:xfrm>
      </p:grpSpPr>
      <p:sp>
        <p:nvSpPr>
          <p:cNvPr id="61" name="Rectangle 60">
            <a:extLst>
              <a:ext uri="{FF2B5EF4-FFF2-40B4-BE49-F238E27FC236}">
                <a16:creationId xmlns:a16="http://schemas.microsoft.com/office/drawing/2014/main" id="{95B6E235-3115-F822-2991-3ACD8F5B72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useBgFill="1">
        <p:nvSpPr>
          <p:cNvPr id="60" name="Rectangle 59">
            <a:extLst>
              <a:ext uri="{FF2B5EF4-FFF2-40B4-BE49-F238E27FC236}">
                <a16:creationId xmlns:a16="http://schemas.microsoft.com/office/drawing/2014/main" id="{88AFC9ED-EE50-6849-A0E3-CB3DFC37E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36F56D-41A6-57B1-4749-4CD340B311CA}"/>
              </a:ext>
            </a:extLst>
          </p:cNvPr>
          <p:cNvSpPr>
            <a:spLocks noGrp="1"/>
          </p:cNvSpPr>
          <p:nvPr>
            <p:ph type="title"/>
          </p:nvPr>
        </p:nvSpPr>
        <p:spPr>
          <a:xfrm>
            <a:off x="897558" y="-2970"/>
            <a:ext cx="9833548" cy="1066802"/>
          </a:xfrm>
        </p:spPr>
        <p:txBody>
          <a:bodyPr anchor="b">
            <a:normAutofit/>
          </a:bodyPr>
          <a:lstStyle/>
          <a:p>
            <a:r>
              <a:rPr lang="en-US">
                <a:solidFill>
                  <a:srgbClr val="44546A"/>
                </a:solidFill>
                <a:latin typeface="Times New Roman"/>
                <a:ea typeface="Calibri Light"/>
                <a:cs typeface="Times New Roman"/>
              </a:rPr>
              <a:t>System Design</a:t>
            </a:r>
            <a:endParaRPr lang="en-US">
              <a:solidFill>
                <a:srgbClr val="44546A"/>
              </a:solidFill>
              <a:latin typeface="Times New Roman"/>
              <a:cs typeface="Times New Roman"/>
            </a:endParaRPr>
          </a:p>
        </p:txBody>
      </p:sp>
      <p:grpSp>
        <p:nvGrpSpPr>
          <p:cNvPr id="62" name="Group 61">
            <a:extLst>
              <a:ext uri="{FF2B5EF4-FFF2-40B4-BE49-F238E27FC236}">
                <a16:creationId xmlns:a16="http://schemas.microsoft.com/office/drawing/2014/main" id="{973AA1E0-0C76-C681-8877-B1FA7F5D74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6" name="Freeform: Shape 15">
              <a:extLst>
                <a:ext uri="{FF2B5EF4-FFF2-40B4-BE49-F238E27FC236}">
                  <a16:creationId xmlns:a16="http://schemas.microsoft.com/office/drawing/2014/main" id="{8A00A635-1867-B339-F50E-55F5B68B2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63" name="Freeform: Shape 62">
              <a:extLst>
                <a:ext uri="{FF2B5EF4-FFF2-40B4-BE49-F238E27FC236}">
                  <a16:creationId xmlns:a16="http://schemas.microsoft.com/office/drawing/2014/main" id="{A1068CFA-8532-5703-7EA5-62B05EE23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8" name="Freeform: Shape 17">
              <a:extLst>
                <a:ext uri="{FF2B5EF4-FFF2-40B4-BE49-F238E27FC236}">
                  <a16:creationId xmlns:a16="http://schemas.microsoft.com/office/drawing/2014/main" id="{F746030F-8993-6AD2-1946-3BA75DD21B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9" name="Freeform: Shape 18">
              <a:extLst>
                <a:ext uri="{FF2B5EF4-FFF2-40B4-BE49-F238E27FC236}">
                  <a16:creationId xmlns:a16="http://schemas.microsoft.com/office/drawing/2014/main" id="{73FE681A-2B15-0269-CD98-8596E563F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grpSp>
      <p:sp>
        <p:nvSpPr>
          <p:cNvPr id="3" name="Content Placeholder 2">
            <a:extLst>
              <a:ext uri="{FF2B5EF4-FFF2-40B4-BE49-F238E27FC236}">
                <a16:creationId xmlns:a16="http://schemas.microsoft.com/office/drawing/2014/main" id="{45379857-A48B-7E70-B621-C7CAE1B93720}"/>
              </a:ext>
            </a:extLst>
          </p:cNvPr>
          <p:cNvSpPr>
            <a:spLocks noGrp="1"/>
          </p:cNvSpPr>
          <p:nvPr>
            <p:ph idx="1"/>
          </p:nvPr>
        </p:nvSpPr>
        <p:spPr>
          <a:xfrm>
            <a:off x="907083" y="943170"/>
            <a:ext cx="9833548" cy="5862943"/>
          </a:xfrm>
        </p:spPr>
        <p:txBody>
          <a:bodyPr vert="horz" lIns="91440" tIns="45720" rIns="91440" bIns="45720" rtlCol="0" anchor="ctr">
            <a:noAutofit/>
          </a:bodyPr>
          <a:lstStyle/>
          <a:p>
            <a:pPr marL="0" indent="0">
              <a:buNone/>
            </a:pPr>
            <a:endParaRPr lang="en-US" sz="1800" dirty="0">
              <a:solidFill>
                <a:srgbClr val="44546A"/>
              </a:solidFill>
              <a:latin typeface="Times New Roman"/>
              <a:ea typeface="+mn-lt"/>
              <a:cs typeface="Times New Roman"/>
            </a:endParaRPr>
          </a:p>
          <a:p>
            <a:pPr>
              <a:lnSpc>
                <a:spcPct val="100000"/>
              </a:lnSpc>
              <a:spcBef>
                <a:spcPts val="0"/>
              </a:spcBef>
              <a:buFont typeface="Arial"/>
              <a:buChar char="•"/>
            </a:pPr>
            <a:endParaRPr lang="en-US" sz="1800" dirty="0">
              <a:solidFill>
                <a:srgbClr val="44546A"/>
              </a:solidFill>
              <a:latin typeface="Times New Roman"/>
              <a:ea typeface="Calibri"/>
              <a:cs typeface="Times New Roman"/>
            </a:endParaRPr>
          </a:p>
          <a:p>
            <a:endParaRPr lang="en-US" sz="1000">
              <a:solidFill>
                <a:srgbClr val="44546A"/>
              </a:solidFill>
              <a:latin typeface="Times New Roman"/>
              <a:ea typeface="Calibri"/>
              <a:cs typeface="Times New Roman"/>
            </a:endParaRPr>
          </a:p>
          <a:p>
            <a:pPr marL="0" indent="0">
              <a:buNone/>
            </a:pPr>
            <a:endParaRPr lang="en-US" sz="1000">
              <a:solidFill>
                <a:srgbClr val="44546A"/>
              </a:solidFill>
              <a:latin typeface="Times New Roman"/>
              <a:cs typeface="Times New Roman"/>
            </a:endParaRPr>
          </a:p>
          <a:p>
            <a:endParaRPr lang="en-US" sz="1000">
              <a:solidFill>
                <a:srgbClr val="44546A"/>
              </a:solidFill>
              <a:latin typeface="Times New Roman"/>
              <a:cs typeface="Times New Roman"/>
            </a:endParaRPr>
          </a:p>
        </p:txBody>
      </p:sp>
      <p:sp>
        <p:nvSpPr>
          <p:cNvPr id="6" name="Slide Number Placeholder 5">
            <a:extLst>
              <a:ext uri="{FF2B5EF4-FFF2-40B4-BE49-F238E27FC236}">
                <a16:creationId xmlns:a16="http://schemas.microsoft.com/office/drawing/2014/main" id="{47471F97-D464-B4A7-F0F0-4FE6673941A2}"/>
              </a:ext>
            </a:extLst>
          </p:cNvPr>
          <p:cNvSpPr>
            <a:spLocks noGrp="1"/>
          </p:cNvSpPr>
          <p:nvPr>
            <p:ph type="sldNum" sz="quarter" idx="12"/>
          </p:nvPr>
        </p:nvSpPr>
        <p:spPr>
          <a:xfrm>
            <a:off x="8610600" y="6356350"/>
            <a:ext cx="2743200" cy="365125"/>
          </a:xfrm>
        </p:spPr>
        <p:txBody>
          <a:bodyPr>
            <a:normAutofit/>
          </a:bodyPr>
          <a:lstStyle/>
          <a:p>
            <a:pPr>
              <a:spcAft>
                <a:spcPts val="600"/>
              </a:spcAft>
            </a:pPr>
            <a:fld id="{A65A5C87-DF58-40C8-B092-1DE63DB4547E}" type="slidenum">
              <a:rPr lang="en-US" dirty="0">
                <a:solidFill>
                  <a:srgbClr val="44546A"/>
                </a:solidFill>
                <a:latin typeface="Times New Roman"/>
                <a:cs typeface="Times New Roman"/>
              </a:rPr>
              <a:pPr>
                <a:spcAft>
                  <a:spcPts val="600"/>
                </a:spcAft>
              </a:pPr>
              <a:t>7</a:t>
            </a:fld>
            <a:endParaRPr lang="en-US">
              <a:solidFill>
                <a:srgbClr val="44546A"/>
              </a:solidFill>
              <a:latin typeface="Times New Roman"/>
              <a:cs typeface="Times New Roman"/>
            </a:endParaRPr>
          </a:p>
        </p:txBody>
      </p:sp>
      <p:sp>
        <p:nvSpPr>
          <p:cNvPr id="4" name="Date Placeholder 3">
            <a:extLst>
              <a:ext uri="{FF2B5EF4-FFF2-40B4-BE49-F238E27FC236}">
                <a16:creationId xmlns:a16="http://schemas.microsoft.com/office/drawing/2014/main" id="{BD03A71D-09A3-8CE9-8F12-F1EF30BD60B1}"/>
              </a:ext>
            </a:extLst>
          </p:cNvPr>
          <p:cNvSpPr>
            <a:spLocks noGrp="1"/>
          </p:cNvSpPr>
          <p:nvPr>
            <p:ph type="dt" sz="half" idx="10"/>
          </p:nvPr>
        </p:nvSpPr>
        <p:spPr>
          <a:xfrm>
            <a:off x="804672" y="6356350"/>
            <a:ext cx="2743200" cy="365125"/>
          </a:xfrm>
        </p:spPr>
        <p:txBody>
          <a:bodyPr>
            <a:normAutofit/>
          </a:bodyPr>
          <a:lstStyle/>
          <a:p>
            <a:pPr>
              <a:spcAft>
                <a:spcPts val="600"/>
              </a:spcAft>
            </a:pPr>
            <a:fld id="{347B3B64-E82E-4B4A-9E04-97E41708B91C}" type="datetime1">
              <a:rPr lang="en-US"/>
              <a:pPr>
                <a:spcAft>
                  <a:spcPts val="600"/>
                </a:spcAft>
              </a:pPr>
              <a:t>3/31/2025</a:t>
            </a:fld>
            <a:endParaRPr lang="en-US"/>
          </a:p>
        </p:txBody>
      </p:sp>
      <p:sp>
        <p:nvSpPr>
          <p:cNvPr id="10" name="TextBox 9">
            <a:extLst>
              <a:ext uri="{FF2B5EF4-FFF2-40B4-BE49-F238E27FC236}">
                <a16:creationId xmlns:a16="http://schemas.microsoft.com/office/drawing/2014/main" id="{7A3B3938-562B-1A32-2556-6B933DA5FE86}"/>
              </a:ext>
            </a:extLst>
          </p:cNvPr>
          <p:cNvSpPr txBox="1"/>
          <p:nvPr/>
        </p:nvSpPr>
        <p:spPr>
          <a:xfrm>
            <a:off x="905091" y="1320648"/>
            <a:ext cx="6044792" cy="15281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44546A"/>
                </a:solidFill>
                <a:latin typeface="Times New Roman"/>
                <a:ea typeface="Calibri Light"/>
                <a:cs typeface="Times New Roman"/>
              </a:rPr>
              <a:t>Application Flow Diagram</a:t>
            </a:r>
          </a:p>
          <a:p>
            <a:pPr>
              <a:lnSpc>
                <a:spcPct val="90000"/>
              </a:lnSpc>
              <a:spcBef>
                <a:spcPct val="0"/>
              </a:spcBef>
            </a:pPr>
            <a:endParaRPr lang="en-US" sz="2400" dirty="0">
              <a:solidFill>
                <a:srgbClr val="44546A"/>
              </a:solidFill>
              <a:latin typeface="Times New Roman"/>
              <a:ea typeface="Calibri Light"/>
              <a:cs typeface="Times New Roman"/>
            </a:endParaRPr>
          </a:p>
          <a:p>
            <a:pPr>
              <a:lnSpc>
                <a:spcPct val="90000"/>
              </a:lnSpc>
              <a:spcBef>
                <a:spcPct val="0"/>
              </a:spcBef>
            </a:pPr>
            <a:endParaRPr lang="en-US" sz="3300" dirty="0">
              <a:solidFill>
                <a:srgbClr val="44546A"/>
              </a:solidFill>
              <a:latin typeface="Times New Roman"/>
              <a:cs typeface="Times New Roman"/>
            </a:endParaRPr>
          </a:p>
          <a:p>
            <a:pPr algn="l"/>
            <a:endParaRPr lang="en-US" dirty="0">
              <a:solidFill>
                <a:srgbClr val="44546A"/>
              </a:solidFill>
              <a:latin typeface="Times New Roman"/>
              <a:ea typeface="Calibri"/>
              <a:cs typeface="Times New Roman"/>
            </a:endParaRPr>
          </a:p>
        </p:txBody>
      </p:sp>
      <p:pic>
        <p:nvPicPr>
          <p:cNvPr id="9" name="Picture 8">
            <a:extLst>
              <a:ext uri="{FF2B5EF4-FFF2-40B4-BE49-F238E27FC236}">
                <a16:creationId xmlns:a16="http://schemas.microsoft.com/office/drawing/2014/main" id="{417194E8-EE78-E2B5-5CAC-47C16310B709}"/>
              </a:ext>
            </a:extLst>
          </p:cNvPr>
          <p:cNvPicPr>
            <a:picLocks noChangeAspect="1"/>
          </p:cNvPicPr>
          <p:nvPr/>
        </p:nvPicPr>
        <p:blipFill>
          <a:blip r:embed="rId2"/>
          <a:stretch>
            <a:fillRect/>
          </a:stretch>
        </p:blipFill>
        <p:spPr>
          <a:xfrm>
            <a:off x="1041043" y="1716945"/>
            <a:ext cx="10603606" cy="3713886"/>
          </a:xfrm>
          <a:prstGeom prst="rect">
            <a:avLst/>
          </a:prstGeom>
        </p:spPr>
      </p:pic>
    </p:spTree>
    <p:extLst>
      <p:ext uri="{BB962C8B-B14F-4D97-AF65-F5344CB8AC3E}">
        <p14:creationId xmlns:p14="http://schemas.microsoft.com/office/powerpoint/2010/main" val="4068431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E9B930FD-8671-4C4C-ADCF-73AC1D0CD4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17" name="Freeform: Shape 16">
              <a:extLst>
                <a:ext uri="{FF2B5EF4-FFF2-40B4-BE49-F238E27FC236}">
                  <a16:creationId xmlns:a16="http://schemas.microsoft.com/office/drawing/2014/main" id="{C35B12C1-569C-4E37-AA33-7EF215F20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8" name="Freeform: Shape 17">
              <a:extLst>
                <a:ext uri="{FF2B5EF4-FFF2-40B4-BE49-F238E27FC236}">
                  <a16:creationId xmlns:a16="http://schemas.microsoft.com/office/drawing/2014/main" id="{F23E2660-7810-46F6-8752-187127C83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9" name="Freeform: Shape 18">
              <a:extLst>
                <a:ext uri="{FF2B5EF4-FFF2-40B4-BE49-F238E27FC236}">
                  <a16:creationId xmlns:a16="http://schemas.microsoft.com/office/drawing/2014/main" id="{C991DC45-0378-45B3-B325-FB8F98545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solidFill>
                  <a:srgbClr val="44546A"/>
                </a:solidFill>
                <a:latin typeface="Times New Roman"/>
                <a:cs typeface="Times New Roman"/>
              </a:endParaRPr>
            </a:p>
          </p:txBody>
        </p:sp>
        <p:sp>
          <p:nvSpPr>
            <p:cNvPr id="20" name="Freeform: Shape 19">
              <a:extLst>
                <a:ext uri="{FF2B5EF4-FFF2-40B4-BE49-F238E27FC236}">
                  <a16:creationId xmlns:a16="http://schemas.microsoft.com/office/drawing/2014/main" id="{E228F5BA-5150-4554-B7EA-93F371F3B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grpSp>
      <p:sp>
        <p:nvSpPr>
          <p:cNvPr id="4" name="Date Placeholder 3">
            <a:extLst>
              <a:ext uri="{FF2B5EF4-FFF2-40B4-BE49-F238E27FC236}">
                <a16:creationId xmlns:a16="http://schemas.microsoft.com/office/drawing/2014/main" id="{D2F5B620-2600-5C8B-3889-758FF39A30F2}"/>
              </a:ext>
            </a:extLst>
          </p:cNvPr>
          <p:cNvSpPr>
            <a:spLocks noGrp="1"/>
          </p:cNvSpPr>
          <p:nvPr>
            <p:ph type="dt" sz="half" idx="10"/>
          </p:nvPr>
        </p:nvSpPr>
        <p:spPr>
          <a:xfrm>
            <a:off x="804672" y="6356350"/>
            <a:ext cx="2743200" cy="365125"/>
          </a:xfrm>
        </p:spPr>
        <p:txBody>
          <a:bodyPr vert="horz" lIns="91440" tIns="45720" rIns="91440" bIns="45720" rtlCol="0" anchor="ctr">
            <a:normAutofit/>
          </a:bodyPr>
          <a:lstStyle/>
          <a:p>
            <a:pPr>
              <a:spcAft>
                <a:spcPts val="600"/>
              </a:spcAft>
            </a:pPr>
            <a:fld id="{22F31666-E5A2-49F1-A135-D16890EDB7A4}" type="datetime1">
              <a:rPr lang="en-US"/>
              <a:pPr>
                <a:spcAft>
                  <a:spcPts val="600"/>
                </a:spcAft>
              </a:pPr>
              <a:t>3/31/2025</a:t>
            </a:fld>
            <a:endParaRPr lang="en-US"/>
          </a:p>
        </p:txBody>
      </p:sp>
      <p:grpSp>
        <p:nvGrpSpPr>
          <p:cNvPr id="22" name="Group 21">
            <a:extLst>
              <a:ext uri="{FF2B5EF4-FFF2-40B4-BE49-F238E27FC236}">
                <a16:creationId xmlns:a16="http://schemas.microsoft.com/office/drawing/2014/main" id="{383C2651-AE0C-4AE4-8725-E2F9414FE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23" name="Freeform: Shape 22">
              <a:extLst>
                <a:ext uri="{FF2B5EF4-FFF2-40B4-BE49-F238E27FC236}">
                  <a16:creationId xmlns:a16="http://schemas.microsoft.com/office/drawing/2014/main" id="{CCE13265-B5D2-47B4-A199-E05F390D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24" name="Freeform: Shape 23">
              <a:extLst>
                <a:ext uri="{FF2B5EF4-FFF2-40B4-BE49-F238E27FC236}">
                  <a16:creationId xmlns:a16="http://schemas.microsoft.com/office/drawing/2014/main" id="{693EBD03-D832-462C-9304-7273698ED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sp>
          <p:nvSpPr>
            <p:cNvPr id="25" name="Freeform: Shape 24">
              <a:extLst>
                <a:ext uri="{FF2B5EF4-FFF2-40B4-BE49-F238E27FC236}">
                  <a16:creationId xmlns:a16="http://schemas.microsoft.com/office/drawing/2014/main" id="{0D53D3E2-805E-40D2-964F-352BF6D47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sp>
          <p:nvSpPr>
            <p:cNvPr id="26" name="Freeform: Shape 25">
              <a:extLst>
                <a:ext uri="{FF2B5EF4-FFF2-40B4-BE49-F238E27FC236}">
                  <a16:creationId xmlns:a16="http://schemas.microsoft.com/office/drawing/2014/main" id="{B7A9A916-A926-43E6-800F-432ABC3F2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grpSp>
      <p:sp>
        <p:nvSpPr>
          <p:cNvPr id="6" name="Slide Number Placeholder 5">
            <a:extLst>
              <a:ext uri="{FF2B5EF4-FFF2-40B4-BE49-F238E27FC236}">
                <a16:creationId xmlns:a16="http://schemas.microsoft.com/office/drawing/2014/main" id="{3F066E41-CA65-8BDD-1688-87B152D147B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A65A5C87-DF58-40C8-B092-1DE63DB4547E}" type="slidenum">
              <a:rPr lang="en-US" dirty="0">
                <a:solidFill>
                  <a:srgbClr val="44546A"/>
                </a:solidFill>
                <a:latin typeface="Times New Roman"/>
                <a:cs typeface="Times New Roman"/>
              </a:rPr>
              <a:pPr>
                <a:spcAft>
                  <a:spcPts val="600"/>
                </a:spcAft>
              </a:pPr>
              <a:t>8</a:t>
            </a:fld>
            <a:endParaRPr lang="en-US">
              <a:solidFill>
                <a:srgbClr val="44546A"/>
              </a:solidFill>
              <a:latin typeface="Times New Roman"/>
              <a:cs typeface="Times New Roman"/>
            </a:endParaRPr>
          </a:p>
        </p:txBody>
      </p:sp>
      <p:sp>
        <p:nvSpPr>
          <p:cNvPr id="11" name="TextBox 10">
            <a:extLst>
              <a:ext uri="{FF2B5EF4-FFF2-40B4-BE49-F238E27FC236}">
                <a16:creationId xmlns:a16="http://schemas.microsoft.com/office/drawing/2014/main" id="{A7C8B4E4-9F56-EB8B-5BB8-94A4A5221F96}"/>
              </a:ext>
            </a:extLst>
          </p:cNvPr>
          <p:cNvSpPr txBox="1"/>
          <p:nvPr/>
        </p:nvSpPr>
        <p:spPr>
          <a:xfrm>
            <a:off x="1002336" y="6314719"/>
            <a:ext cx="23165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solidFill>
                <a:srgbClr val="44546A"/>
              </a:solidFill>
              <a:latin typeface="Times New Roman"/>
              <a:cs typeface="Times New Roman"/>
            </a:endParaRPr>
          </a:p>
        </p:txBody>
      </p:sp>
      <p:sp>
        <p:nvSpPr>
          <p:cNvPr id="34" name="Title 1">
            <a:extLst>
              <a:ext uri="{FF2B5EF4-FFF2-40B4-BE49-F238E27FC236}">
                <a16:creationId xmlns:a16="http://schemas.microsoft.com/office/drawing/2014/main" id="{6D0F5FB7-868B-6BF3-B4E4-B0D66E401365}"/>
              </a:ext>
            </a:extLst>
          </p:cNvPr>
          <p:cNvSpPr>
            <a:spLocks noGrp="1"/>
          </p:cNvSpPr>
          <p:nvPr>
            <p:ph type="title"/>
          </p:nvPr>
        </p:nvSpPr>
        <p:spPr>
          <a:xfrm>
            <a:off x="766762" y="107380"/>
            <a:ext cx="10515600" cy="1325563"/>
          </a:xfrm>
        </p:spPr>
        <p:txBody>
          <a:bodyPr/>
          <a:lstStyle/>
          <a:p>
            <a:r>
              <a:rPr lang="en-US" sz="3600">
                <a:solidFill>
                  <a:srgbClr val="44546A"/>
                </a:solidFill>
                <a:latin typeface="Times New Roman"/>
                <a:cs typeface="Times New Roman"/>
              </a:rPr>
              <a:t>Mode – Compare Words/Phrases with </a:t>
            </a:r>
            <a:r>
              <a:rPr lang="en-US" sz="3600" dirty="0">
                <a:solidFill>
                  <a:srgbClr val="44546A"/>
                </a:solidFill>
                <a:latin typeface="Times New Roman"/>
                <a:cs typeface="Times New Roman"/>
              </a:rPr>
              <a:t>Words/Phrases</a:t>
            </a:r>
            <a:endParaRPr lang="en-US" dirty="0">
              <a:solidFill>
                <a:srgbClr val="44546A"/>
              </a:solidFill>
              <a:latin typeface="Times New Roman"/>
              <a:cs typeface="Times New Roman"/>
            </a:endParaRPr>
          </a:p>
        </p:txBody>
      </p:sp>
      <p:pic>
        <p:nvPicPr>
          <p:cNvPr id="50" name="Picture 49" descr="A screen shot of a black background&#10;&#10;AI-generated content may be incorrect.">
            <a:extLst>
              <a:ext uri="{FF2B5EF4-FFF2-40B4-BE49-F238E27FC236}">
                <a16:creationId xmlns:a16="http://schemas.microsoft.com/office/drawing/2014/main" id="{19C52A93-7039-BB7F-A68D-4B2049D2CED3}"/>
              </a:ext>
            </a:extLst>
          </p:cNvPr>
          <p:cNvPicPr>
            <a:picLocks noChangeAspect="1"/>
          </p:cNvPicPr>
          <p:nvPr/>
        </p:nvPicPr>
        <p:blipFill>
          <a:blip r:embed="rId2"/>
          <a:stretch>
            <a:fillRect/>
          </a:stretch>
        </p:blipFill>
        <p:spPr>
          <a:xfrm>
            <a:off x="4443210" y="1434599"/>
            <a:ext cx="7287298" cy="1714372"/>
          </a:xfrm>
          <a:prstGeom prst="rect">
            <a:avLst/>
          </a:prstGeom>
        </p:spPr>
      </p:pic>
      <p:sp>
        <p:nvSpPr>
          <p:cNvPr id="51" name="TextBox 50">
            <a:extLst>
              <a:ext uri="{FF2B5EF4-FFF2-40B4-BE49-F238E27FC236}">
                <a16:creationId xmlns:a16="http://schemas.microsoft.com/office/drawing/2014/main" id="{A602A33C-A708-05EF-6E21-E8D8B1560BCC}"/>
              </a:ext>
            </a:extLst>
          </p:cNvPr>
          <p:cNvSpPr txBox="1"/>
          <p:nvPr/>
        </p:nvSpPr>
        <p:spPr>
          <a:xfrm>
            <a:off x="767126" y="1441816"/>
            <a:ext cx="310394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44546A"/>
                </a:solidFill>
                <a:latin typeface="Times New Roman"/>
                <a:ea typeface="Calibri"/>
                <a:cs typeface="Times New Roman"/>
              </a:rPr>
              <a:t>This mode can be used to analyse seemantic relationships between words/phrases and to classify them into </a:t>
            </a:r>
            <a:r>
              <a:rPr lang="en-US">
                <a:solidFill>
                  <a:srgbClr val="44546A"/>
                </a:solidFill>
                <a:latin typeface="Times New Roman"/>
                <a:ea typeface="Calibri"/>
                <a:cs typeface="Times New Roman"/>
              </a:rPr>
              <a:t>specific domains</a:t>
            </a:r>
          </a:p>
        </p:txBody>
      </p:sp>
      <p:pic>
        <p:nvPicPr>
          <p:cNvPr id="52" name="Picture 51" descr="A graph of different colored bars&#10;&#10;AI-generated content may be incorrect.">
            <a:extLst>
              <a:ext uri="{FF2B5EF4-FFF2-40B4-BE49-F238E27FC236}">
                <a16:creationId xmlns:a16="http://schemas.microsoft.com/office/drawing/2014/main" id="{B8A87D63-D19D-4922-C5D0-FC9BF4272428}"/>
              </a:ext>
            </a:extLst>
          </p:cNvPr>
          <p:cNvPicPr>
            <a:picLocks noChangeAspect="1"/>
          </p:cNvPicPr>
          <p:nvPr/>
        </p:nvPicPr>
        <p:blipFill>
          <a:blip r:embed="rId3"/>
          <a:stretch>
            <a:fillRect/>
          </a:stretch>
        </p:blipFill>
        <p:spPr>
          <a:xfrm>
            <a:off x="4335886" y="3833075"/>
            <a:ext cx="7394621" cy="2219626"/>
          </a:xfrm>
          <a:prstGeom prst="rect">
            <a:avLst/>
          </a:prstGeom>
          <a:ln>
            <a:noFill/>
          </a:ln>
        </p:spPr>
      </p:pic>
      <p:pic>
        <p:nvPicPr>
          <p:cNvPr id="53" name="Picture 52" descr="A table of numbers and symbols&#10;&#10;AI-generated content may be incorrect.">
            <a:extLst>
              <a:ext uri="{FF2B5EF4-FFF2-40B4-BE49-F238E27FC236}">
                <a16:creationId xmlns:a16="http://schemas.microsoft.com/office/drawing/2014/main" id="{DACA4352-0626-4527-A834-0BBC7FE3E91F}"/>
              </a:ext>
            </a:extLst>
          </p:cNvPr>
          <p:cNvPicPr>
            <a:picLocks noChangeAspect="1"/>
          </p:cNvPicPr>
          <p:nvPr/>
        </p:nvPicPr>
        <p:blipFill>
          <a:blip r:embed="rId4"/>
          <a:stretch>
            <a:fillRect/>
          </a:stretch>
        </p:blipFill>
        <p:spPr>
          <a:xfrm>
            <a:off x="761998" y="3314700"/>
            <a:ext cx="2964658" cy="2526508"/>
          </a:xfrm>
          <a:prstGeom prst="rect">
            <a:avLst/>
          </a:prstGeom>
        </p:spPr>
      </p:pic>
      <p:sp>
        <p:nvSpPr>
          <p:cNvPr id="54" name="TextBox 53">
            <a:extLst>
              <a:ext uri="{FF2B5EF4-FFF2-40B4-BE49-F238E27FC236}">
                <a16:creationId xmlns:a16="http://schemas.microsoft.com/office/drawing/2014/main" id="{33592174-14D1-FE98-85CC-EA16AB3B7A3E}"/>
              </a:ext>
            </a:extLst>
          </p:cNvPr>
          <p:cNvSpPr txBox="1"/>
          <p:nvPr/>
        </p:nvSpPr>
        <p:spPr>
          <a:xfrm>
            <a:off x="4334235" y="5899554"/>
            <a:ext cx="476728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44546A"/>
                </a:solidFill>
                <a:latin typeface="Times New Roman"/>
                <a:ea typeface="Calibri"/>
                <a:cs typeface="Times New Roman"/>
              </a:rPr>
              <a:t>Output visualization</a:t>
            </a:r>
            <a:endParaRPr lang="en-US" dirty="0">
              <a:solidFill>
                <a:srgbClr val="44546A"/>
              </a:solidFill>
              <a:latin typeface="Times New Roman"/>
              <a:ea typeface="Calibri"/>
              <a:cs typeface="Times New Roman"/>
            </a:endParaRPr>
          </a:p>
          <a:p>
            <a:endParaRPr lang="en-US" dirty="0">
              <a:solidFill>
                <a:srgbClr val="44546A"/>
              </a:solidFill>
              <a:latin typeface="Times New Roman"/>
              <a:ea typeface="Calibri"/>
              <a:cs typeface="Times New Roman"/>
            </a:endParaRPr>
          </a:p>
        </p:txBody>
      </p:sp>
      <p:sp>
        <p:nvSpPr>
          <p:cNvPr id="55" name="TextBox 54">
            <a:extLst>
              <a:ext uri="{FF2B5EF4-FFF2-40B4-BE49-F238E27FC236}">
                <a16:creationId xmlns:a16="http://schemas.microsoft.com/office/drawing/2014/main" id="{285CF18E-C41A-2628-EA20-8D48350DB242}"/>
              </a:ext>
            </a:extLst>
          </p:cNvPr>
          <p:cNvSpPr txBox="1"/>
          <p:nvPr/>
        </p:nvSpPr>
        <p:spPr>
          <a:xfrm>
            <a:off x="4331291" y="3248391"/>
            <a:ext cx="76058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44546A"/>
                </a:solidFill>
                <a:latin typeface="Times New Roman"/>
                <a:ea typeface="Calibri"/>
                <a:cs typeface="Times New Roman"/>
              </a:rPr>
              <a:t>Computation of semantic similarity between words and phrases</a:t>
            </a:r>
            <a:endParaRPr lang="en-US">
              <a:solidFill>
                <a:srgbClr val="44546A"/>
              </a:solidFill>
              <a:latin typeface="Times New Roman"/>
              <a:cs typeface="Times New Roman"/>
            </a:endParaRPr>
          </a:p>
        </p:txBody>
      </p:sp>
      <p:sp>
        <p:nvSpPr>
          <p:cNvPr id="56" name="TextBox 55">
            <a:extLst>
              <a:ext uri="{FF2B5EF4-FFF2-40B4-BE49-F238E27FC236}">
                <a16:creationId xmlns:a16="http://schemas.microsoft.com/office/drawing/2014/main" id="{42B07BD9-17B2-3125-996F-6E61981C3627}"/>
              </a:ext>
            </a:extLst>
          </p:cNvPr>
          <p:cNvSpPr txBox="1"/>
          <p:nvPr/>
        </p:nvSpPr>
        <p:spPr>
          <a:xfrm>
            <a:off x="761790" y="5856461"/>
            <a:ext cx="311000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44546A"/>
                </a:solidFill>
                <a:latin typeface="Times New Roman"/>
                <a:ea typeface="Calibri"/>
                <a:cs typeface="Times New Roman"/>
              </a:rPr>
              <a:t>Output CSV from application</a:t>
            </a:r>
            <a:endParaRPr lang="en-US">
              <a:solidFill>
                <a:srgbClr val="44546A"/>
              </a:solidFill>
              <a:latin typeface="Times New Roman"/>
              <a:cs typeface="Times New Roman"/>
            </a:endParaRPr>
          </a:p>
        </p:txBody>
      </p:sp>
    </p:spTree>
    <p:extLst>
      <p:ext uri="{BB962C8B-B14F-4D97-AF65-F5344CB8AC3E}">
        <p14:creationId xmlns:p14="http://schemas.microsoft.com/office/powerpoint/2010/main" val="3326595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4D48BB-F8A7-0402-69E7-24CADAF231FD}"/>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3568368F-070F-8728-5E86-6FCA0D08C9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17" name="Freeform: Shape 16">
              <a:extLst>
                <a:ext uri="{FF2B5EF4-FFF2-40B4-BE49-F238E27FC236}">
                  <a16:creationId xmlns:a16="http://schemas.microsoft.com/office/drawing/2014/main" id="{4F1E74BE-13F7-EB76-0F24-84E6903BF2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8" name="Freeform: Shape 17">
              <a:extLst>
                <a:ext uri="{FF2B5EF4-FFF2-40B4-BE49-F238E27FC236}">
                  <a16:creationId xmlns:a16="http://schemas.microsoft.com/office/drawing/2014/main" id="{88B9AE5A-5909-9D28-6D11-DAC003DC45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9" name="Freeform: Shape 18">
              <a:extLst>
                <a:ext uri="{FF2B5EF4-FFF2-40B4-BE49-F238E27FC236}">
                  <a16:creationId xmlns:a16="http://schemas.microsoft.com/office/drawing/2014/main" id="{7A35C33E-41DA-C270-78F4-AFA03B3631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solidFill>
                  <a:srgbClr val="44546A"/>
                </a:solidFill>
                <a:latin typeface="Times New Roman"/>
                <a:cs typeface="Times New Roman"/>
              </a:endParaRPr>
            </a:p>
          </p:txBody>
        </p:sp>
        <p:sp>
          <p:nvSpPr>
            <p:cNvPr id="20" name="Freeform: Shape 19">
              <a:extLst>
                <a:ext uri="{FF2B5EF4-FFF2-40B4-BE49-F238E27FC236}">
                  <a16:creationId xmlns:a16="http://schemas.microsoft.com/office/drawing/2014/main" id="{75E325C5-DFD3-FA51-079F-6126BBB5A8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grpSp>
      <p:sp>
        <p:nvSpPr>
          <p:cNvPr id="4" name="Date Placeholder 3">
            <a:extLst>
              <a:ext uri="{FF2B5EF4-FFF2-40B4-BE49-F238E27FC236}">
                <a16:creationId xmlns:a16="http://schemas.microsoft.com/office/drawing/2014/main" id="{F86431CA-6314-1B4C-CF1E-744746F6E26B}"/>
              </a:ext>
            </a:extLst>
          </p:cNvPr>
          <p:cNvSpPr>
            <a:spLocks noGrp="1"/>
          </p:cNvSpPr>
          <p:nvPr>
            <p:ph type="dt" sz="half" idx="10"/>
          </p:nvPr>
        </p:nvSpPr>
        <p:spPr>
          <a:xfrm>
            <a:off x="804672" y="6356350"/>
            <a:ext cx="2743200" cy="365125"/>
          </a:xfrm>
        </p:spPr>
        <p:txBody>
          <a:bodyPr vert="horz" lIns="91440" tIns="45720" rIns="91440" bIns="45720" rtlCol="0" anchor="ctr">
            <a:normAutofit/>
          </a:bodyPr>
          <a:lstStyle/>
          <a:p>
            <a:pPr>
              <a:spcAft>
                <a:spcPts val="600"/>
              </a:spcAft>
            </a:pPr>
            <a:fld id="{22F31666-E5A2-49F1-A135-D16890EDB7A4}" type="datetime1">
              <a:rPr lang="en-US"/>
              <a:pPr>
                <a:spcAft>
                  <a:spcPts val="600"/>
                </a:spcAft>
              </a:pPr>
              <a:t>3/31/2025</a:t>
            </a:fld>
            <a:endParaRPr lang="en-US"/>
          </a:p>
        </p:txBody>
      </p:sp>
      <p:grpSp>
        <p:nvGrpSpPr>
          <p:cNvPr id="22" name="Group 21">
            <a:extLst>
              <a:ext uri="{FF2B5EF4-FFF2-40B4-BE49-F238E27FC236}">
                <a16:creationId xmlns:a16="http://schemas.microsoft.com/office/drawing/2014/main" id="{3C7EF74E-8C93-3220-7177-8663180B9A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23" name="Freeform: Shape 22">
              <a:extLst>
                <a:ext uri="{FF2B5EF4-FFF2-40B4-BE49-F238E27FC236}">
                  <a16:creationId xmlns:a16="http://schemas.microsoft.com/office/drawing/2014/main" id="{E4068102-774E-6517-CF31-FD8E03F3B7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24" name="Freeform: Shape 23">
              <a:extLst>
                <a:ext uri="{FF2B5EF4-FFF2-40B4-BE49-F238E27FC236}">
                  <a16:creationId xmlns:a16="http://schemas.microsoft.com/office/drawing/2014/main" id="{356457AF-AACC-2470-4F33-B8BB2509E6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sp>
          <p:nvSpPr>
            <p:cNvPr id="25" name="Freeform: Shape 24">
              <a:extLst>
                <a:ext uri="{FF2B5EF4-FFF2-40B4-BE49-F238E27FC236}">
                  <a16:creationId xmlns:a16="http://schemas.microsoft.com/office/drawing/2014/main" id="{320EA580-2ACE-B0C9-57DF-9846480560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sp>
          <p:nvSpPr>
            <p:cNvPr id="26" name="Freeform: Shape 25">
              <a:extLst>
                <a:ext uri="{FF2B5EF4-FFF2-40B4-BE49-F238E27FC236}">
                  <a16:creationId xmlns:a16="http://schemas.microsoft.com/office/drawing/2014/main" id="{B965C6A6-175D-BD37-4702-F727B885A4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grpSp>
      <p:sp>
        <p:nvSpPr>
          <p:cNvPr id="6" name="Slide Number Placeholder 5">
            <a:extLst>
              <a:ext uri="{FF2B5EF4-FFF2-40B4-BE49-F238E27FC236}">
                <a16:creationId xmlns:a16="http://schemas.microsoft.com/office/drawing/2014/main" id="{0BFB81E9-2FEF-0E73-9170-254F46E1939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A65A5C87-DF58-40C8-B092-1DE63DB4547E}" type="slidenum">
              <a:rPr lang="en-US" dirty="0">
                <a:solidFill>
                  <a:srgbClr val="44546A"/>
                </a:solidFill>
                <a:latin typeface="Times New Roman"/>
                <a:cs typeface="Times New Roman"/>
              </a:rPr>
              <a:pPr>
                <a:spcAft>
                  <a:spcPts val="600"/>
                </a:spcAft>
              </a:pPr>
              <a:t>9</a:t>
            </a:fld>
            <a:endParaRPr lang="en-US">
              <a:solidFill>
                <a:srgbClr val="44546A"/>
              </a:solidFill>
              <a:latin typeface="Times New Roman"/>
              <a:cs typeface="Times New Roman"/>
            </a:endParaRPr>
          </a:p>
        </p:txBody>
      </p:sp>
      <p:sp>
        <p:nvSpPr>
          <p:cNvPr id="11" name="TextBox 10">
            <a:extLst>
              <a:ext uri="{FF2B5EF4-FFF2-40B4-BE49-F238E27FC236}">
                <a16:creationId xmlns:a16="http://schemas.microsoft.com/office/drawing/2014/main" id="{2DDA6427-8E78-BB6B-FEC9-3062A3626EF4}"/>
              </a:ext>
            </a:extLst>
          </p:cNvPr>
          <p:cNvSpPr txBox="1"/>
          <p:nvPr/>
        </p:nvSpPr>
        <p:spPr>
          <a:xfrm>
            <a:off x="1002336" y="6314719"/>
            <a:ext cx="23165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solidFill>
                <a:srgbClr val="44546A"/>
              </a:solidFill>
              <a:latin typeface="Times New Roman"/>
              <a:cs typeface="Times New Roman"/>
            </a:endParaRPr>
          </a:p>
        </p:txBody>
      </p:sp>
      <p:sp>
        <p:nvSpPr>
          <p:cNvPr id="34" name="Title 1">
            <a:extLst>
              <a:ext uri="{FF2B5EF4-FFF2-40B4-BE49-F238E27FC236}">
                <a16:creationId xmlns:a16="http://schemas.microsoft.com/office/drawing/2014/main" id="{827505B9-EC27-4AC3-B088-2EF404AADC14}"/>
              </a:ext>
            </a:extLst>
          </p:cNvPr>
          <p:cNvSpPr>
            <a:spLocks noGrp="1"/>
          </p:cNvSpPr>
          <p:nvPr>
            <p:ph type="title"/>
          </p:nvPr>
        </p:nvSpPr>
        <p:spPr>
          <a:xfrm>
            <a:off x="838200" y="224"/>
            <a:ext cx="10515600" cy="1325563"/>
          </a:xfrm>
        </p:spPr>
        <p:txBody>
          <a:bodyPr/>
          <a:lstStyle/>
          <a:p>
            <a:r>
              <a:rPr lang="en-US" sz="3600">
                <a:solidFill>
                  <a:srgbClr val="44546A"/>
                </a:solidFill>
                <a:latin typeface="Times New Roman"/>
                <a:cs typeface="Times New Roman"/>
              </a:rPr>
              <a:t>Mode – Compare Documents with </a:t>
            </a:r>
            <a:r>
              <a:rPr lang="en-US" sz="3600" dirty="0">
                <a:solidFill>
                  <a:srgbClr val="44546A"/>
                </a:solidFill>
                <a:latin typeface="Times New Roman"/>
                <a:cs typeface="Times New Roman"/>
              </a:rPr>
              <a:t>Words/Phrases</a:t>
            </a:r>
            <a:endParaRPr lang="en-US" dirty="0">
              <a:solidFill>
                <a:srgbClr val="44546A"/>
              </a:solidFill>
              <a:latin typeface="Times New Roman"/>
              <a:cs typeface="Times New Roman"/>
            </a:endParaRPr>
          </a:p>
        </p:txBody>
      </p:sp>
      <p:sp>
        <p:nvSpPr>
          <p:cNvPr id="36" name="Content Placeholder 2">
            <a:extLst>
              <a:ext uri="{FF2B5EF4-FFF2-40B4-BE49-F238E27FC236}">
                <a16:creationId xmlns:a16="http://schemas.microsoft.com/office/drawing/2014/main" id="{105BB299-CFFD-22D3-E24C-E07C3EB70885}"/>
              </a:ext>
            </a:extLst>
          </p:cNvPr>
          <p:cNvSpPr>
            <a:spLocks noGrp="1"/>
          </p:cNvSpPr>
          <p:nvPr>
            <p:ph idx="1"/>
          </p:nvPr>
        </p:nvSpPr>
        <p:spPr>
          <a:xfrm>
            <a:off x="838200" y="977766"/>
            <a:ext cx="10515600" cy="4351338"/>
          </a:xfrm>
        </p:spPr>
        <p:txBody>
          <a:bodyPr vert="horz" lIns="91440" tIns="45720" rIns="91440" bIns="45720" rtlCol="0" anchor="t">
            <a:normAutofit/>
          </a:bodyPr>
          <a:lstStyle/>
          <a:p>
            <a:pPr marL="0" indent="0">
              <a:buNone/>
            </a:pPr>
            <a:r>
              <a:rPr lang="en-US" sz="1800">
                <a:solidFill>
                  <a:srgbClr val="44546A"/>
                </a:solidFill>
                <a:latin typeface="Times New Roman"/>
                <a:ea typeface="Calibri" panose="020F0502020204030204"/>
                <a:cs typeface="Times New Roman"/>
              </a:rPr>
              <a:t>Goal - Find the document which has the most relevant information about the word or phrase</a:t>
            </a:r>
            <a:endParaRPr lang="en-US" sz="1800" dirty="0">
              <a:solidFill>
                <a:srgbClr val="44546A"/>
              </a:solidFill>
              <a:latin typeface="Times New Roman"/>
              <a:ea typeface="Calibri" panose="020F0502020204030204"/>
              <a:cs typeface="Times New Roman"/>
            </a:endParaRPr>
          </a:p>
          <a:p>
            <a:pPr marL="0" indent="0">
              <a:buNone/>
            </a:pPr>
            <a:r>
              <a:rPr lang="en-US" sz="1800" dirty="0">
                <a:solidFill>
                  <a:srgbClr val="44546A"/>
                </a:solidFill>
                <a:latin typeface="Times New Roman"/>
                <a:ea typeface="Calibri" panose="020F0502020204030204"/>
                <a:cs typeface="Times New Roman"/>
              </a:rPr>
              <a:t>Direct Comparison between embedding of the word/phrase and the document doesnot give accurate information while searching for </a:t>
            </a:r>
            <a:r>
              <a:rPr lang="en-US" sz="1800">
                <a:solidFill>
                  <a:srgbClr val="44546A"/>
                </a:solidFill>
                <a:latin typeface="Times New Roman"/>
                <a:ea typeface="Calibri" panose="020F0502020204030204"/>
                <a:cs typeface="Times New Roman"/>
              </a:rPr>
              <a:t>smaller sections in a big document</a:t>
            </a:r>
          </a:p>
          <a:p>
            <a:pPr marL="0" indent="0">
              <a:buNone/>
            </a:pPr>
            <a:endParaRPr lang="en-US" sz="1800" dirty="0">
              <a:solidFill>
                <a:srgbClr val="44546A"/>
              </a:solidFill>
              <a:latin typeface="Times New Roman"/>
              <a:ea typeface="Calibri" panose="020F0502020204030204"/>
              <a:cs typeface="Times New Roman"/>
            </a:endParaRPr>
          </a:p>
          <a:p>
            <a:pPr marL="0" indent="0">
              <a:buNone/>
            </a:pPr>
            <a:endParaRPr lang="en-US" dirty="0">
              <a:solidFill>
                <a:srgbClr val="44546A"/>
              </a:solidFill>
              <a:latin typeface="Times New Roman"/>
              <a:ea typeface="Calibri" panose="020F0502020204030204"/>
              <a:cs typeface="Times New Roman"/>
            </a:endParaRPr>
          </a:p>
        </p:txBody>
      </p:sp>
      <p:graphicFrame>
        <p:nvGraphicFramePr>
          <p:cNvPr id="40" name="Chart 39">
            <a:extLst>
              <a:ext uri="{FF2B5EF4-FFF2-40B4-BE49-F238E27FC236}">
                <a16:creationId xmlns:a16="http://schemas.microsoft.com/office/drawing/2014/main" id="{7D864E7F-04F8-E611-BEE6-6090F7AE0315}"/>
              </a:ext>
              <a:ext uri="{147F2762-F138-4A5C-976F-8EAC2B608ADB}">
                <a16:predDERef xmlns:a16="http://schemas.microsoft.com/office/drawing/2014/main" pred="{385AF4F3-2C59-52F9-C94A-F97DDEA47F3E}"/>
              </a:ext>
            </a:extLst>
          </p:cNvPr>
          <p:cNvGraphicFramePr>
            <a:graphicFrameLocks/>
          </p:cNvGraphicFramePr>
          <p:nvPr>
            <p:extLst>
              <p:ext uri="{D42A27DB-BD31-4B8C-83A1-F6EECF244321}">
                <p14:modId xmlns:p14="http://schemas.microsoft.com/office/powerpoint/2010/main" val="4002530628"/>
              </p:ext>
            </p:extLst>
          </p:nvPr>
        </p:nvGraphicFramePr>
        <p:xfrm>
          <a:off x="6166432" y="2529022"/>
          <a:ext cx="4884313" cy="328344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2" name="Table 41">
            <a:extLst>
              <a:ext uri="{FF2B5EF4-FFF2-40B4-BE49-F238E27FC236}">
                <a16:creationId xmlns:a16="http://schemas.microsoft.com/office/drawing/2014/main" id="{9874C291-FEC7-0BD3-044F-002540C5B01C}"/>
              </a:ext>
            </a:extLst>
          </p:cNvPr>
          <p:cNvGraphicFramePr>
            <a:graphicFrameLocks noGrp="1"/>
          </p:cNvGraphicFramePr>
          <p:nvPr>
            <p:extLst>
              <p:ext uri="{D42A27DB-BD31-4B8C-83A1-F6EECF244321}">
                <p14:modId xmlns:p14="http://schemas.microsoft.com/office/powerpoint/2010/main" val="237841439"/>
              </p:ext>
            </p:extLst>
          </p:nvPr>
        </p:nvGraphicFramePr>
        <p:xfrm>
          <a:off x="931304" y="2048787"/>
          <a:ext cx="4019920" cy="3571875"/>
        </p:xfrm>
        <a:graphic>
          <a:graphicData uri="http://schemas.openxmlformats.org/drawingml/2006/table">
            <a:tbl>
              <a:tblPr bandRow="1">
                <a:tableStyleId>{5C22544A-7EE6-4342-B048-85BDC9FD1C3A}</a:tableStyleId>
              </a:tblPr>
              <a:tblGrid>
                <a:gridCol w="1255164">
                  <a:extLst>
                    <a:ext uri="{9D8B030D-6E8A-4147-A177-3AD203B41FA5}">
                      <a16:colId xmlns:a16="http://schemas.microsoft.com/office/drawing/2014/main" val="1150327781"/>
                    </a:ext>
                  </a:extLst>
                </a:gridCol>
                <a:gridCol w="2764756">
                  <a:extLst>
                    <a:ext uri="{9D8B030D-6E8A-4147-A177-3AD203B41FA5}">
                      <a16:colId xmlns:a16="http://schemas.microsoft.com/office/drawing/2014/main" val="3863733306"/>
                    </a:ext>
                  </a:extLst>
                </a:gridCol>
              </a:tblGrid>
              <a:tr h="121281">
                <a:tc>
                  <a:txBody>
                    <a:bodyPr/>
                    <a:lstStyle/>
                    <a:p>
                      <a:pPr algn="l" fontAlgn="ctr"/>
                      <a:r>
                        <a:rPr lang="en-US" sz="1100" b="0" i="0" u="none" strike="noStrike" dirty="0">
                          <a:solidFill>
                            <a:srgbClr val="000000"/>
                          </a:solidFill>
                          <a:effectLst/>
                          <a:latin typeface="Aptos Narrow"/>
                        </a:rPr>
                        <a:t>Inputs docs:</a:t>
                      </a:r>
                    </a:p>
                  </a:txBody>
                  <a:tcPr marL="9525" marR="9525" marT="9525" anchor="ctr">
                    <a:lnL>
                      <a:noFill/>
                    </a:lnL>
                    <a:lnR>
                      <a:noFill/>
                    </a:lnR>
                    <a:lnT>
                      <a:noFill/>
                    </a:lnT>
                    <a:lnB>
                      <a:noFill/>
                    </a:lnB>
                    <a:solidFill>
                      <a:srgbClr val="F2CEEF"/>
                    </a:solidFill>
                  </a:tcPr>
                </a:tc>
                <a:tc>
                  <a:txBody>
                    <a:bodyPr/>
                    <a:lstStyle/>
                    <a:p>
                      <a:pPr algn="l" fontAlgn="ctr"/>
                      <a:endParaRPr lang="en-US" sz="1100" b="0" i="0" u="none" strike="noStrike">
                        <a:solidFill>
                          <a:srgbClr val="000000"/>
                        </a:solidFill>
                        <a:effectLst/>
                        <a:latin typeface="Aptos Narrow" panose="020B0004020202020204" pitchFamily="34" charset="0"/>
                      </a:endParaRPr>
                    </a:p>
                  </a:txBody>
                  <a:tcPr marL="9525" marR="9525" marT="9525" anchor="ctr">
                    <a:lnL>
                      <a:noFill/>
                    </a:lnL>
                    <a:lnR>
                      <a:noFill/>
                    </a:lnR>
                    <a:lnT>
                      <a:noFill/>
                    </a:lnT>
                    <a:lnB>
                      <a:noFill/>
                    </a:lnB>
                    <a:noFill/>
                  </a:tcPr>
                </a:tc>
                <a:extLst>
                  <a:ext uri="{0D108BD9-81ED-4DB2-BD59-A6C34878D82A}">
                    <a16:rowId xmlns:a16="http://schemas.microsoft.com/office/drawing/2014/main" val="2544960639"/>
                  </a:ext>
                </a:extLst>
              </a:tr>
              <a:tr h="214026">
                <a:tc>
                  <a:txBody>
                    <a:bodyPr/>
                    <a:lstStyle/>
                    <a:p>
                      <a:pPr algn="l" fontAlgn="ctr"/>
                      <a:r>
                        <a:rPr lang="en-US" sz="1100" b="0" i="0" u="none" strike="noStrike">
                          <a:solidFill>
                            <a:srgbClr val="000000"/>
                          </a:solidFill>
                          <a:effectLst/>
                          <a:latin typeface="Aptos Narrow" panose="020B0004020202020204" pitchFamily="34" charset="0"/>
                        </a:rPr>
                        <a:t>1. Football(only about football)</a:t>
                      </a:r>
                    </a:p>
                  </a:txBody>
                  <a:tcPr marL="9525" marR="9525" marT="9525" anchor="ctr">
                    <a:lnL>
                      <a:noFill/>
                    </a:lnL>
                    <a:lnR>
                      <a:noFill/>
                    </a:lnR>
                    <a:lnT>
                      <a:noFill/>
                    </a:lnT>
                    <a:lnB>
                      <a:noFill/>
                    </a:lnB>
                    <a:solidFill>
                      <a:srgbClr val="F2CEEF"/>
                    </a:solidFill>
                  </a:tcPr>
                </a:tc>
                <a:tc>
                  <a:txBody>
                    <a:bodyPr/>
                    <a:lstStyle/>
                    <a:p>
                      <a:pPr algn="l" fontAlgn="ctr"/>
                      <a:r>
                        <a:rPr lang="en-US" sz="1100" b="0" i="0" u="none" strike="noStrike">
                          <a:solidFill>
                            <a:srgbClr val="000000"/>
                          </a:solidFill>
                          <a:effectLst/>
                          <a:latin typeface="Aptos Narrow" panose="020B0004020202020204" pitchFamily="34" charset="0"/>
                        </a:rPr>
                        <a:t>1000 word essay about football. </a:t>
                      </a:r>
                      <a:r>
                        <a:rPr lang="en-US" sz="1100" b="0" i="0" u="none" strike="noStrike">
                          <a:solidFill>
                            <a:srgbClr val="3C7D22"/>
                          </a:solidFill>
                          <a:effectLst/>
                          <a:latin typeface="Aptos Narrow" panose="020B0004020202020204" pitchFamily="34" charset="0"/>
                        </a:rPr>
                        <a:t>Highly relevant</a:t>
                      </a:r>
                      <a:endParaRPr lang="en-US" sz="1100" b="0" i="0" u="none" strike="noStrike">
                        <a:solidFill>
                          <a:srgbClr val="000000"/>
                        </a:solidFill>
                        <a:effectLst/>
                        <a:latin typeface="Aptos Narrow" panose="020B0004020202020204" pitchFamily="34" charset="0"/>
                      </a:endParaRPr>
                    </a:p>
                  </a:txBody>
                  <a:tcPr marL="9525" marR="9525" marT="9525" anchor="ctr">
                    <a:lnL>
                      <a:noFill/>
                    </a:lnL>
                    <a:lnR>
                      <a:noFill/>
                    </a:lnR>
                    <a:lnT>
                      <a:noFill/>
                    </a:lnT>
                    <a:lnB>
                      <a:noFill/>
                    </a:lnB>
                    <a:noFill/>
                  </a:tcPr>
                </a:tc>
                <a:extLst>
                  <a:ext uri="{0D108BD9-81ED-4DB2-BD59-A6C34878D82A}">
                    <a16:rowId xmlns:a16="http://schemas.microsoft.com/office/drawing/2014/main" val="3181717795"/>
                  </a:ext>
                </a:extLst>
              </a:tr>
              <a:tr h="756225">
                <a:tc>
                  <a:txBody>
                    <a:bodyPr/>
                    <a:lstStyle/>
                    <a:p>
                      <a:pPr algn="l" fontAlgn="ctr"/>
                      <a:r>
                        <a:rPr lang="en-US" sz="1100" b="0" i="0" u="none" strike="noStrike">
                          <a:solidFill>
                            <a:srgbClr val="000000"/>
                          </a:solidFill>
                          <a:effectLst/>
                          <a:latin typeface="Aptos Narrow" panose="020B0004020202020204" pitchFamily="34" charset="0"/>
                        </a:rPr>
                        <a:t>2.Global warming(1 whole para about football)</a:t>
                      </a:r>
                    </a:p>
                  </a:txBody>
                  <a:tcPr marL="9525" marR="9525" marT="9525" anchor="ctr">
                    <a:lnL>
                      <a:noFill/>
                    </a:lnL>
                    <a:lnR>
                      <a:noFill/>
                    </a:lnR>
                    <a:lnT>
                      <a:noFill/>
                    </a:lnT>
                    <a:lnB>
                      <a:noFill/>
                    </a:lnB>
                    <a:solidFill>
                      <a:srgbClr val="F2CEEF"/>
                    </a:solidFill>
                  </a:tcPr>
                </a:tc>
                <a:tc>
                  <a:txBody>
                    <a:bodyPr/>
                    <a:lstStyle/>
                    <a:p>
                      <a:pPr algn="l" fontAlgn="ctr"/>
                      <a:r>
                        <a:rPr lang="en-US" sz="1100" b="0" i="0" u="none" strike="noStrike">
                          <a:solidFill>
                            <a:srgbClr val="000000"/>
                          </a:solidFill>
                          <a:effectLst/>
                          <a:latin typeface="Aptos Narrow" panose="020B0004020202020204" pitchFamily="34" charset="0"/>
                        </a:rPr>
                        <a:t>1175 word essay with around </a:t>
                      </a:r>
                      <a:r>
                        <a:rPr lang="en-US" sz="1100" b="0" i="0" u="none" strike="noStrike">
                          <a:solidFill>
                            <a:srgbClr val="3C7D22"/>
                          </a:solidFill>
                          <a:effectLst/>
                          <a:latin typeface="Aptos Narrow" panose="020B0004020202020204" pitchFamily="34" charset="0"/>
                        </a:rPr>
                        <a:t>147 words useful information</a:t>
                      </a:r>
                      <a:r>
                        <a:rPr lang="en-US" sz="1100" b="0" i="0" u="none" strike="noStrike">
                          <a:solidFill>
                            <a:srgbClr val="000000"/>
                          </a:solidFill>
                          <a:effectLst/>
                          <a:latin typeface="Aptos Narrow" panose="020B0004020202020204" pitchFamily="34" charset="0"/>
                        </a:rPr>
                        <a:t> about football and rest about global warming. This simulates documents where relevant information is present but overall context is unmatching</a:t>
                      </a:r>
                    </a:p>
                  </a:txBody>
                  <a:tcPr marL="9525" marR="9525" marT="9525" anchor="ctr">
                    <a:lnL>
                      <a:noFill/>
                    </a:lnL>
                    <a:lnR>
                      <a:noFill/>
                    </a:lnR>
                    <a:lnT>
                      <a:noFill/>
                    </a:lnT>
                    <a:lnB>
                      <a:noFill/>
                    </a:lnB>
                    <a:noFill/>
                  </a:tcPr>
                </a:tc>
                <a:extLst>
                  <a:ext uri="{0D108BD9-81ED-4DB2-BD59-A6C34878D82A}">
                    <a16:rowId xmlns:a16="http://schemas.microsoft.com/office/drawing/2014/main" val="2189069480"/>
                  </a:ext>
                </a:extLst>
              </a:tr>
              <a:tr h="399516">
                <a:tc>
                  <a:txBody>
                    <a:bodyPr/>
                    <a:lstStyle/>
                    <a:p>
                      <a:pPr algn="l" fontAlgn="ctr"/>
                      <a:r>
                        <a:rPr lang="en-US" sz="1100" b="0" i="0" u="none" strike="noStrike">
                          <a:solidFill>
                            <a:srgbClr val="000000"/>
                          </a:solidFill>
                          <a:effectLst/>
                          <a:latin typeface="Aptos Narrow" panose="020B0004020202020204" pitchFamily="34" charset="0"/>
                        </a:rPr>
                        <a:t>3.Sports(2 mention of football)</a:t>
                      </a:r>
                    </a:p>
                  </a:txBody>
                  <a:tcPr marL="9525" marR="9525" marT="9525" anchor="ctr">
                    <a:lnL>
                      <a:noFill/>
                    </a:lnL>
                    <a:lnR>
                      <a:noFill/>
                    </a:lnR>
                    <a:lnT>
                      <a:noFill/>
                    </a:lnT>
                    <a:lnB>
                      <a:noFill/>
                    </a:lnB>
                    <a:solidFill>
                      <a:srgbClr val="F2CEEF"/>
                    </a:solidFill>
                  </a:tcPr>
                </a:tc>
                <a:tc>
                  <a:txBody>
                    <a:bodyPr/>
                    <a:lstStyle/>
                    <a:p>
                      <a:pPr algn="l" fontAlgn="ctr"/>
                      <a:r>
                        <a:rPr lang="en-US" sz="1100" b="0" i="0" u="none" strike="noStrike">
                          <a:solidFill>
                            <a:srgbClr val="000000"/>
                          </a:solidFill>
                          <a:effectLst/>
                          <a:latin typeface="Aptos Narrow"/>
                        </a:rPr>
                        <a:t>1000 word essay on sports. only </a:t>
                      </a:r>
                      <a:r>
                        <a:rPr lang="en-US" sz="1100" b="0" i="0" u="none" strike="noStrike" err="1">
                          <a:solidFill>
                            <a:srgbClr val="000000"/>
                          </a:solidFill>
                          <a:effectLst/>
                          <a:latin typeface="Aptos Narrow"/>
                        </a:rPr>
                        <a:t>contexual</a:t>
                      </a:r>
                      <a:r>
                        <a:rPr lang="en-US" sz="1100" b="0" i="0" u="none" strike="noStrike">
                          <a:solidFill>
                            <a:srgbClr val="000000"/>
                          </a:solidFill>
                          <a:effectLst/>
                          <a:latin typeface="Aptos Narrow"/>
                        </a:rPr>
                        <a:t> alignment  and </a:t>
                      </a:r>
                      <a:r>
                        <a:rPr lang="en-US" sz="1100" b="0" i="0" u="none" strike="noStrike" err="1">
                          <a:solidFill>
                            <a:srgbClr val="000000"/>
                          </a:solidFill>
                          <a:effectLst/>
                          <a:latin typeface="Aptos Narrow"/>
                        </a:rPr>
                        <a:t>metion</a:t>
                      </a:r>
                      <a:r>
                        <a:rPr lang="en-US" sz="1100" b="0" i="0" u="none" strike="noStrike">
                          <a:solidFill>
                            <a:srgbClr val="000000"/>
                          </a:solidFill>
                          <a:effectLst/>
                          <a:latin typeface="Aptos Narrow"/>
                        </a:rPr>
                        <a:t> of word football two times. </a:t>
                      </a:r>
                      <a:r>
                        <a:rPr lang="en-US" sz="1100" b="0" i="0" u="none" strike="noStrike">
                          <a:solidFill>
                            <a:srgbClr val="E87331"/>
                          </a:solidFill>
                          <a:effectLst/>
                          <a:latin typeface="Aptos Narrow"/>
                        </a:rPr>
                        <a:t>No useful information</a:t>
                      </a:r>
                      <a:r>
                        <a:rPr lang="en-US" sz="1100" b="0" i="0" u="none" strike="noStrike">
                          <a:solidFill>
                            <a:srgbClr val="000000"/>
                          </a:solidFill>
                          <a:effectLst/>
                          <a:latin typeface="Aptos Narrow"/>
                        </a:rPr>
                        <a:t> about football</a:t>
                      </a:r>
                    </a:p>
                  </a:txBody>
                  <a:tcPr marL="9525" marR="9525" marT="9525" anchor="ctr">
                    <a:lnL>
                      <a:noFill/>
                    </a:lnL>
                    <a:lnR>
                      <a:noFill/>
                    </a:lnR>
                    <a:lnT>
                      <a:noFill/>
                    </a:lnT>
                    <a:lnB>
                      <a:noFill/>
                    </a:lnB>
                    <a:noFill/>
                  </a:tcPr>
                </a:tc>
                <a:extLst>
                  <a:ext uri="{0D108BD9-81ED-4DB2-BD59-A6C34878D82A}">
                    <a16:rowId xmlns:a16="http://schemas.microsoft.com/office/drawing/2014/main" val="3731230699"/>
                  </a:ext>
                </a:extLst>
              </a:tr>
              <a:tr h="342441">
                <a:tc>
                  <a:txBody>
                    <a:bodyPr/>
                    <a:lstStyle/>
                    <a:p>
                      <a:pPr algn="l" fontAlgn="b"/>
                      <a:r>
                        <a:rPr lang="en-US" sz="1100" b="0" i="0" u="none" strike="noStrike">
                          <a:solidFill>
                            <a:srgbClr val="000000"/>
                          </a:solidFill>
                          <a:effectLst/>
                          <a:latin typeface="Aptos Narrow" panose="020B0004020202020204" pitchFamily="34" charset="0"/>
                        </a:rPr>
                        <a:t>4.Sports(0 mention of football)</a:t>
                      </a:r>
                    </a:p>
                  </a:txBody>
                  <a:tcPr marL="9525" marR="9525" marT="9525" anchor="b">
                    <a:lnL>
                      <a:noFill/>
                    </a:lnL>
                    <a:lnR>
                      <a:noFill/>
                    </a:lnR>
                    <a:lnT>
                      <a:noFill/>
                    </a:lnT>
                    <a:lnB>
                      <a:noFill/>
                    </a:lnB>
                    <a:solidFill>
                      <a:srgbClr val="F2CEEF"/>
                    </a:solidFill>
                  </a:tcPr>
                </a:tc>
                <a:tc>
                  <a:txBody>
                    <a:bodyPr/>
                    <a:lstStyle/>
                    <a:p>
                      <a:pPr algn="l" fontAlgn="ctr"/>
                      <a:r>
                        <a:rPr lang="en-US" sz="1100" b="0" i="0" u="none" strike="noStrike">
                          <a:solidFill>
                            <a:srgbClr val="000000"/>
                          </a:solidFill>
                          <a:effectLst/>
                          <a:latin typeface="Aptos Narrow"/>
                        </a:rPr>
                        <a:t>1000 word essay on sports. only </a:t>
                      </a:r>
                      <a:r>
                        <a:rPr lang="en-US" sz="1100" b="0" i="0" u="none" strike="noStrike" err="1">
                          <a:solidFill>
                            <a:srgbClr val="000000"/>
                          </a:solidFill>
                          <a:effectLst/>
                          <a:latin typeface="Aptos Narrow"/>
                        </a:rPr>
                        <a:t>contexual</a:t>
                      </a:r>
                      <a:r>
                        <a:rPr lang="en-US" sz="1100" b="0" i="0" u="none" strike="noStrike">
                          <a:solidFill>
                            <a:srgbClr val="000000"/>
                          </a:solidFill>
                          <a:effectLst/>
                          <a:latin typeface="Aptos Narrow"/>
                        </a:rPr>
                        <a:t> alignment . </a:t>
                      </a:r>
                      <a:r>
                        <a:rPr lang="en-US" sz="1100" b="0" i="0" u="none" strike="noStrike">
                          <a:solidFill>
                            <a:srgbClr val="E87331"/>
                          </a:solidFill>
                          <a:effectLst/>
                          <a:latin typeface="Aptos Narrow"/>
                        </a:rPr>
                        <a:t>No useful information</a:t>
                      </a:r>
                      <a:r>
                        <a:rPr lang="en-US" sz="1100" b="0" i="0" u="none" strike="noStrike">
                          <a:solidFill>
                            <a:srgbClr val="000000"/>
                          </a:solidFill>
                          <a:effectLst/>
                          <a:latin typeface="Aptos Narrow"/>
                        </a:rPr>
                        <a:t> about football</a:t>
                      </a:r>
                    </a:p>
                  </a:txBody>
                  <a:tcPr marL="9525" marR="9525" marT="9525" anchor="ctr">
                    <a:lnL>
                      <a:noFill/>
                    </a:lnL>
                    <a:lnR>
                      <a:noFill/>
                    </a:lnR>
                    <a:lnT>
                      <a:noFill/>
                    </a:lnT>
                    <a:lnB>
                      <a:noFill/>
                    </a:lnB>
                    <a:noFill/>
                  </a:tcPr>
                </a:tc>
                <a:extLst>
                  <a:ext uri="{0D108BD9-81ED-4DB2-BD59-A6C34878D82A}">
                    <a16:rowId xmlns:a16="http://schemas.microsoft.com/office/drawing/2014/main" val="2684534894"/>
                  </a:ext>
                </a:extLst>
              </a:tr>
              <a:tr h="420917">
                <a:tc>
                  <a:txBody>
                    <a:bodyPr/>
                    <a:lstStyle/>
                    <a:p>
                      <a:pPr algn="l" fontAlgn="b"/>
                      <a:r>
                        <a:rPr lang="en-US" sz="1100" b="0" i="0" u="none" strike="noStrike">
                          <a:solidFill>
                            <a:srgbClr val="000000"/>
                          </a:solidFill>
                          <a:effectLst/>
                          <a:latin typeface="Aptos Narrow" panose="020B0004020202020204" pitchFamily="34" charset="0"/>
                        </a:rPr>
                        <a:t>5.Leisure activities(0 mentions of football)</a:t>
                      </a:r>
                    </a:p>
                  </a:txBody>
                  <a:tcPr marL="9525" marR="9525" marT="9525" anchor="b">
                    <a:lnL>
                      <a:noFill/>
                    </a:lnL>
                    <a:lnR>
                      <a:noFill/>
                    </a:lnR>
                    <a:lnT>
                      <a:noFill/>
                    </a:lnT>
                    <a:lnB>
                      <a:noFill/>
                    </a:lnB>
                    <a:solidFill>
                      <a:srgbClr val="F2CEEF"/>
                    </a:solidFill>
                  </a:tcPr>
                </a:tc>
                <a:tc>
                  <a:txBody>
                    <a:bodyPr/>
                    <a:lstStyle/>
                    <a:p>
                      <a:pPr algn="l" fontAlgn="ctr"/>
                      <a:r>
                        <a:rPr lang="en-US" sz="1100" b="0" i="0" u="none" strike="noStrike">
                          <a:solidFill>
                            <a:srgbClr val="000000"/>
                          </a:solidFill>
                          <a:effectLst/>
                          <a:latin typeface="Aptos Narrow"/>
                        </a:rPr>
                        <a:t>1000 word essay on leisure activities. Only slight </a:t>
                      </a:r>
                      <a:r>
                        <a:rPr lang="en-US" sz="1100" b="0" i="0" u="none" strike="noStrike" err="1">
                          <a:solidFill>
                            <a:srgbClr val="000000"/>
                          </a:solidFill>
                          <a:effectLst/>
                          <a:latin typeface="Aptos Narrow"/>
                        </a:rPr>
                        <a:t>contexual</a:t>
                      </a:r>
                      <a:r>
                        <a:rPr lang="en-US" sz="1100" b="0" i="0" u="none" strike="noStrike">
                          <a:solidFill>
                            <a:srgbClr val="000000"/>
                          </a:solidFill>
                          <a:effectLst/>
                          <a:latin typeface="Aptos Narrow"/>
                        </a:rPr>
                        <a:t> alignment.</a:t>
                      </a:r>
                      <a:r>
                        <a:rPr lang="en-US" sz="1100" b="0" i="0" u="none" strike="noStrike">
                          <a:solidFill>
                            <a:srgbClr val="E87331"/>
                          </a:solidFill>
                          <a:effectLst/>
                          <a:latin typeface="Aptos Narrow"/>
                        </a:rPr>
                        <a:t> No useful information </a:t>
                      </a:r>
                      <a:r>
                        <a:rPr lang="en-US" sz="1100" b="0" i="0" u="none" strike="noStrike">
                          <a:solidFill>
                            <a:srgbClr val="000000"/>
                          </a:solidFill>
                          <a:effectLst/>
                          <a:latin typeface="Aptos Narrow"/>
                        </a:rPr>
                        <a:t>about football</a:t>
                      </a:r>
                    </a:p>
                  </a:txBody>
                  <a:tcPr marL="9525" marR="9525" marT="9525" anchor="ctr">
                    <a:lnL>
                      <a:noFill/>
                    </a:lnL>
                    <a:lnR>
                      <a:noFill/>
                    </a:lnR>
                    <a:lnT>
                      <a:noFill/>
                    </a:lnT>
                    <a:lnB>
                      <a:noFill/>
                    </a:lnB>
                    <a:noFill/>
                  </a:tcPr>
                </a:tc>
                <a:extLst>
                  <a:ext uri="{0D108BD9-81ED-4DB2-BD59-A6C34878D82A}">
                    <a16:rowId xmlns:a16="http://schemas.microsoft.com/office/drawing/2014/main" val="2448098097"/>
                  </a:ext>
                </a:extLst>
              </a:tr>
              <a:tr h="399516">
                <a:tc>
                  <a:txBody>
                    <a:bodyPr/>
                    <a:lstStyle/>
                    <a:p>
                      <a:pPr algn="l" fontAlgn="ctr"/>
                      <a:r>
                        <a:rPr lang="en-US" sz="1100" b="0" i="0" u="none" strike="noStrike">
                          <a:solidFill>
                            <a:srgbClr val="000000"/>
                          </a:solidFill>
                          <a:effectLst/>
                          <a:latin typeface="Aptos Narrow" panose="020B0004020202020204" pitchFamily="34" charset="0"/>
                        </a:rPr>
                        <a:t>6.Global warming(0 mention of football)</a:t>
                      </a:r>
                    </a:p>
                  </a:txBody>
                  <a:tcPr marL="9525" marR="9525" marT="9525" anchor="ctr">
                    <a:lnL>
                      <a:noFill/>
                    </a:lnL>
                    <a:lnR>
                      <a:noFill/>
                    </a:lnR>
                    <a:lnT>
                      <a:noFill/>
                    </a:lnT>
                    <a:lnB>
                      <a:noFill/>
                    </a:lnB>
                    <a:solidFill>
                      <a:srgbClr val="F2CEEF"/>
                    </a:solidFill>
                  </a:tcPr>
                </a:tc>
                <a:tc>
                  <a:txBody>
                    <a:bodyPr/>
                    <a:lstStyle/>
                    <a:p>
                      <a:pPr algn="l" fontAlgn="ctr"/>
                      <a:r>
                        <a:rPr lang="en-US" sz="1100" b="0" i="0" u="none" strike="noStrike">
                          <a:solidFill>
                            <a:srgbClr val="000000"/>
                          </a:solidFill>
                          <a:effectLst/>
                          <a:latin typeface="Aptos Narrow"/>
                        </a:rPr>
                        <a:t>1000 word essay on global warming. No </a:t>
                      </a:r>
                      <a:r>
                        <a:rPr lang="en-US" sz="1100" b="0" i="0" u="none" strike="noStrike" err="1">
                          <a:solidFill>
                            <a:srgbClr val="000000"/>
                          </a:solidFill>
                          <a:effectLst/>
                          <a:latin typeface="Aptos Narrow"/>
                        </a:rPr>
                        <a:t>contexual</a:t>
                      </a:r>
                      <a:r>
                        <a:rPr lang="en-US" sz="1100" b="0" i="0" u="none" strike="noStrike">
                          <a:solidFill>
                            <a:srgbClr val="000000"/>
                          </a:solidFill>
                          <a:effectLst/>
                          <a:latin typeface="Aptos Narrow"/>
                        </a:rPr>
                        <a:t> alignment or </a:t>
                      </a:r>
                      <a:r>
                        <a:rPr lang="en-US" sz="1100" b="0" i="0" u="none" strike="noStrike">
                          <a:solidFill>
                            <a:srgbClr val="E87331"/>
                          </a:solidFill>
                          <a:effectLst/>
                          <a:latin typeface="Aptos Narrow"/>
                        </a:rPr>
                        <a:t>no useful information</a:t>
                      </a:r>
                      <a:r>
                        <a:rPr lang="en-US" sz="1100" b="0" i="0" u="none" strike="noStrike">
                          <a:solidFill>
                            <a:srgbClr val="000000"/>
                          </a:solidFill>
                          <a:effectLst/>
                          <a:latin typeface="Aptos Narrow"/>
                        </a:rPr>
                        <a:t> about football</a:t>
                      </a:r>
                    </a:p>
                  </a:txBody>
                  <a:tcPr marL="9525" marR="9525" marT="9525" anchor="ctr">
                    <a:lnL>
                      <a:noFill/>
                    </a:lnL>
                    <a:lnR>
                      <a:noFill/>
                    </a:lnR>
                    <a:lnT>
                      <a:noFill/>
                    </a:lnT>
                    <a:lnB>
                      <a:noFill/>
                    </a:lnB>
                    <a:noFill/>
                  </a:tcPr>
                </a:tc>
                <a:extLst>
                  <a:ext uri="{0D108BD9-81ED-4DB2-BD59-A6C34878D82A}">
                    <a16:rowId xmlns:a16="http://schemas.microsoft.com/office/drawing/2014/main" val="3634209496"/>
                  </a:ext>
                </a:extLst>
              </a:tr>
            </a:tbl>
          </a:graphicData>
        </a:graphic>
      </p:graphicFrame>
      <p:graphicFrame>
        <p:nvGraphicFramePr>
          <p:cNvPr id="44" name="Table 43">
            <a:extLst>
              <a:ext uri="{FF2B5EF4-FFF2-40B4-BE49-F238E27FC236}">
                <a16:creationId xmlns:a16="http://schemas.microsoft.com/office/drawing/2014/main" id="{51E79835-3AB7-4DB6-609A-AD0319EEC3D8}"/>
              </a:ext>
            </a:extLst>
          </p:cNvPr>
          <p:cNvGraphicFramePr>
            <a:graphicFrameLocks noGrp="1"/>
          </p:cNvGraphicFramePr>
          <p:nvPr/>
        </p:nvGraphicFramePr>
        <p:xfrm>
          <a:off x="931304" y="5648526"/>
          <a:ext cx="4091330" cy="390525"/>
        </p:xfrm>
        <a:graphic>
          <a:graphicData uri="http://schemas.openxmlformats.org/drawingml/2006/table">
            <a:tbl>
              <a:tblPr bandRow="1">
                <a:tableStyleId>{5C22544A-7EE6-4342-B048-85BDC9FD1C3A}</a:tableStyleId>
              </a:tblPr>
              <a:tblGrid>
                <a:gridCol w="1277461">
                  <a:extLst>
                    <a:ext uri="{9D8B030D-6E8A-4147-A177-3AD203B41FA5}">
                      <a16:colId xmlns:a16="http://schemas.microsoft.com/office/drawing/2014/main" val="3358604058"/>
                    </a:ext>
                  </a:extLst>
                </a:gridCol>
                <a:gridCol w="2813869">
                  <a:extLst>
                    <a:ext uri="{9D8B030D-6E8A-4147-A177-3AD203B41FA5}">
                      <a16:colId xmlns:a16="http://schemas.microsoft.com/office/drawing/2014/main" val="1149164054"/>
                    </a:ext>
                  </a:extLst>
                </a:gridCol>
              </a:tblGrid>
              <a:tr h="371475">
                <a:tc>
                  <a:txBody>
                    <a:bodyPr/>
                    <a:lstStyle/>
                    <a:p>
                      <a:pPr fontAlgn="ctr"/>
                      <a:r>
                        <a:rPr lang="en-US" sz="1100">
                          <a:effectLst/>
                          <a:latin typeface="Aptos Narrow" panose="020B0004020202020204" pitchFamily="34" charset="0"/>
                        </a:rPr>
                        <a:t>Expected result</a:t>
                      </a:r>
                    </a:p>
                  </a:txBody>
                  <a:tcPr marL="9525" marR="9525" marT="9525" anchor="ctr">
                    <a:lnL>
                      <a:noFill/>
                    </a:lnL>
                    <a:lnR>
                      <a:noFill/>
                    </a:lnR>
                    <a:lnT>
                      <a:noFill/>
                    </a:lnT>
                    <a:lnB>
                      <a:noFill/>
                    </a:lnB>
                    <a:noFill/>
                  </a:tcPr>
                </a:tc>
                <a:tc>
                  <a:txBody>
                    <a:bodyPr/>
                    <a:lstStyle/>
                    <a:p>
                      <a:pPr fontAlgn="ctr"/>
                      <a:r>
                        <a:rPr lang="en-US" sz="1100">
                          <a:effectLst/>
                          <a:latin typeface="Aptos Narrow" panose="020B0004020202020204" pitchFamily="34" charset="0"/>
                        </a:rPr>
                        <a:t>1&gt;2&gt;3&gt;5&gt;6 and noteable difference between  1,2 and 3,4,5</a:t>
                      </a:r>
                    </a:p>
                  </a:txBody>
                  <a:tcPr marL="9525" marR="9525" marT="9525" anchor="ctr">
                    <a:lnL>
                      <a:noFill/>
                    </a:lnL>
                    <a:lnR>
                      <a:noFill/>
                    </a:lnR>
                    <a:lnT>
                      <a:noFill/>
                    </a:lnT>
                    <a:lnB>
                      <a:noFill/>
                    </a:lnB>
                    <a:noFill/>
                  </a:tcPr>
                </a:tc>
                <a:extLst>
                  <a:ext uri="{0D108BD9-81ED-4DB2-BD59-A6C34878D82A}">
                    <a16:rowId xmlns:a16="http://schemas.microsoft.com/office/drawing/2014/main" val="2582078273"/>
                  </a:ext>
                </a:extLst>
              </a:tr>
            </a:tbl>
          </a:graphicData>
        </a:graphic>
      </p:graphicFrame>
      <p:sp>
        <p:nvSpPr>
          <p:cNvPr id="2" name="TextBox 1">
            <a:extLst>
              <a:ext uri="{FF2B5EF4-FFF2-40B4-BE49-F238E27FC236}">
                <a16:creationId xmlns:a16="http://schemas.microsoft.com/office/drawing/2014/main" id="{72C88314-6A91-A26D-A39F-D760A841FC79}"/>
              </a:ext>
            </a:extLst>
          </p:cNvPr>
          <p:cNvSpPr txBox="1"/>
          <p:nvPr/>
        </p:nvSpPr>
        <p:spPr>
          <a:xfrm>
            <a:off x="6098062" y="5685274"/>
            <a:ext cx="58772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44546A"/>
                </a:solidFill>
                <a:latin typeface="Times New Roman"/>
                <a:ea typeface="Calibri"/>
                <a:cs typeface="Times New Roman"/>
              </a:rPr>
              <a:t>Comparison using single embedding for whole document</a:t>
            </a:r>
          </a:p>
        </p:txBody>
      </p:sp>
    </p:spTree>
    <p:extLst>
      <p:ext uri="{BB962C8B-B14F-4D97-AF65-F5344CB8AC3E}">
        <p14:creationId xmlns:p14="http://schemas.microsoft.com/office/powerpoint/2010/main" val="3983575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A4DC0B-62D7-E266-96BA-013C8CF5F6C0}"/>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95402281-D2B7-1B42-9554-80F26E9462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17" name="Freeform: Shape 16">
              <a:extLst>
                <a:ext uri="{FF2B5EF4-FFF2-40B4-BE49-F238E27FC236}">
                  <a16:creationId xmlns:a16="http://schemas.microsoft.com/office/drawing/2014/main" id="{A5A9B9AF-55F2-0FBA-BE4A-DE58D01D7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8" name="Freeform: Shape 17">
              <a:extLst>
                <a:ext uri="{FF2B5EF4-FFF2-40B4-BE49-F238E27FC236}">
                  <a16:creationId xmlns:a16="http://schemas.microsoft.com/office/drawing/2014/main" id="{328F7031-B69B-7D5C-3B90-6BF856955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9" name="Freeform: Shape 18">
              <a:extLst>
                <a:ext uri="{FF2B5EF4-FFF2-40B4-BE49-F238E27FC236}">
                  <a16:creationId xmlns:a16="http://schemas.microsoft.com/office/drawing/2014/main" id="{6992E38A-1297-23EF-7C99-E52961B3C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solidFill>
                  <a:srgbClr val="44546A"/>
                </a:solidFill>
                <a:latin typeface="Times New Roman"/>
                <a:cs typeface="Times New Roman"/>
              </a:endParaRPr>
            </a:p>
          </p:txBody>
        </p:sp>
        <p:sp>
          <p:nvSpPr>
            <p:cNvPr id="20" name="Freeform: Shape 19">
              <a:extLst>
                <a:ext uri="{FF2B5EF4-FFF2-40B4-BE49-F238E27FC236}">
                  <a16:creationId xmlns:a16="http://schemas.microsoft.com/office/drawing/2014/main" id="{132DFAB4-7CAF-B511-AFA0-0497C6E679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grpSp>
      <p:sp>
        <p:nvSpPr>
          <p:cNvPr id="4" name="Date Placeholder 3">
            <a:extLst>
              <a:ext uri="{FF2B5EF4-FFF2-40B4-BE49-F238E27FC236}">
                <a16:creationId xmlns:a16="http://schemas.microsoft.com/office/drawing/2014/main" id="{E9AF5BF4-E039-009C-B188-363F6EE70CF6}"/>
              </a:ext>
            </a:extLst>
          </p:cNvPr>
          <p:cNvSpPr>
            <a:spLocks noGrp="1"/>
          </p:cNvSpPr>
          <p:nvPr>
            <p:ph type="dt" sz="half" idx="10"/>
          </p:nvPr>
        </p:nvSpPr>
        <p:spPr>
          <a:xfrm>
            <a:off x="804672" y="6356350"/>
            <a:ext cx="2743200" cy="365125"/>
          </a:xfrm>
        </p:spPr>
        <p:txBody>
          <a:bodyPr vert="horz" lIns="91440" tIns="45720" rIns="91440" bIns="45720" rtlCol="0" anchor="ctr">
            <a:normAutofit/>
          </a:bodyPr>
          <a:lstStyle/>
          <a:p>
            <a:pPr>
              <a:spcAft>
                <a:spcPts val="600"/>
              </a:spcAft>
            </a:pPr>
            <a:fld id="{22F31666-E5A2-49F1-A135-D16890EDB7A4}" type="datetime1">
              <a:rPr lang="en-US"/>
              <a:pPr>
                <a:spcAft>
                  <a:spcPts val="600"/>
                </a:spcAft>
              </a:pPr>
              <a:t>3/31/2025</a:t>
            </a:fld>
            <a:endParaRPr lang="en-US"/>
          </a:p>
        </p:txBody>
      </p:sp>
      <p:grpSp>
        <p:nvGrpSpPr>
          <p:cNvPr id="22" name="Group 21">
            <a:extLst>
              <a:ext uri="{FF2B5EF4-FFF2-40B4-BE49-F238E27FC236}">
                <a16:creationId xmlns:a16="http://schemas.microsoft.com/office/drawing/2014/main" id="{FB2AB3A0-8BE9-918A-AABC-E8E97874A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23" name="Freeform: Shape 22">
              <a:extLst>
                <a:ext uri="{FF2B5EF4-FFF2-40B4-BE49-F238E27FC236}">
                  <a16:creationId xmlns:a16="http://schemas.microsoft.com/office/drawing/2014/main" id="{0CD8CEBF-1BB3-928D-2BF3-1EBEAAC5D5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24" name="Freeform: Shape 23">
              <a:extLst>
                <a:ext uri="{FF2B5EF4-FFF2-40B4-BE49-F238E27FC236}">
                  <a16:creationId xmlns:a16="http://schemas.microsoft.com/office/drawing/2014/main" id="{44974E09-B678-11CD-723D-30E40B8AC7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sp>
          <p:nvSpPr>
            <p:cNvPr id="25" name="Freeform: Shape 24">
              <a:extLst>
                <a:ext uri="{FF2B5EF4-FFF2-40B4-BE49-F238E27FC236}">
                  <a16:creationId xmlns:a16="http://schemas.microsoft.com/office/drawing/2014/main" id="{CC106BAF-5932-8E13-BE39-A2250DB285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sp>
          <p:nvSpPr>
            <p:cNvPr id="26" name="Freeform: Shape 25">
              <a:extLst>
                <a:ext uri="{FF2B5EF4-FFF2-40B4-BE49-F238E27FC236}">
                  <a16:creationId xmlns:a16="http://schemas.microsoft.com/office/drawing/2014/main" id="{458C5D95-D4CA-730C-24ED-30BFF7BD4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grpSp>
      <p:sp>
        <p:nvSpPr>
          <p:cNvPr id="11" name="TextBox 10">
            <a:extLst>
              <a:ext uri="{FF2B5EF4-FFF2-40B4-BE49-F238E27FC236}">
                <a16:creationId xmlns:a16="http://schemas.microsoft.com/office/drawing/2014/main" id="{1BF492F0-6B82-12B0-7D81-F3E43E6B11F9}"/>
              </a:ext>
            </a:extLst>
          </p:cNvPr>
          <p:cNvSpPr txBox="1"/>
          <p:nvPr/>
        </p:nvSpPr>
        <p:spPr>
          <a:xfrm>
            <a:off x="1002336" y="6314719"/>
            <a:ext cx="23165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solidFill>
                <a:srgbClr val="44546A"/>
              </a:solidFill>
              <a:latin typeface="Times New Roman"/>
              <a:cs typeface="Times New Roman"/>
            </a:endParaRPr>
          </a:p>
        </p:txBody>
      </p:sp>
      <p:sp>
        <p:nvSpPr>
          <p:cNvPr id="9" name="Title 1">
            <a:extLst>
              <a:ext uri="{FF2B5EF4-FFF2-40B4-BE49-F238E27FC236}">
                <a16:creationId xmlns:a16="http://schemas.microsoft.com/office/drawing/2014/main" id="{6D70657C-0341-4A43-9CED-4324B286C756}"/>
              </a:ext>
            </a:extLst>
          </p:cNvPr>
          <p:cNvSpPr>
            <a:spLocks noGrp="1"/>
          </p:cNvSpPr>
          <p:nvPr>
            <p:ph type="title"/>
          </p:nvPr>
        </p:nvSpPr>
        <p:spPr>
          <a:xfrm>
            <a:off x="838200" y="-149225"/>
            <a:ext cx="10515600" cy="1325563"/>
          </a:xfrm>
        </p:spPr>
        <p:txBody>
          <a:bodyPr/>
          <a:lstStyle/>
          <a:p>
            <a:r>
              <a:rPr lang="en-US" sz="3600">
                <a:solidFill>
                  <a:srgbClr val="44546A"/>
                </a:solidFill>
                <a:latin typeface="Times New Roman"/>
                <a:cs typeface="Times New Roman"/>
              </a:rPr>
              <a:t>Mode – Compare Documents with </a:t>
            </a:r>
            <a:r>
              <a:rPr lang="en-US" sz="3600" dirty="0">
                <a:solidFill>
                  <a:srgbClr val="44546A"/>
                </a:solidFill>
                <a:latin typeface="Times New Roman"/>
                <a:cs typeface="Times New Roman"/>
              </a:rPr>
              <a:t>Words/Phrases</a:t>
            </a:r>
            <a:endParaRPr lang="en-US" dirty="0">
              <a:solidFill>
                <a:srgbClr val="44546A"/>
              </a:solidFill>
              <a:latin typeface="Times New Roman"/>
              <a:cs typeface="Times New Roman"/>
            </a:endParaRPr>
          </a:p>
        </p:txBody>
      </p:sp>
      <p:sp>
        <p:nvSpPr>
          <p:cNvPr id="14" name="Slide Number Placeholder 5">
            <a:extLst>
              <a:ext uri="{FF2B5EF4-FFF2-40B4-BE49-F238E27FC236}">
                <a16:creationId xmlns:a16="http://schemas.microsoft.com/office/drawing/2014/main" id="{C11165EA-95AE-23C4-CA2F-A76759D99669}"/>
              </a:ext>
            </a:extLst>
          </p:cNvPr>
          <p:cNvSpPr>
            <a:spLocks noGrp="1"/>
          </p:cNvSpPr>
          <p:nvPr>
            <p:ph type="sldNum" sz="quarter" idx="12"/>
          </p:nvPr>
        </p:nvSpPr>
        <p:spPr>
          <a:xfrm>
            <a:off x="8610600" y="6356350"/>
            <a:ext cx="2743200" cy="365125"/>
          </a:xfrm>
        </p:spPr>
        <p:txBody>
          <a:bodyPr/>
          <a:lstStyle/>
          <a:p>
            <a:fld id="{A65A5C87-DF58-40C8-B092-1DE63DB4547E}" type="slidenum">
              <a:rPr lang="en-US" dirty="0">
                <a:solidFill>
                  <a:srgbClr val="44546A"/>
                </a:solidFill>
                <a:latin typeface="Times New Roman"/>
                <a:cs typeface="Times New Roman"/>
              </a:rPr>
              <a:t>10</a:t>
            </a:fld>
            <a:endParaRPr lang="en-US" dirty="0">
              <a:solidFill>
                <a:srgbClr val="44546A"/>
              </a:solidFill>
              <a:latin typeface="Times New Roman"/>
              <a:cs typeface="Times New Roman"/>
            </a:endParaRPr>
          </a:p>
        </p:txBody>
      </p:sp>
      <p:sp>
        <p:nvSpPr>
          <p:cNvPr id="21" name="TextBox 20">
            <a:extLst>
              <a:ext uri="{FF2B5EF4-FFF2-40B4-BE49-F238E27FC236}">
                <a16:creationId xmlns:a16="http://schemas.microsoft.com/office/drawing/2014/main" id="{F5BD1E09-100D-8370-297E-9EA5F5FD1EBB}"/>
              </a:ext>
            </a:extLst>
          </p:cNvPr>
          <p:cNvSpPr txBox="1"/>
          <p:nvPr/>
        </p:nvSpPr>
        <p:spPr>
          <a:xfrm>
            <a:off x="942271" y="2966724"/>
            <a:ext cx="1084225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44546A"/>
                </a:solidFill>
                <a:latin typeface="Times New Roman"/>
                <a:ea typeface="Calibri"/>
                <a:cs typeface="Times New Roman"/>
              </a:rPr>
              <a:t>Proposed solution: Chunking and taking exponentially weighted mean of similarities to giver higher weight for </a:t>
            </a:r>
            <a:r>
              <a:rPr lang="en-US">
                <a:solidFill>
                  <a:srgbClr val="44546A"/>
                </a:solidFill>
                <a:latin typeface="Times New Roman"/>
                <a:ea typeface="Calibri"/>
                <a:cs typeface="Times New Roman"/>
              </a:rPr>
              <a:t>chunks with  more relevant data to improve differentiation. Chunk size is kept as 300 words (average paragraph length in English language). Exponentially weighted mean is given by the following equation,</a:t>
            </a:r>
          </a:p>
        </p:txBody>
      </p:sp>
      <p:pic>
        <p:nvPicPr>
          <p:cNvPr id="28" name="Picture 27" descr="A mathematical equation with numbers and symbols&#10;&#10;AI-generated content may be incorrect.">
            <a:extLst>
              <a:ext uri="{FF2B5EF4-FFF2-40B4-BE49-F238E27FC236}">
                <a16:creationId xmlns:a16="http://schemas.microsoft.com/office/drawing/2014/main" id="{06ADDA45-E6DA-EA04-7CCC-B940EE694B76}"/>
              </a:ext>
            </a:extLst>
          </p:cNvPr>
          <p:cNvPicPr>
            <a:picLocks noChangeAspect="1"/>
          </p:cNvPicPr>
          <p:nvPr/>
        </p:nvPicPr>
        <p:blipFill>
          <a:blip r:embed="rId2"/>
          <a:stretch>
            <a:fillRect/>
          </a:stretch>
        </p:blipFill>
        <p:spPr>
          <a:xfrm>
            <a:off x="4591277" y="3902483"/>
            <a:ext cx="2298728" cy="800256"/>
          </a:xfrm>
          <a:prstGeom prst="rect">
            <a:avLst/>
          </a:prstGeom>
          <a:ln>
            <a:noFill/>
          </a:ln>
        </p:spPr>
      </p:pic>
      <p:sp>
        <p:nvSpPr>
          <p:cNvPr id="30" name="TextBox 29">
            <a:extLst>
              <a:ext uri="{FF2B5EF4-FFF2-40B4-BE49-F238E27FC236}">
                <a16:creationId xmlns:a16="http://schemas.microsoft.com/office/drawing/2014/main" id="{1034E49B-73D5-A598-7814-1440C64DF027}"/>
              </a:ext>
            </a:extLst>
          </p:cNvPr>
          <p:cNvSpPr txBox="1"/>
          <p:nvPr/>
        </p:nvSpPr>
        <p:spPr>
          <a:xfrm>
            <a:off x="946451" y="4553220"/>
            <a:ext cx="991819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44546A"/>
                </a:solidFill>
                <a:latin typeface="Times New Roman"/>
                <a:ea typeface="+mn-lt"/>
                <a:cs typeface="Times New Roman"/>
              </a:rPr>
              <a:t>where:</a:t>
            </a:r>
            <a:endParaRPr lang="en-US">
              <a:solidFill>
                <a:srgbClr val="44546A"/>
              </a:solidFill>
              <a:latin typeface="Times New Roman"/>
              <a:cs typeface="Times New Roman"/>
            </a:endParaRPr>
          </a:p>
          <a:p>
            <a:pPr marL="285750" indent="-285750">
              <a:buFont typeface="Arial"/>
              <a:buChar char="•"/>
            </a:pPr>
            <a:r>
              <a:rPr lang="en-US">
                <a:solidFill>
                  <a:srgbClr val="44546A"/>
                </a:solidFill>
                <a:latin typeface="Times New Roman"/>
                <a:ea typeface="+mn-lt"/>
                <a:cs typeface="Times New Roman"/>
              </a:rPr>
              <a:t>S</a:t>
            </a:r>
            <a:r>
              <a:rPr lang="en-US" baseline="-25000">
                <a:solidFill>
                  <a:srgbClr val="44546A"/>
                </a:solidFill>
                <a:latin typeface="Times New Roman"/>
                <a:ea typeface="+mn-lt"/>
                <a:cs typeface="Times New Roman"/>
              </a:rPr>
              <a:t>ewm</a:t>
            </a:r>
            <a:r>
              <a:rPr lang="en-US">
                <a:solidFill>
                  <a:srgbClr val="44546A"/>
                </a:solidFill>
                <a:latin typeface="Times New Roman"/>
                <a:ea typeface="+mn-lt"/>
                <a:cs typeface="Times New Roman"/>
              </a:rPr>
              <a:t>  represents the exponentially weighted similarity,</a:t>
            </a:r>
            <a:endParaRPr lang="en-US">
              <a:solidFill>
                <a:srgbClr val="44546A"/>
              </a:solidFill>
              <a:latin typeface="Times New Roman"/>
              <a:cs typeface="Times New Roman"/>
            </a:endParaRPr>
          </a:p>
          <a:p>
            <a:pPr marL="285750" indent="-285750">
              <a:buFont typeface="Arial"/>
              <a:buChar char="•"/>
            </a:pPr>
            <a:r>
              <a:rPr lang="en-US">
                <a:solidFill>
                  <a:srgbClr val="44546A"/>
                </a:solidFill>
                <a:latin typeface="Times New Roman"/>
                <a:ea typeface="+mn-lt"/>
                <a:cs typeface="Times New Roman"/>
              </a:rPr>
              <a:t>n is the total number of chunks,</a:t>
            </a:r>
            <a:endParaRPr lang="en-US">
              <a:solidFill>
                <a:srgbClr val="44546A"/>
              </a:solidFill>
              <a:latin typeface="Times New Roman"/>
              <a:cs typeface="Times New Roman"/>
            </a:endParaRPr>
          </a:p>
          <a:p>
            <a:pPr marL="285750" indent="-285750">
              <a:buFont typeface="Arial"/>
              <a:buChar char="•"/>
            </a:pPr>
            <a:r>
              <a:rPr lang="en-US">
                <a:solidFill>
                  <a:srgbClr val="44546A"/>
                </a:solidFill>
                <a:latin typeface="Times New Roman"/>
                <a:ea typeface="+mn-lt"/>
                <a:cs typeface="Times New Roman"/>
              </a:rPr>
              <a:t>s</a:t>
            </a:r>
            <a:r>
              <a:rPr lang="en-US" baseline="-25000">
                <a:solidFill>
                  <a:srgbClr val="44546A"/>
                </a:solidFill>
                <a:latin typeface="Times New Roman"/>
                <a:ea typeface="+mn-lt"/>
                <a:cs typeface="Times New Roman"/>
              </a:rPr>
              <a:t>i </a:t>
            </a:r>
            <a:r>
              <a:rPr lang="en-US">
                <a:solidFill>
                  <a:srgbClr val="44546A"/>
                </a:solidFill>
                <a:latin typeface="Times New Roman"/>
                <a:ea typeface="+mn-lt"/>
                <a:cs typeface="Times New Roman"/>
              </a:rPr>
              <a:t> denotes individual similarity scores,</a:t>
            </a:r>
            <a:endParaRPr lang="en-US">
              <a:solidFill>
                <a:srgbClr val="44546A"/>
              </a:solidFill>
              <a:latin typeface="Times New Roman"/>
              <a:cs typeface="Times New Roman"/>
            </a:endParaRPr>
          </a:p>
          <a:p>
            <a:pPr marL="285750" indent="-285750">
              <a:buFont typeface="Arial"/>
              <a:buChar char="•"/>
            </a:pPr>
            <a:r>
              <a:rPr lang="en-US">
                <a:solidFill>
                  <a:srgbClr val="44546A"/>
                </a:solidFill>
                <a:latin typeface="Times New Roman"/>
                <a:ea typeface="+mn-lt"/>
                <a:cs typeface="Times New Roman"/>
              </a:rPr>
              <a:t>w</a:t>
            </a:r>
            <a:r>
              <a:rPr lang="en-US" baseline="-25000">
                <a:solidFill>
                  <a:srgbClr val="44546A"/>
                </a:solidFill>
                <a:latin typeface="Times New Roman"/>
                <a:ea typeface="+mn-lt"/>
                <a:cs typeface="Times New Roman"/>
              </a:rPr>
              <a:t>i  </a:t>
            </a:r>
            <a:r>
              <a:rPr lang="en-US">
                <a:solidFill>
                  <a:srgbClr val="44546A"/>
                </a:solidFill>
                <a:latin typeface="Times New Roman"/>
                <a:ea typeface="+mn-lt"/>
                <a:cs typeface="Times New Roman"/>
              </a:rPr>
              <a:t>= e</a:t>
            </a:r>
            <a:r>
              <a:rPr lang="en-US" baseline="30000">
                <a:solidFill>
                  <a:srgbClr val="44546A"/>
                </a:solidFill>
                <a:latin typeface="Times New Roman"/>
                <a:ea typeface="+mn-lt"/>
                <a:cs typeface="Times New Roman"/>
              </a:rPr>
              <a:t>βsi</a:t>
            </a:r>
            <a:r>
              <a:rPr lang="en-US">
                <a:solidFill>
                  <a:srgbClr val="44546A"/>
                </a:solidFill>
                <a:latin typeface="Times New Roman"/>
                <a:ea typeface="+mn-lt"/>
                <a:cs typeface="Times New Roman"/>
              </a:rPr>
              <a:t>  is the weight that assigns exponentially increasing values to higher similarity scores,</a:t>
            </a:r>
            <a:endParaRPr lang="en-US">
              <a:solidFill>
                <a:srgbClr val="44546A"/>
              </a:solidFill>
              <a:latin typeface="Times New Roman"/>
              <a:cs typeface="Times New Roman"/>
            </a:endParaRPr>
          </a:p>
          <a:p>
            <a:pPr marL="285750" indent="-285750">
              <a:buFont typeface="Arial"/>
              <a:buChar char="•"/>
            </a:pPr>
            <a:r>
              <a:rPr lang="en-US">
                <a:solidFill>
                  <a:srgbClr val="44546A"/>
                </a:solidFill>
                <a:latin typeface="Times New Roman"/>
                <a:ea typeface="+mn-lt"/>
                <a:cs typeface="Times New Roman"/>
              </a:rPr>
              <a:t>β is a tunable parameter that controls the bias toward higher similarity values.</a:t>
            </a:r>
            <a:endParaRPr lang="en-US">
              <a:solidFill>
                <a:srgbClr val="44546A"/>
              </a:solidFill>
              <a:latin typeface="Times New Roman"/>
              <a:cs typeface="Times New Roman"/>
            </a:endParaRPr>
          </a:p>
          <a:p>
            <a:endParaRPr lang="en-US" dirty="0">
              <a:solidFill>
                <a:srgbClr val="44546A"/>
              </a:solidFill>
              <a:latin typeface="Times New Roman"/>
              <a:ea typeface="Calibri"/>
              <a:cs typeface="Times New Roman"/>
            </a:endParaRPr>
          </a:p>
        </p:txBody>
      </p:sp>
      <p:pic>
        <p:nvPicPr>
          <p:cNvPr id="5" name="Content Placeholder 4" descr="A black screen with text and arrows&#10;&#10;AI-generated content may be incorrect.">
            <a:extLst>
              <a:ext uri="{FF2B5EF4-FFF2-40B4-BE49-F238E27FC236}">
                <a16:creationId xmlns:a16="http://schemas.microsoft.com/office/drawing/2014/main" id="{B564CCE0-4D85-F400-629E-DD0D9D6CD0A0}"/>
              </a:ext>
            </a:extLst>
          </p:cNvPr>
          <p:cNvPicPr>
            <a:picLocks noGrp="1" noChangeAspect="1"/>
          </p:cNvPicPr>
          <p:nvPr>
            <p:ph idx="1"/>
          </p:nvPr>
        </p:nvPicPr>
        <p:blipFill>
          <a:blip r:embed="rId3"/>
          <a:stretch>
            <a:fillRect/>
          </a:stretch>
        </p:blipFill>
        <p:spPr>
          <a:xfrm>
            <a:off x="948813" y="953738"/>
            <a:ext cx="10515600" cy="2014723"/>
          </a:xfrm>
        </p:spPr>
      </p:pic>
    </p:spTree>
    <p:extLst>
      <p:ext uri="{BB962C8B-B14F-4D97-AF65-F5344CB8AC3E}">
        <p14:creationId xmlns:p14="http://schemas.microsoft.com/office/powerpoint/2010/main" val="1832260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48909A-A40D-9292-DA62-9E514B21254B}"/>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703B683D-814E-531A-5747-77D6F52AC7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17" name="Freeform: Shape 16">
              <a:extLst>
                <a:ext uri="{FF2B5EF4-FFF2-40B4-BE49-F238E27FC236}">
                  <a16:creationId xmlns:a16="http://schemas.microsoft.com/office/drawing/2014/main" id="{093E3D75-2071-43E1-C1CB-5E099F3097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8" name="Freeform: Shape 17">
              <a:extLst>
                <a:ext uri="{FF2B5EF4-FFF2-40B4-BE49-F238E27FC236}">
                  <a16:creationId xmlns:a16="http://schemas.microsoft.com/office/drawing/2014/main" id="{11E9B9A7-A849-F78B-8BB3-DCA449EA7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9" name="Freeform: Shape 18">
              <a:extLst>
                <a:ext uri="{FF2B5EF4-FFF2-40B4-BE49-F238E27FC236}">
                  <a16:creationId xmlns:a16="http://schemas.microsoft.com/office/drawing/2014/main" id="{253725FB-E142-B649-8D17-699DFDA580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solidFill>
                  <a:srgbClr val="44546A"/>
                </a:solidFill>
                <a:latin typeface="Times New Roman"/>
                <a:cs typeface="Times New Roman"/>
              </a:endParaRPr>
            </a:p>
          </p:txBody>
        </p:sp>
        <p:sp>
          <p:nvSpPr>
            <p:cNvPr id="20" name="Freeform: Shape 19">
              <a:extLst>
                <a:ext uri="{FF2B5EF4-FFF2-40B4-BE49-F238E27FC236}">
                  <a16:creationId xmlns:a16="http://schemas.microsoft.com/office/drawing/2014/main" id="{E350BC5F-2EDB-015D-2958-0A89B325A8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grpSp>
      <p:sp>
        <p:nvSpPr>
          <p:cNvPr id="4" name="Date Placeholder 3">
            <a:extLst>
              <a:ext uri="{FF2B5EF4-FFF2-40B4-BE49-F238E27FC236}">
                <a16:creationId xmlns:a16="http://schemas.microsoft.com/office/drawing/2014/main" id="{0218FE8A-D608-EB76-A9B3-8CC99BD99A3C}"/>
              </a:ext>
            </a:extLst>
          </p:cNvPr>
          <p:cNvSpPr>
            <a:spLocks noGrp="1"/>
          </p:cNvSpPr>
          <p:nvPr>
            <p:ph type="dt" sz="half" idx="10"/>
          </p:nvPr>
        </p:nvSpPr>
        <p:spPr>
          <a:xfrm>
            <a:off x="804672" y="6356350"/>
            <a:ext cx="2743200" cy="365125"/>
          </a:xfrm>
        </p:spPr>
        <p:txBody>
          <a:bodyPr vert="horz" lIns="91440" tIns="45720" rIns="91440" bIns="45720" rtlCol="0" anchor="ctr">
            <a:normAutofit/>
          </a:bodyPr>
          <a:lstStyle/>
          <a:p>
            <a:pPr>
              <a:spcAft>
                <a:spcPts val="600"/>
              </a:spcAft>
            </a:pPr>
            <a:fld id="{22F31666-E5A2-49F1-A135-D16890EDB7A4}" type="datetime1">
              <a:rPr lang="en-US"/>
              <a:pPr>
                <a:spcAft>
                  <a:spcPts val="600"/>
                </a:spcAft>
              </a:pPr>
              <a:t>3/31/2025</a:t>
            </a:fld>
            <a:endParaRPr lang="en-US"/>
          </a:p>
        </p:txBody>
      </p:sp>
      <p:grpSp>
        <p:nvGrpSpPr>
          <p:cNvPr id="22" name="Group 21">
            <a:extLst>
              <a:ext uri="{FF2B5EF4-FFF2-40B4-BE49-F238E27FC236}">
                <a16:creationId xmlns:a16="http://schemas.microsoft.com/office/drawing/2014/main" id="{318815DE-1BE0-D5B0-6A0A-D879E3A597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23" name="Freeform: Shape 22">
              <a:extLst>
                <a:ext uri="{FF2B5EF4-FFF2-40B4-BE49-F238E27FC236}">
                  <a16:creationId xmlns:a16="http://schemas.microsoft.com/office/drawing/2014/main" id="{1F22670A-90C5-EF6F-D84E-F456D1F8A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24" name="Freeform: Shape 23">
              <a:extLst>
                <a:ext uri="{FF2B5EF4-FFF2-40B4-BE49-F238E27FC236}">
                  <a16:creationId xmlns:a16="http://schemas.microsoft.com/office/drawing/2014/main" id="{368AE2B0-33F0-BCF3-F7EE-836DE3F39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sp>
          <p:nvSpPr>
            <p:cNvPr id="25" name="Freeform: Shape 24">
              <a:extLst>
                <a:ext uri="{FF2B5EF4-FFF2-40B4-BE49-F238E27FC236}">
                  <a16:creationId xmlns:a16="http://schemas.microsoft.com/office/drawing/2014/main" id="{663535E3-28C6-2B5B-E5D8-FD819DC742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sp>
          <p:nvSpPr>
            <p:cNvPr id="26" name="Freeform: Shape 25">
              <a:extLst>
                <a:ext uri="{FF2B5EF4-FFF2-40B4-BE49-F238E27FC236}">
                  <a16:creationId xmlns:a16="http://schemas.microsoft.com/office/drawing/2014/main" id="{DE6EC73F-CC44-657F-8235-D8A9E3911D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grpSp>
      <p:sp>
        <p:nvSpPr>
          <p:cNvPr id="11" name="TextBox 10">
            <a:extLst>
              <a:ext uri="{FF2B5EF4-FFF2-40B4-BE49-F238E27FC236}">
                <a16:creationId xmlns:a16="http://schemas.microsoft.com/office/drawing/2014/main" id="{B2AC546A-D5F6-1274-1D9D-F8A2ABD6C716}"/>
              </a:ext>
            </a:extLst>
          </p:cNvPr>
          <p:cNvSpPr txBox="1"/>
          <p:nvPr/>
        </p:nvSpPr>
        <p:spPr>
          <a:xfrm>
            <a:off x="1002336" y="6314719"/>
            <a:ext cx="23165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solidFill>
                <a:srgbClr val="44546A"/>
              </a:solidFill>
              <a:latin typeface="Times New Roman"/>
              <a:cs typeface="Times New Roman"/>
            </a:endParaRPr>
          </a:p>
        </p:txBody>
      </p:sp>
      <p:sp>
        <p:nvSpPr>
          <p:cNvPr id="9" name="Title 1">
            <a:extLst>
              <a:ext uri="{FF2B5EF4-FFF2-40B4-BE49-F238E27FC236}">
                <a16:creationId xmlns:a16="http://schemas.microsoft.com/office/drawing/2014/main" id="{FD5AD66F-0A1A-9EE0-4441-2FF767DF3801}"/>
              </a:ext>
            </a:extLst>
          </p:cNvPr>
          <p:cNvSpPr>
            <a:spLocks noGrp="1"/>
          </p:cNvSpPr>
          <p:nvPr>
            <p:ph type="title"/>
          </p:nvPr>
        </p:nvSpPr>
        <p:spPr>
          <a:xfrm>
            <a:off x="838200" y="74893"/>
            <a:ext cx="10515600" cy="1325563"/>
          </a:xfrm>
        </p:spPr>
        <p:txBody>
          <a:bodyPr/>
          <a:lstStyle/>
          <a:p>
            <a:r>
              <a:rPr lang="en-US" sz="3600">
                <a:solidFill>
                  <a:srgbClr val="44546A"/>
                </a:solidFill>
                <a:latin typeface="Times New Roman"/>
                <a:cs typeface="Times New Roman"/>
              </a:rPr>
              <a:t>Mode – Compare Documents with </a:t>
            </a:r>
            <a:r>
              <a:rPr lang="en-US" sz="3600" dirty="0">
                <a:solidFill>
                  <a:srgbClr val="44546A"/>
                </a:solidFill>
                <a:latin typeface="Times New Roman"/>
                <a:cs typeface="Times New Roman"/>
              </a:rPr>
              <a:t>Words/Phrases</a:t>
            </a:r>
            <a:endParaRPr lang="en-US" dirty="0">
              <a:solidFill>
                <a:srgbClr val="44546A"/>
              </a:solidFill>
              <a:latin typeface="Times New Roman"/>
              <a:cs typeface="Times New Roman"/>
            </a:endParaRPr>
          </a:p>
        </p:txBody>
      </p:sp>
      <p:sp>
        <p:nvSpPr>
          <p:cNvPr id="14" name="Slide Number Placeholder 5">
            <a:extLst>
              <a:ext uri="{FF2B5EF4-FFF2-40B4-BE49-F238E27FC236}">
                <a16:creationId xmlns:a16="http://schemas.microsoft.com/office/drawing/2014/main" id="{488DF69C-B62A-EDAC-AD28-B328F13D7830}"/>
              </a:ext>
            </a:extLst>
          </p:cNvPr>
          <p:cNvSpPr>
            <a:spLocks noGrp="1"/>
          </p:cNvSpPr>
          <p:nvPr>
            <p:ph type="sldNum" sz="quarter" idx="12"/>
          </p:nvPr>
        </p:nvSpPr>
        <p:spPr>
          <a:xfrm>
            <a:off x="8610600" y="6356350"/>
            <a:ext cx="2743200" cy="365125"/>
          </a:xfrm>
        </p:spPr>
        <p:txBody>
          <a:bodyPr/>
          <a:lstStyle/>
          <a:p>
            <a:fld id="{A65A5C87-DF58-40C8-B092-1DE63DB4547E}" type="slidenum">
              <a:rPr lang="en-US" dirty="0">
                <a:solidFill>
                  <a:srgbClr val="44546A"/>
                </a:solidFill>
                <a:latin typeface="Times New Roman"/>
                <a:cs typeface="Times New Roman"/>
              </a:rPr>
              <a:t>11</a:t>
            </a:fld>
            <a:endParaRPr lang="en-US" dirty="0">
              <a:solidFill>
                <a:srgbClr val="44546A"/>
              </a:solidFill>
              <a:latin typeface="Times New Roman"/>
              <a:cs typeface="Times New Roman"/>
            </a:endParaRPr>
          </a:p>
        </p:txBody>
      </p:sp>
      <p:sp>
        <p:nvSpPr>
          <p:cNvPr id="5" name="TextBox 4">
            <a:extLst>
              <a:ext uri="{FF2B5EF4-FFF2-40B4-BE49-F238E27FC236}">
                <a16:creationId xmlns:a16="http://schemas.microsoft.com/office/drawing/2014/main" id="{D5CADD12-DC35-3A4C-7D71-B60F69700824}"/>
              </a:ext>
            </a:extLst>
          </p:cNvPr>
          <p:cNvSpPr txBox="1"/>
          <p:nvPr/>
        </p:nvSpPr>
        <p:spPr>
          <a:xfrm>
            <a:off x="835959" y="4847665"/>
            <a:ext cx="380775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44546A"/>
                </a:solidFill>
                <a:latin typeface="Times New Roman"/>
                <a:cs typeface="Times New Roman"/>
              </a:rPr>
              <a:t>Result after taking exponentially weighted mean of similarities</a:t>
            </a:r>
            <a:r>
              <a:rPr lang="en-US" dirty="0">
                <a:solidFill>
                  <a:srgbClr val="44546A"/>
                </a:solidFill>
                <a:latin typeface="Times New Roman"/>
                <a:ea typeface="Calibri"/>
                <a:cs typeface="Times New Roman"/>
              </a:rPr>
              <a:t>​ shows better differentiation and rightly indicated that document 1 and 2 are of interest</a:t>
            </a:r>
            <a:endParaRPr lang="en-US" dirty="0">
              <a:solidFill>
                <a:srgbClr val="44546A"/>
              </a:solidFill>
              <a:latin typeface="Times New Roman"/>
              <a:cs typeface="Times New Roman"/>
            </a:endParaRPr>
          </a:p>
        </p:txBody>
      </p:sp>
      <p:graphicFrame>
        <p:nvGraphicFramePr>
          <p:cNvPr id="6" name="Chart 5">
            <a:extLst>
              <a:ext uri="{FF2B5EF4-FFF2-40B4-BE49-F238E27FC236}">
                <a16:creationId xmlns:a16="http://schemas.microsoft.com/office/drawing/2014/main" id="{940625DC-FAE6-43AB-978C-AF91C09BD172}"/>
              </a:ext>
              <a:ext uri="{147F2762-F138-4A5C-976F-8EAC2B608ADB}">
                <a16:predDERef xmlns:a16="http://schemas.microsoft.com/office/drawing/2014/main" pred="{4222944D-636B-005D-DBC1-9F2C603A7AFC}"/>
              </a:ext>
            </a:extLst>
          </p:cNvPr>
          <p:cNvGraphicFramePr>
            <a:graphicFrameLocks/>
          </p:cNvGraphicFramePr>
          <p:nvPr>
            <p:extLst>
              <p:ext uri="{D42A27DB-BD31-4B8C-83A1-F6EECF244321}">
                <p14:modId xmlns:p14="http://schemas.microsoft.com/office/powerpoint/2010/main" val="3757880182"/>
              </p:ext>
            </p:extLst>
          </p:nvPr>
        </p:nvGraphicFramePr>
        <p:xfrm>
          <a:off x="838760" y="1571625"/>
          <a:ext cx="3951195" cy="3269876"/>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BE69E112-61D3-1EF6-0814-16EC47262068}"/>
              </a:ext>
            </a:extLst>
          </p:cNvPr>
          <p:cNvSpPr txBox="1"/>
          <p:nvPr/>
        </p:nvSpPr>
        <p:spPr>
          <a:xfrm>
            <a:off x="5448981" y="1194419"/>
            <a:ext cx="533449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44546A"/>
                </a:solidFill>
                <a:latin typeface="Times New Roman"/>
                <a:ea typeface="Calibri"/>
                <a:cs typeface="Times New Roman"/>
              </a:rPr>
              <a:t>Testing in real world example</a:t>
            </a:r>
            <a:endParaRPr lang="en-US">
              <a:solidFill>
                <a:srgbClr val="44546A"/>
              </a:solidFill>
              <a:latin typeface="Times New Roman"/>
              <a:cs typeface="Times New Roman"/>
            </a:endParaRPr>
          </a:p>
        </p:txBody>
      </p:sp>
      <p:graphicFrame>
        <p:nvGraphicFramePr>
          <p:cNvPr id="15" name="Table 14">
            <a:extLst>
              <a:ext uri="{FF2B5EF4-FFF2-40B4-BE49-F238E27FC236}">
                <a16:creationId xmlns:a16="http://schemas.microsoft.com/office/drawing/2014/main" id="{8AAD1B7C-EFFD-23CF-EC1C-78C77DED72B0}"/>
              </a:ext>
            </a:extLst>
          </p:cNvPr>
          <p:cNvGraphicFramePr>
            <a:graphicFrameLocks noGrp="1"/>
          </p:cNvGraphicFramePr>
          <p:nvPr>
            <p:extLst>
              <p:ext uri="{D42A27DB-BD31-4B8C-83A1-F6EECF244321}">
                <p14:modId xmlns:p14="http://schemas.microsoft.com/office/powerpoint/2010/main" val="3224980448"/>
              </p:ext>
            </p:extLst>
          </p:nvPr>
        </p:nvGraphicFramePr>
        <p:xfrm>
          <a:off x="5448694" y="1719822"/>
          <a:ext cx="6541497" cy="1298727"/>
        </p:xfrm>
        <a:graphic>
          <a:graphicData uri="http://schemas.openxmlformats.org/drawingml/2006/table">
            <a:tbl>
              <a:tblPr bandRow="1">
                <a:tableStyleId>{5C22544A-7EE6-4342-B048-85BDC9FD1C3A}</a:tableStyleId>
              </a:tblPr>
              <a:tblGrid>
                <a:gridCol w="2042492">
                  <a:extLst>
                    <a:ext uri="{9D8B030D-6E8A-4147-A177-3AD203B41FA5}">
                      <a16:colId xmlns:a16="http://schemas.microsoft.com/office/drawing/2014/main" val="1659719612"/>
                    </a:ext>
                  </a:extLst>
                </a:gridCol>
                <a:gridCol w="4499005">
                  <a:extLst>
                    <a:ext uri="{9D8B030D-6E8A-4147-A177-3AD203B41FA5}">
                      <a16:colId xmlns:a16="http://schemas.microsoft.com/office/drawing/2014/main" val="1774095289"/>
                    </a:ext>
                  </a:extLst>
                </a:gridCol>
              </a:tblGrid>
              <a:tr h="182038">
                <a:tc>
                  <a:txBody>
                    <a:bodyPr/>
                    <a:lstStyle/>
                    <a:p>
                      <a:pPr fontAlgn="ctr"/>
                      <a:r>
                        <a:rPr lang="en-US" sz="1100" dirty="0">
                          <a:effectLst/>
                          <a:latin typeface="Aptos Narrow"/>
                        </a:rPr>
                        <a:t>Inputs docs:</a:t>
                      </a:r>
                    </a:p>
                  </a:txBody>
                  <a:tcPr marL="9525" marR="9525" marT="9525" anchor="ctr">
                    <a:lnL>
                      <a:noFill/>
                    </a:lnL>
                    <a:lnR>
                      <a:noFill/>
                    </a:lnR>
                    <a:lnT>
                      <a:noFill/>
                    </a:lnT>
                    <a:lnB>
                      <a:noFill/>
                    </a:lnB>
                    <a:noFill/>
                  </a:tcPr>
                </a:tc>
                <a:tc>
                  <a:txBody>
                    <a:bodyPr/>
                    <a:lstStyle/>
                    <a:p>
                      <a:pPr fontAlgn="ctr"/>
                      <a:endParaRPr lang="en-US" sz="1100">
                        <a:effectLst/>
                        <a:latin typeface="Aptos Narrow" panose="020B0004020202020204" pitchFamily="34" charset="0"/>
                      </a:endParaRPr>
                    </a:p>
                  </a:txBody>
                  <a:tcPr marL="9525" marR="9525" marT="9525" anchor="ctr">
                    <a:lnL>
                      <a:noFill/>
                    </a:lnL>
                    <a:lnR>
                      <a:noFill/>
                    </a:lnR>
                    <a:lnT>
                      <a:noFill/>
                    </a:lnT>
                    <a:lnB>
                      <a:noFill/>
                    </a:lnB>
                    <a:noFill/>
                  </a:tcPr>
                </a:tc>
                <a:extLst>
                  <a:ext uri="{0D108BD9-81ED-4DB2-BD59-A6C34878D82A}">
                    <a16:rowId xmlns:a16="http://schemas.microsoft.com/office/drawing/2014/main" val="3809207694"/>
                  </a:ext>
                </a:extLst>
              </a:tr>
              <a:tr h="460448">
                <a:tc>
                  <a:txBody>
                    <a:bodyPr/>
                    <a:lstStyle/>
                    <a:p>
                      <a:pPr fontAlgn="b"/>
                      <a:r>
                        <a:rPr lang="en-US" sz="1100" dirty="0">
                          <a:effectLst/>
                          <a:latin typeface="Aptos Narrow"/>
                        </a:rPr>
                        <a:t>1. Multicultural Experiences</a:t>
                      </a:r>
                    </a:p>
                  </a:txBody>
                  <a:tcPr marL="9525" marR="9525" marT="9525" anchor="b">
                    <a:lnL>
                      <a:noFill/>
                    </a:lnL>
                    <a:lnR>
                      <a:noFill/>
                    </a:lnR>
                    <a:lnT>
                      <a:noFill/>
                    </a:lnT>
                    <a:lnB>
                      <a:noFill/>
                    </a:lnB>
                    <a:noFill/>
                  </a:tcPr>
                </a:tc>
                <a:tc>
                  <a:txBody>
                    <a:bodyPr/>
                    <a:lstStyle/>
                    <a:p>
                      <a:pPr fontAlgn="ctr"/>
                      <a:r>
                        <a:rPr lang="en-US" sz="1100" dirty="0">
                          <a:effectLst/>
                          <a:latin typeface="Aptos Narrow"/>
                        </a:rPr>
                        <a:t>32 page paper on cultural diversity. A round 8 pages talks extensively about impacts of cultural diversity on an individual level</a:t>
                      </a:r>
                    </a:p>
                  </a:txBody>
                  <a:tcPr marL="9525" marR="9525" marT="9525" anchor="ctr">
                    <a:lnL>
                      <a:noFill/>
                    </a:lnL>
                    <a:lnR>
                      <a:noFill/>
                    </a:lnR>
                    <a:lnT>
                      <a:noFill/>
                    </a:lnT>
                    <a:lnB>
                      <a:noFill/>
                    </a:lnB>
                    <a:noFill/>
                  </a:tcPr>
                </a:tc>
                <a:extLst>
                  <a:ext uri="{0D108BD9-81ED-4DB2-BD59-A6C34878D82A}">
                    <a16:rowId xmlns:a16="http://schemas.microsoft.com/office/drawing/2014/main" val="4126077558"/>
                  </a:ext>
                </a:extLst>
              </a:tr>
              <a:tr h="331951">
                <a:tc>
                  <a:txBody>
                    <a:bodyPr/>
                    <a:lstStyle/>
                    <a:p>
                      <a:pPr fontAlgn="b"/>
                      <a:r>
                        <a:rPr lang="en-US" sz="1100" dirty="0">
                          <a:effectLst/>
                          <a:latin typeface="Aptos Narrow"/>
                        </a:rPr>
                        <a:t>2. Team work in a multicultural context</a:t>
                      </a:r>
                    </a:p>
                  </a:txBody>
                  <a:tcPr marL="9525" marR="9525" marT="9525" anchor="b">
                    <a:lnL>
                      <a:noFill/>
                    </a:lnL>
                    <a:lnR>
                      <a:noFill/>
                    </a:lnR>
                    <a:lnT>
                      <a:noFill/>
                    </a:lnT>
                    <a:lnB>
                      <a:noFill/>
                    </a:lnB>
                    <a:noFill/>
                  </a:tcPr>
                </a:tc>
                <a:tc>
                  <a:txBody>
                    <a:bodyPr/>
                    <a:lstStyle/>
                    <a:p>
                      <a:pPr fontAlgn="ctr"/>
                      <a:r>
                        <a:rPr lang="en-US" sz="1100" dirty="0">
                          <a:effectLst/>
                          <a:latin typeface="Aptos Narrow"/>
                        </a:rPr>
                        <a:t>5 page paper on team work. Does not talk about impact on individuals but only on the team</a:t>
                      </a:r>
                    </a:p>
                  </a:txBody>
                  <a:tcPr marL="9525" marR="9525" marT="9525" anchor="ctr">
                    <a:lnL>
                      <a:noFill/>
                    </a:lnL>
                    <a:lnR>
                      <a:noFill/>
                    </a:lnR>
                    <a:lnT>
                      <a:noFill/>
                    </a:lnT>
                    <a:lnB>
                      <a:noFill/>
                    </a:lnB>
                    <a:noFill/>
                  </a:tcPr>
                </a:tc>
                <a:extLst>
                  <a:ext uri="{0D108BD9-81ED-4DB2-BD59-A6C34878D82A}">
                    <a16:rowId xmlns:a16="http://schemas.microsoft.com/office/drawing/2014/main" val="2069669429"/>
                  </a:ext>
                </a:extLst>
              </a:tr>
              <a:tr h="224869">
                <a:tc>
                  <a:txBody>
                    <a:bodyPr/>
                    <a:lstStyle/>
                    <a:p>
                      <a:pPr fontAlgn="b"/>
                      <a:r>
                        <a:rPr lang="en-US" sz="1100" dirty="0">
                          <a:effectLst/>
                          <a:latin typeface="Aptos Narrow"/>
                        </a:rPr>
                        <a:t>Expected output:</a:t>
                      </a:r>
                    </a:p>
                  </a:txBody>
                  <a:tcPr marL="9525" marR="9525" marT="9525" anchor="b">
                    <a:lnL>
                      <a:noFill/>
                    </a:lnL>
                    <a:lnR>
                      <a:noFill/>
                    </a:lnR>
                    <a:lnT>
                      <a:noFill/>
                    </a:lnT>
                    <a:lnB>
                      <a:noFill/>
                    </a:lnB>
                    <a:noFill/>
                  </a:tcPr>
                </a:tc>
                <a:tc>
                  <a:txBody>
                    <a:bodyPr/>
                    <a:lstStyle/>
                    <a:p>
                      <a:pPr fontAlgn="ctr"/>
                      <a:r>
                        <a:rPr lang="en-US" sz="1100" dirty="0">
                          <a:effectLst/>
                          <a:latin typeface="Aptos Narrow"/>
                        </a:rPr>
                        <a:t>1 &gt; 2</a:t>
                      </a:r>
                    </a:p>
                  </a:txBody>
                  <a:tcPr marL="9525" marR="9525" marT="9525" anchor="ctr">
                    <a:lnL>
                      <a:noFill/>
                    </a:lnL>
                    <a:lnR>
                      <a:noFill/>
                    </a:lnR>
                    <a:lnT>
                      <a:noFill/>
                    </a:lnT>
                    <a:lnB>
                      <a:noFill/>
                    </a:lnB>
                    <a:noFill/>
                  </a:tcPr>
                </a:tc>
                <a:extLst>
                  <a:ext uri="{0D108BD9-81ED-4DB2-BD59-A6C34878D82A}">
                    <a16:rowId xmlns:a16="http://schemas.microsoft.com/office/drawing/2014/main" val="566240933"/>
                  </a:ext>
                </a:extLst>
              </a:tr>
            </a:tbl>
          </a:graphicData>
        </a:graphic>
      </p:graphicFrame>
      <p:graphicFrame>
        <p:nvGraphicFramePr>
          <p:cNvPr id="27" name="Chart 26">
            <a:extLst>
              <a:ext uri="{FF2B5EF4-FFF2-40B4-BE49-F238E27FC236}">
                <a16:creationId xmlns:a16="http://schemas.microsoft.com/office/drawing/2014/main" id="{385AF4F3-2C59-52F9-C94A-F97DDEA47F3E}"/>
              </a:ext>
              <a:ext uri="{147F2762-F138-4A5C-976F-8EAC2B608ADB}">
                <a16:predDERef xmlns:a16="http://schemas.microsoft.com/office/drawing/2014/main" pred="{7C5BCB18-0436-9C74-11CF-C05075B5C041}"/>
              </a:ext>
            </a:extLst>
          </p:cNvPr>
          <p:cNvGraphicFramePr>
            <a:graphicFrameLocks/>
          </p:cNvGraphicFramePr>
          <p:nvPr>
            <p:extLst>
              <p:ext uri="{D42A27DB-BD31-4B8C-83A1-F6EECF244321}">
                <p14:modId xmlns:p14="http://schemas.microsoft.com/office/powerpoint/2010/main" val="1472724241"/>
              </p:ext>
            </p:extLst>
          </p:nvPr>
        </p:nvGraphicFramePr>
        <p:xfrm>
          <a:off x="5449814" y="3236587"/>
          <a:ext cx="1889643" cy="23588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Chart 1">
            <a:extLst>
              <a:ext uri="{FF2B5EF4-FFF2-40B4-BE49-F238E27FC236}">
                <a16:creationId xmlns:a16="http://schemas.microsoft.com/office/drawing/2014/main" id="{365B666B-310D-48D3-88A6-CED50B2EB8D4}"/>
              </a:ext>
              <a:ext uri="{147F2762-F138-4A5C-976F-8EAC2B608ADB}">
                <a16:predDERef xmlns:a16="http://schemas.microsoft.com/office/drawing/2014/main" pred="{10CF0A3E-2E99-A9E3-CEE3-0C5433927378}"/>
              </a:ext>
            </a:extLst>
          </p:cNvPr>
          <p:cNvGraphicFramePr>
            <a:graphicFrameLocks/>
          </p:cNvGraphicFramePr>
          <p:nvPr>
            <p:extLst>
              <p:ext uri="{D42A27DB-BD31-4B8C-83A1-F6EECF244321}">
                <p14:modId xmlns:p14="http://schemas.microsoft.com/office/powerpoint/2010/main" val="1347726197"/>
              </p:ext>
            </p:extLst>
          </p:nvPr>
        </p:nvGraphicFramePr>
        <p:xfrm>
          <a:off x="8607783" y="3233671"/>
          <a:ext cx="1879779" cy="2346370"/>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a:extLst>
              <a:ext uri="{FF2B5EF4-FFF2-40B4-BE49-F238E27FC236}">
                <a16:creationId xmlns:a16="http://schemas.microsoft.com/office/drawing/2014/main" id="{85A5E6DE-435E-32E5-42C6-D12F1F46D129}"/>
              </a:ext>
            </a:extLst>
          </p:cNvPr>
          <p:cNvSpPr txBox="1"/>
          <p:nvPr/>
        </p:nvSpPr>
        <p:spPr>
          <a:xfrm>
            <a:off x="5444471" y="5585300"/>
            <a:ext cx="2334182"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44546A"/>
                </a:solidFill>
                <a:latin typeface="Times New Roman"/>
                <a:ea typeface="Calibri"/>
                <a:cs typeface="Times New Roman"/>
              </a:rPr>
              <a:t>Before taking exponentially weighted mean of similarities no differentiation</a:t>
            </a:r>
            <a:endParaRPr lang="en-US" sz="1400" dirty="0">
              <a:solidFill>
                <a:srgbClr val="44546A"/>
              </a:solidFill>
              <a:latin typeface="Times New Roman"/>
              <a:cs typeface="Times New Roman"/>
            </a:endParaRPr>
          </a:p>
        </p:txBody>
      </p:sp>
      <p:sp>
        <p:nvSpPr>
          <p:cNvPr id="8" name="TextBox 7">
            <a:extLst>
              <a:ext uri="{FF2B5EF4-FFF2-40B4-BE49-F238E27FC236}">
                <a16:creationId xmlns:a16="http://schemas.microsoft.com/office/drawing/2014/main" id="{8CD504C0-7299-FCD8-DA12-BFA25D0F8BC8}"/>
              </a:ext>
            </a:extLst>
          </p:cNvPr>
          <p:cNvSpPr txBox="1"/>
          <p:nvPr/>
        </p:nvSpPr>
        <p:spPr>
          <a:xfrm>
            <a:off x="8298287" y="5572259"/>
            <a:ext cx="368765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44546A"/>
                </a:solidFill>
                <a:latin typeface="Times New Roman"/>
                <a:cs typeface="Times New Roman"/>
              </a:rPr>
              <a:t>After taking exponentially weighted mean of similarities correctly detects relevant content in document 1</a:t>
            </a:r>
            <a:endParaRPr lang="en-US" sz="1400" dirty="0">
              <a:solidFill>
                <a:srgbClr val="44546A"/>
              </a:solidFill>
              <a:latin typeface="Times New Roman"/>
              <a:ea typeface="Calibri"/>
              <a:cs typeface="Times New Roman"/>
            </a:endParaRPr>
          </a:p>
        </p:txBody>
      </p:sp>
      <p:cxnSp>
        <p:nvCxnSpPr>
          <p:cNvPr id="10" name="Straight Arrow Connector 9">
            <a:extLst>
              <a:ext uri="{FF2B5EF4-FFF2-40B4-BE49-F238E27FC236}">
                <a16:creationId xmlns:a16="http://schemas.microsoft.com/office/drawing/2014/main" id="{CA5B0658-4187-C6FD-AEAB-5182D365E13D}"/>
              </a:ext>
            </a:extLst>
          </p:cNvPr>
          <p:cNvCxnSpPr/>
          <p:nvPr/>
        </p:nvCxnSpPr>
        <p:spPr>
          <a:xfrm>
            <a:off x="5038795" y="1189856"/>
            <a:ext cx="21226" cy="5253419"/>
          </a:xfrm>
          <a:prstGeom prst="straightConnector1">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0718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56AC7B-B6A9-6A1D-1563-5B3C264EACF4}"/>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0913481C-533A-9AF8-F145-1E6E0FCEB1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17" name="Freeform: Shape 16">
              <a:extLst>
                <a:ext uri="{FF2B5EF4-FFF2-40B4-BE49-F238E27FC236}">
                  <a16:creationId xmlns:a16="http://schemas.microsoft.com/office/drawing/2014/main" id="{11275D04-7264-1F70-6346-08FC9644BC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8" name="Freeform: Shape 17">
              <a:extLst>
                <a:ext uri="{FF2B5EF4-FFF2-40B4-BE49-F238E27FC236}">
                  <a16:creationId xmlns:a16="http://schemas.microsoft.com/office/drawing/2014/main" id="{9B96DA89-3D70-8E1E-F005-3EF801CE60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9" name="Freeform: Shape 18">
              <a:extLst>
                <a:ext uri="{FF2B5EF4-FFF2-40B4-BE49-F238E27FC236}">
                  <a16:creationId xmlns:a16="http://schemas.microsoft.com/office/drawing/2014/main" id="{0DF9DF88-8781-2A60-3A32-4296BAEAB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solidFill>
                  <a:srgbClr val="44546A"/>
                </a:solidFill>
                <a:latin typeface="Times New Roman"/>
                <a:cs typeface="Times New Roman"/>
              </a:endParaRPr>
            </a:p>
          </p:txBody>
        </p:sp>
        <p:sp>
          <p:nvSpPr>
            <p:cNvPr id="20" name="Freeform: Shape 19">
              <a:extLst>
                <a:ext uri="{FF2B5EF4-FFF2-40B4-BE49-F238E27FC236}">
                  <a16:creationId xmlns:a16="http://schemas.microsoft.com/office/drawing/2014/main" id="{99A66571-AA11-1B8D-649D-A4C243FD1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grpSp>
      <p:sp>
        <p:nvSpPr>
          <p:cNvPr id="4" name="Date Placeholder 3">
            <a:extLst>
              <a:ext uri="{FF2B5EF4-FFF2-40B4-BE49-F238E27FC236}">
                <a16:creationId xmlns:a16="http://schemas.microsoft.com/office/drawing/2014/main" id="{2DAD11D3-FB6C-31AA-4B1B-402B1C1235B0}"/>
              </a:ext>
            </a:extLst>
          </p:cNvPr>
          <p:cNvSpPr>
            <a:spLocks noGrp="1"/>
          </p:cNvSpPr>
          <p:nvPr>
            <p:ph type="dt" sz="half" idx="10"/>
          </p:nvPr>
        </p:nvSpPr>
        <p:spPr>
          <a:xfrm>
            <a:off x="804672" y="6356350"/>
            <a:ext cx="2743200" cy="365125"/>
          </a:xfrm>
        </p:spPr>
        <p:txBody>
          <a:bodyPr vert="horz" lIns="91440" tIns="45720" rIns="91440" bIns="45720" rtlCol="0" anchor="ctr">
            <a:normAutofit/>
          </a:bodyPr>
          <a:lstStyle/>
          <a:p>
            <a:pPr>
              <a:spcAft>
                <a:spcPts val="600"/>
              </a:spcAft>
            </a:pPr>
            <a:fld id="{22F31666-E5A2-49F1-A135-D16890EDB7A4}" type="datetime1">
              <a:rPr lang="en-US"/>
              <a:pPr>
                <a:spcAft>
                  <a:spcPts val="600"/>
                </a:spcAft>
              </a:pPr>
              <a:t>3/31/2025</a:t>
            </a:fld>
            <a:endParaRPr lang="en-US"/>
          </a:p>
        </p:txBody>
      </p:sp>
      <p:grpSp>
        <p:nvGrpSpPr>
          <p:cNvPr id="22" name="Group 21">
            <a:extLst>
              <a:ext uri="{FF2B5EF4-FFF2-40B4-BE49-F238E27FC236}">
                <a16:creationId xmlns:a16="http://schemas.microsoft.com/office/drawing/2014/main" id="{48EADFAF-97E8-12B5-14BA-9A2900BEBDD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23" name="Freeform: Shape 22">
              <a:extLst>
                <a:ext uri="{FF2B5EF4-FFF2-40B4-BE49-F238E27FC236}">
                  <a16:creationId xmlns:a16="http://schemas.microsoft.com/office/drawing/2014/main" id="{3D0751AD-1D8C-0B28-8B2D-717CA31A0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24" name="Freeform: Shape 23">
              <a:extLst>
                <a:ext uri="{FF2B5EF4-FFF2-40B4-BE49-F238E27FC236}">
                  <a16:creationId xmlns:a16="http://schemas.microsoft.com/office/drawing/2014/main" id="{61543F9C-6B93-AFB4-8A61-35AEEAB440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sp>
          <p:nvSpPr>
            <p:cNvPr id="25" name="Freeform: Shape 24">
              <a:extLst>
                <a:ext uri="{FF2B5EF4-FFF2-40B4-BE49-F238E27FC236}">
                  <a16:creationId xmlns:a16="http://schemas.microsoft.com/office/drawing/2014/main" id="{A0881793-4348-6D0B-AB7D-91CC61910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sp>
          <p:nvSpPr>
            <p:cNvPr id="26" name="Freeform: Shape 25">
              <a:extLst>
                <a:ext uri="{FF2B5EF4-FFF2-40B4-BE49-F238E27FC236}">
                  <a16:creationId xmlns:a16="http://schemas.microsoft.com/office/drawing/2014/main" id="{BB5401F9-D528-D68E-230A-3F85C7BB83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grpSp>
      <p:sp>
        <p:nvSpPr>
          <p:cNvPr id="11" name="TextBox 10">
            <a:extLst>
              <a:ext uri="{FF2B5EF4-FFF2-40B4-BE49-F238E27FC236}">
                <a16:creationId xmlns:a16="http://schemas.microsoft.com/office/drawing/2014/main" id="{E6A892E6-4F89-B9D1-AD17-AFCC59F480E1}"/>
              </a:ext>
            </a:extLst>
          </p:cNvPr>
          <p:cNvSpPr txBox="1"/>
          <p:nvPr/>
        </p:nvSpPr>
        <p:spPr>
          <a:xfrm>
            <a:off x="1002336" y="6314719"/>
            <a:ext cx="23165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solidFill>
                <a:srgbClr val="44546A"/>
              </a:solidFill>
              <a:latin typeface="Times New Roman"/>
              <a:cs typeface="Times New Roman"/>
            </a:endParaRPr>
          </a:p>
        </p:txBody>
      </p:sp>
      <p:sp>
        <p:nvSpPr>
          <p:cNvPr id="14" name="Slide Number Placeholder 5">
            <a:extLst>
              <a:ext uri="{FF2B5EF4-FFF2-40B4-BE49-F238E27FC236}">
                <a16:creationId xmlns:a16="http://schemas.microsoft.com/office/drawing/2014/main" id="{77E1C8FF-EB04-2CEC-45C1-25B84C2F28DE}"/>
              </a:ext>
            </a:extLst>
          </p:cNvPr>
          <p:cNvSpPr>
            <a:spLocks noGrp="1"/>
          </p:cNvSpPr>
          <p:nvPr>
            <p:ph type="sldNum" sz="quarter" idx="12"/>
          </p:nvPr>
        </p:nvSpPr>
        <p:spPr>
          <a:xfrm>
            <a:off x="8610600" y="6356350"/>
            <a:ext cx="2743200" cy="365125"/>
          </a:xfrm>
        </p:spPr>
        <p:txBody>
          <a:bodyPr/>
          <a:lstStyle/>
          <a:p>
            <a:fld id="{A65A5C87-DF58-40C8-B092-1DE63DB4547E}" type="slidenum">
              <a:rPr lang="en-US" dirty="0">
                <a:solidFill>
                  <a:srgbClr val="44546A"/>
                </a:solidFill>
                <a:latin typeface="Times New Roman"/>
                <a:cs typeface="Times New Roman"/>
              </a:rPr>
              <a:t>12</a:t>
            </a:fld>
            <a:endParaRPr lang="en-US" dirty="0">
              <a:solidFill>
                <a:srgbClr val="44546A"/>
              </a:solidFill>
              <a:latin typeface="Times New Roman"/>
              <a:cs typeface="Times New Roman"/>
            </a:endParaRPr>
          </a:p>
        </p:txBody>
      </p:sp>
      <p:sp>
        <p:nvSpPr>
          <p:cNvPr id="13" name="TextBox 12">
            <a:extLst>
              <a:ext uri="{FF2B5EF4-FFF2-40B4-BE49-F238E27FC236}">
                <a16:creationId xmlns:a16="http://schemas.microsoft.com/office/drawing/2014/main" id="{B72AC746-BE11-5A6D-FF46-9CC1BF52F427}"/>
              </a:ext>
            </a:extLst>
          </p:cNvPr>
          <p:cNvSpPr txBox="1"/>
          <p:nvPr/>
        </p:nvSpPr>
        <p:spPr>
          <a:xfrm>
            <a:off x="603160" y="442175"/>
            <a:ext cx="1204818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solidFill>
                  <a:srgbClr val="44546A"/>
                </a:solidFill>
                <a:latin typeface="Times New Roman"/>
                <a:ea typeface="Calibri Light"/>
                <a:cs typeface="Times New Roman"/>
              </a:rPr>
              <a:t>Mode – Compare Documents with Documents​</a:t>
            </a:r>
            <a:endParaRPr lang="en-US">
              <a:solidFill>
                <a:srgbClr val="44546A"/>
              </a:solidFill>
              <a:latin typeface="Times New Roman"/>
              <a:cs typeface="Times New Roman"/>
            </a:endParaRPr>
          </a:p>
        </p:txBody>
      </p:sp>
      <p:sp>
        <p:nvSpPr>
          <p:cNvPr id="21" name="TextBox 20">
            <a:extLst>
              <a:ext uri="{FF2B5EF4-FFF2-40B4-BE49-F238E27FC236}">
                <a16:creationId xmlns:a16="http://schemas.microsoft.com/office/drawing/2014/main" id="{3FD9E822-DFEA-B288-4385-D4F37B51E301}"/>
              </a:ext>
            </a:extLst>
          </p:cNvPr>
          <p:cNvSpPr txBox="1"/>
          <p:nvPr/>
        </p:nvSpPr>
        <p:spPr>
          <a:xfrm>
            <a:off x="600731" y="1163062"/>
            <a:ext cx="11091054"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a:solidFill>
                  <a:srgbClr val="44546A"/>
                </a:solidFill>
                <a:latin typeface="Times New Roman"/>
                <a:ea typeface="+mn-lt"/>
                <a:cs typeface="Times New Roman"/>
              </a:rPr>
              <a:t>Goal</a:t>
            </a:r>
            <a:r>
              <a:rPr lang="en-US">
                <a:solidFill>
                  <a:srgbClr val="44546A"/>
                </a:solidFill>
                <a:latin typeface="Times New Roman"/>
                <a:ea typeface="+mn-lt"/>
                <a:cs typeface="Times New Roman"/>
              </a:rPr>
              <a:t> – Identify documents that are similar in overall content and context. Using a single embedding per document effectively captures the general semantic meaning, allowing for efficient similarity comparisons.</a:t>
            </a:r>
            <a:endParaRPr lang="en-US">
              <a:solidFill>
                <a:srgbClr val="44546A"/>
              </a:solidFill>
              <a:latin typeface="Times New Roman"/>
              <a:cs typeface="Times New Roman"/>
            </a:endParaRPr>
          </a:p>
          <a:p>
            <a:pPr algn="just"/>
            <a:endParaRPr lang="en-US" dirty="0">
              <a:solidFill>
                <a:srgbClr val="44546A"/>
              </a:solidFill>
              <a:latin typeface="Times New Roman"/>
              <a:ea typeface="+mn-lt"/>
              <a:cs typeface="Times New Roman"/>
            </a:endParaRPr>
          </a:p>
          <a:p>
            <a:pPr algn="just"/>
            <a:r>
              <a:rPr lang="en-US">
                <a:solidFill>
                  <a:srgbClr val="44546A"/>
                </a:solidFill>
                <a:latin typeface="Times New Roman"/>
                <a:ea typeface="+mn-lt"/>
                <a:cs typeface="Times New Roman"/>
              </a:rPr>
              <a:t>This approach follows a similar method as word/phrase-to-word/phrase comparison. Only for large documents exceeding </a:t>
            </a:r>
            <a:r>
              <a:rPr lang="en-US" dirty="0">
                <a:solidFill>
                  <a:srgbClr val="44546A"/>
                </a:solidFill>
                <a:latin typeface="Times New Roman"/>
                <a:ea typeface="+mn-lt"/>
                <a:cs typeface="Times New Roman"/>
              </a:rPr>
              <a:t>the token limit, the document is divided into chunks, and the mean of the embeddings is computed to generate a single representative vector. This ensures efficient and scalable similarity analysis while preserving the overall semantic meaning of the document.</a:t>
            </a:r>
            <a:endParaRPr lang="en-US" dirty="0">
              <a:solidFill>
                <a:srgbClr val="44546A"/>
              </a:solidFill>
              <a:latin typeface="Times New Roman"/>
              <a:ea typeface="Calibri" panose="020F0502020204030204"/>
              <a:cs typeface="Times New Roman"/>
            </a:endParaRPr>
          </a:p>
        </p:txBody>
      </p:sp>
      <p:sp>
        <p:nvSpPr>
          <p:cNvPr id="28" name="TextBox 27">
            <a:extLst>
              <a:ext uri="{FF2B5EF4-FFF2-40B4-BE49-F238E27FC236}">
                <a16:creationId xmlns:a16="http://schemas.microsoft.com/office/drawing/2014/main" id="{59EFF06F-A06B-2528-961C-F5ADAC2D2298}"/>
              </a:ext>
            </a:extLst>
          </p:cNvPr>
          <p:cNvSpPr txBox="1"/>
          <p:nvPr/>
        </p:nvSpPr>
        <p:spPr>
          <a:xfrm>
            <a:off x="603161" y="3309870"/>
            <a:ext cx="1108226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solidFill>
                  <a:srgbClr val="44546A"/>
                </a:solidFill>
                <a:latin typeface="Times New Roman"/>
                <a:cs typeface="Times New Roman"/>
              </a:rPr>
              <a:t>Best OpenAI embedding model and similarity metric</a:t>
            </a:r>
          </a:p>
        </p:txBody>
      </p:sp>
      <p:sp>
        <p:nvSpPr>
          <p:cNvPr id="29" name="TextBox 28">
            <a:extLst>
              <a:ext uri="{FF2B5EF4-FFF2-40B4-BE49-F238E27FC236}">
                <a16:creationId xmlns:a16="http://schemas.microsoft.com/office/drawing/2014/main" id="{10B7F7ED-B1CE-77A7-C373-6FC273D198E8}"/>
              </a:ext>
            </a:extLst>
          </p:cNvPr>
          <p:cNvSpPr txBox="1"/>
          <p:nvPr/>
        </p:nvSpPr>
        <p:spPr>
          <a:xfrm>
            <a:off x="608138" y="4048781"/>
            <a:ext cx="11088316"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rgbClr val="44546A"/>
                </a:solidFill>
                <a:latin typeface="Times New Roman"/>
                <a:ea typeface="+mn-lt"/>
                <a:cs typeface="Times New Roman"/>
              </a:rPr>
              <a:t>The OpenAI embedding models - text-embedding-ada-002, text-embedding-3-small, and text-embedding-3-large were compared. Among these, </a:t>
            </a:r>
            <a:r>
              <a:rPr lang="en-US" b="1" dirty="0">
                <a:solidFill>
                  <a:srgbClr val="44546A"/>
                </a:solidFill>
                <a:latin typeface="Times New Roman"/>
                <a:ea typeface="+mn-lt"/>
                <a:cs typeface="Times New Roman"/>
              </a:rPr>
              <a:t>text-embedding-3-large</a:t>
            </a:r>
            <a:r>
              <a:rPr lang="en-US" dirty="0">
                <a:solidFill>
                  <a:srgbClr val="44546A"/>
                </a:solidFill>
                <a:latin typeface="Times New Roman"/>
                <a:ea typeface="+mn-lt"/>
                <a:cs typeface="Times New Roman"/>
              </a:rPr>
              <a:t> was found to be the most effective for capturing semantic relationships.</a:t>
            </a:r>
            <a:endParaRPr lang="en-US">
              <a:solidFill>
                <a:srgbClr val="44546A"/>
              </a:solidFill>
              <a:latin typeface="Times New Roman"/>
              <a:cs typeface="Times New Roman"/>
            </a:endParaRPr>
          </a:p>
          <a:p>
            <a:pPr algn="just"/>
            <a:endParaRPr lang="en-US" dirty="0">
              <a:solidFill>
                <a:srgbClr val="44546A"/>
              </a:solidFill>
              <a:latin typeface="Times New Roman"/>
              <a:ea typeface="+mn-lt"/>
              <a:cs typeface="Times New Roman"/>
            </a:endParaRPr>
          </a:p>
          <a:p>
            <a:pPr algn="just"/>
            <a:r>
              <a:rPr lang="en-US" dirty="0">
                <a:solidFill>
                  <a:srgbClr val="44546A"/>
                </a:solidFill>
                <a:latin typeface="Times New Roman"/>
                <a:ea typeface="+mn-lt"/>
                <a:cs typeface="Times New Roman"/>
              </a:rPr>
              <a:t>For similarity metrics, cosine similarity, dot product, Euclidean distance, and Jaccard similarity were evaluated. </a:t>
            </a:r>
          </a:p>
          <a:p>
            <a:pPr algn="just"/>
            <a:r>
              <a:rPr lang="en-US" b="1">
                <a:solidFill>
                  <a:srgbClr val="44546A"/>
                </a:solidFill>
                <a:latin typeface="Times New Roman"/>
                <a:ea typeface="+mn-lt"/>
                <a:cs typeface="Times New Roman"/>
              </a:rPr>
              <a:t>Cosine </a:t>
            </a:r>
            <a:r>
              <a:rPr lang="en-US" b="1" dirty="0">
                <a:solidFill>
                  <a:srgbClr val="44546A"/>
                </a:solidFill>
                <a:latin typeface="Times New Roman"/>
                <a:ea typeface="+mn-lt"/>
                <a:cs typeface="Times New Roman"/>
              </a:rPr>
              <a:t>similarity</a:t>
            </a:r>
            <a:r>
              <a:rPr lang="en-US" dirty="0">
                <a:solidFill>
                  <a:srgbClr val="44546A"/>
                </a:solidFill>
                <a:latin typeface="Times New Roman"/>
                <a:ea typeface="+mn-lt"/>
                <a:cs typeface="Times New Roman"/>
              </a:rPr>
              <a:t> was chosen as it is independent of vector magnitude and performed best in distinguishing relevant documents.</a:t>
            </a:r>
            <a:endParaRPr lang="en-US">
              <a:solidFill>
                <a:srgbClr val="44546A"/>
              </a:solidFill>
              <a:latin typeface="Times New Roman"/>
              <a:ea typeface="Calibri"/>
              <a:cs typeface="Times New Roman"/>
            </a:endParaRPr>
          </a:p>
        </p:txBody>
      </p:sp>
    </p:spTree>
    <p:extLst>
      <p:ext uri="{BB962C8B-B14F-4D97-AF65-F5344CB8AC3E}">
        <p14:creationId xmlns:p14="http://schemas.microsoft.com/office/powerpoint/2010/main" val="3485368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21750-3CA4-1D90-B2AF-7C3D69E71C1A}"/>
              </a:ext>
            </a:extLst>
          </p:cNvPr>
          <p:cNvSpPr>
            <a:spLocks noGrp="1"/>
          </p:cNvSpPr>
          <p:nvPr>
            <p:ph type="title"/>
          </p:nvPr>
        </p:nvSpPr>
        <p:spPr/>
        <p:txBody>
          <a:bodyPr/>
          <a:lstStyle/>
          <a:p>
            <a:r>
              <a:rPr lang="en-US">
                <a:ea typeface="Calibri Light"/>
                <a:cs typeface="Calibri Light"/>
              </a:rPr>
              <a:t>Python app for visualization</a:t>
            </a:r>
            <a:endParaRPr lang="en-US"/>
          </a:p>
        </p:txBody>
      </p:sp>
      <p:grpSp>
        <p:nvGrpSpPr>
          <p:cNvPr id="9" name="Group 8">
            <a:extLst>
              <a:ext uri="{FF2B5EF4-FFF2-40B4-BE49-F238E27FC236}">
                <a16:creationId xmlns:a16="http://schemas.microsoft.com/office/drawing/2014/main" id="{12BC76B9-0FBC-57FB-EF09-E6D7607ACD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5" name="Freeform: Shape 4">
              <a:extLst>
                <a:ext uri="{FF2B5EF4-FFF2-40B4-BE49-F238E27FC236}">
                  <a16:creationId xmlns:a16="http://schemas.microsoft.com/office/drawing/2014/main" id="{AF2E5846-7742-57A4-4679-7076792A31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FC04BAD3-D14F-925E-4F0F-4A5FEBC108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B159F1A1-F86E-9913-DE8D-AC70E9D08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8" name="Freeform: Shape 7">
              <a:extLst>
                <a:ext uri="{FF2B5EF4-FFF2-40B4-BE49-F238E27FC236}">
                  <a16:creationId xmlns:a16="http://schemas.microsoft.com/office/drawing/2014/main" id="{0AE2F2C7-67FB-9FBD-2C07-12E0959F6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1" name="Content Placeholder 20" descr="A screenshot of a computer&#10;&#10;AI-generated content may be incorrect.">
            <a:extLst>
              <a:ext uri="{FF2B5EF4-FFF2-40B4-BE49-F238E27FC236}">
                <a16:creationId xmlns:a16="http://schemas.microsoft.com/office/drawing/2014/main" id="{A17F5883-2D18-39A2-0B31-D19E2D478AAA}"/>
              </a:ext>
            </a:extLst>
          </p:cNvPr>
          <p:cNvPicPr>
            <a:picLocks noGrp="1" noChangeAspect="1"/>
          </p:cNvPicPr>
          <p:nvPr>
            <p:ph idx="1"/>
          </p:nvPr>
        </p:nvPicPr>
        <p:blipFill>
          <a:blip r:embed="rId2"/>
          <a:stretch>
            <a:fillRect/>
          </a:stretch>
        </p:blipFill>
        <p:spPr>
          <a:xfrm>
            <a:off x="837127" y="1463178"/>
            <a:ext cx="10517746" cy="4539610"/>
          </a:xfrm>
        </p:spPr>
      </p:pic>
      <p:sp>
        <p:nvSpPr>
          <p:cNvPr id="22" name="TextBox 21">
            <a:extLst>
              <a:ext uri="{FF2B5EF4-FFF2-40B4-BE49-F238E27FC236}">
                <a16:creationId xmlns:a16="http://schemas.microsoft.com/office/drawing/2014/main" id="{BDAB464A-EC55-E36D-8575-79FABC786F8E}"/>
              </a:ext>
            </a:extLst>
          </p:cNvPr>
          <p:cNvSpPr txBox="1"/>
          <p:nvPr/>
        </p:nvSpPr>
        <p:spPr>
          <a:xfrm>
            <a:off x="845680" y="6003106"/>
            <a:ext cx="91704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Sample view of the visualization app using python (plotly – dash application)</a:t>
            </a:r>
            <a:endParaRPr lang="en-US" dirty="0">
              <a:ea typeface="Calibri"/>
              <a:cs typeface="Calibri"/>
            </a:endParaRPr>
          </a:p>
        </p:txBody>
      </p:sp>
    </p:spTree>
    <p:extLst>
      <p:ext uri="{BB962C8B-B14F-4D97-AF65-F5344CB8AC3E}">
        <p14:creationId xmlns:p14="http://schemas.microsoft.com/office/powerpoint/2010/main" val="2231961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F7AC4-8546-2406-0CAD-FA659BE17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8EE94-8F04-C2C2-49C7-6B318A9B1F05}"/>
              </a:ext>
            </a:extLst>
          </p:cNvPr>
          <p:cNvSpPr>
            <a:spLocks noGrp="1"/>
          </p:cNvSpPr>
          <p:nvPr>
            <p:ph type="title"/>
          </p:nvPr>
        </p:nvSpPr>
        <p:spPr>
          <a:xfrm>
            <a:off x="838200" y="100965"/>
            <a:ext cx="10515600" cy="1325563"/>
          </a:xfrm>
        </p:spPr>
        <p:txBody>
          <a:bodyPr/>
          <a:lstStyle/>
          <a:p>
            <a:r>
              <a:rPr lang="en-US" dirty="0">
                <a:solidFill>
                  <a:srgbClr val="44546A"/>
                </a:solidFill>
                <a:latin typeface="Times New Roman"/>
                <a:ea typeface="Calibri Light"/>
                <a:cs typeface="Times New Roman"/>
              </a:rPr>
              <a:t>Results</a:t>
            </a:r>
            <a:endParaRPr lang="en-US" dirty="0">
              <a:solidFill>
                <a:srgbClr val="44546A"/>
              </a:solidFill>
              <a:latin typeface="Times New Roman"/>
              <a:cs typeface="Times New Roman"/>
            </a:endParaRPr>
          </a:p>
        </p:txBody>
      </p:sp>
      <p:grpSp>
        <p:nvGrpSpPr>
          <p:cNvPr id="9" name="Group 8">
            <a:extLst>
              <a:ext uri="{FF2B5EF4-FFF2-40B4-BE49-F238E27FC236}">
                <a16:creationId xmlns:a16="http://schemas.microsoft.com/office/drawing/2014/main" id="{BFD70D00-01C0-E97F-1F08-FCF70D5B30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5" name="Freeform: Shape 4">
              <a:extLst>
                <a:ext uri="{FF2B5EF4-FFF2-40B4-BE49-F238E27FC236}">
                  <a16:creationId xmlns:a16="http://schemas.microsoft.com/office/drawing/2014/main" id="{7FBFDB35-629A-04DE-B398-53B0AB149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6" name="Freeform: Shape 5">
              <a:extLst>
                <a:ext uri="{FF2B5EF4-FFF2-40B4-BE49-F238E27FC236}">
                  <a16:creationId xmlns:a16="http://schemas.microsoft.com/office/drawing/2014/main" id="{09281D1C-2997-F957-A19D-29D70FA503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7" name="Freeform: Shape 6">
              <a:extLst>
                <a:ext uri="{FF2B5EF4-FFF2-40B4-BE49-F238E27FC236}">
                  <a16:creationId xmlns:a16="http://schemas.microsoft.com/office/drawing/2014/main" id="{B849AC20-04BC-13C7-7BFC-704AFF0C7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solidFill>
                  <a:srgbClr val="44546A"/>
                </a:solidFill>
                <a:latin typeface="Times New Roman"/>
                <a:cs typeface="Times New Roman"/>
              </a:endParaRPr>
            </a:p>
          </p:txBody>
        </p:sp>
        <p:sp>
          <p:nvSpPr>
            <p:cNvPr id="8" name="Freeform: Shape 7">
              <a:extLst>
                <a:ext uri="{FF2B5EF4-FFF2-40B4-BE49-F238E27FC236}">
                  <a16:creationId xmlns:a16="http://schemas.microsoft.com/office/drawing/2014/main" id="{4C4858CD-36C0-A103-B194-2EB93EE8F3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4546A"/>
                </a:solidFill>
                <a:latin typeface="Times New Roman"/>
                <a:cs typeface="Times New Roman"/>
              </a:endParaRPr>
            </a:p>
          </p:txBody>
        </p:sp>
      </p:grpSp>
      <p:sp>
        <p:nvSpPr>
          <p:cNvPr id="4" name="Content Placeholder 3">
            <a:extLst>
              <a:ext uri="{FF2B5EF4-FFF2-40B4-BE49-F238E27FC236}">
                <a16:creationId xmlns:a16="http://schemas.microsoft.com/office/drawing/2014/main" id="{0F6286D2-5349-7B93-A079-B98A727E80FC}"/>
              </a:ext>
            </a:extLst>
          </p:cNvPr>
          <p:cNvSpPr>
            <a:spLocks noGrp="1"/>
          </p:cNvSpPr>
          <p:nvPr>
            <p:ph idx="1"/>
          </p:nvPr>
        </p:nvSpPr>
        <p:spPr>
          <a:xfrm>
            <a:off x="736600" y="1083945"/>
            <a:ext cx="10515600" cy="4351338"/>
          </a:xfrm>
        </p:spPr>
        <p:txBody>
          <a:bodyPr vert="horz" lIns="91440" tIns="45720" rIns="91440" bIns="45720" rtlCol="0" anchor="t">
            <a:normAutofit/>
          </a:bodyPr>
          <a:lstStyle/>
          <a:p>
            <a:pPr>
              <a:buFont typeface="Calibri" panose="020B0604020202020204" pitchFamily="34" charset="0"/>
              <a:buChar char="-"/>
            </a:pPr>
            <a:r>
              <a:rPr lang="en-US" sz="1800" dirty="0">
                <a:solidFill>
                  <a:srgbClr val="44546A"/>
                </a:solidFill>
                <a:latin typeface="Times New Roman"/>
                <a:ea typeface="Calibri"/>
                <a:cs typeface="Times New Roman"/>
              </a:rPr>
              <a:t>Best OpenAI embedding model: </a:t>
            </a:r>
            <a:r>
              <a:rPr lang="en-US" sz="1800" b="1" dirty="0">
                <a:solidFill>
                  <a:srgbClr val="44546A"/>
                </a:solidFill>
                <a:latin typeface="Times New Roman"/>
                <a:ea typeface="Calibri"/>
                <a:cs typeface="Times New Roman"/>
              </a:rPr>
              <a:t>text-embedding-3-large</a:t>
            </a:r>
          </a:p>
          <a:p>
            <a:pPr>
              <a:buFont typeface="Calibri" panose="020B0604020202020204" pitchFamily="34" charset="0"/>
              <a:buChar char="-"/>
            </a:pPr>
            <a:r>
              <a:rPr lang="en-US" sz="1800" dirty="0">
                <a:solidFill>
                  <a:srgbClr val="44546A"/>
                </a:solidFill>
                <a:latin typeface="Times New Roman"/>
                <a:ea typeface="Calibri"/>
                <a:cs typeface="Times New Roman"/>
              </a:rPr>
              <a:t>Best similarity metric: </a:t>
            </a:r>
            <a:r>
              <a:rPr lang="en-US" sz="1800" b="1" dirty="0">
                <a:solidFill>
                  <a:srgbClr val="44546A"/>
                </a:solidFill>
                <a:latin typeface="Times New Roman"/>
                <a:ea typeface="Calibri"/>
                <a:cs typeface="Times New Roman"/>
              </a:rPr>
              <a:t>Cosine similarity</a:t>
            </a:r>
          </a:p>
          <a:p>
            <a:pPr>
              <a:buFont typeface="Calibri" panose="020B0604020202020204" pitchFamily="34" charset="0"/>
              <a:buChar char="-"/>
            </a:pPr>
            <a:r>
              <a:rPr lang="en-US" sz="1800" dirty="0">
                <a:solidFill>
                  <a:srgbClr val="44546A"/>
                </a:solidFill>
                <a:latin typeface="Times New Roman"/>
                <a:ea typeface="Calibri"/>
                <a:cs typeface="Times New Roman"/>
              </a:rPr>
              <a:t>Chunking and using exponentially weighted mean of similarities allows fine grained comparison of documents</a:t>
            </a:r>
          </a:p>
          <a:p>
            <a:pPr>
              <a:buFont typeface="Calibri" panose="020B0604020202020204" pitchFamily="34" charset="0"/>
              <a:buChar char="-"/>
            </a:pPr>
            <a:r>
              <a:rPr lang="en-US" sz="1800" dirty="0">
                <a:solidFill>
                  <a:srgbClr val="44546A"/>
                </a:solidFill>
                <a:latin typeface="Times New Roman"/>
                <a:ea typeface="Calibri"/>
                <a:cs typeface="Times New Roman"/>
              </a:rPr>
              <a:t>Implemented similarity visualization using python with different modes of viewing</a:t>
            </a:r>
          </a:p>
          <a:p>
            <a:pPr marL="0" indent="0">
              <a:buNone/>
            </a:pPr>
            <a:endParaRPr lang="en-US" dirty="0">
              <a:solidFill>
                <a:srgbClr val="44546A"/>
              </a:solidFill>
              <a:latin typeface="Times New Roman"/>
              <a:ea typeface="Calibri"/>
              <a:cs typeface="Times New Roman"/>
            </a:endParaRPr>
          </a:p>
          <a:p>
            <a:pPr>
              <a:buFont typeface="Calibri" panose="020B0604020202020204" pitchFamily="34" charset="0"/>
              <a:buChar char="-"/>
            </a:pPr>
            <a:endParaRPr lang="en-US" dirty="0">
              <a:solidFill>
                <a:srgbClr val="44546A"/>
              </a:solidFill>
              <a:latin typeface="Times New Roman"/>
              <a:ea typeface="Calibri"/>
              <a:cs typeface="Times New Roman"/>
            </a:endParaRPr>
          </a:p>
        </p:txBody>
      </p:sp>
      <p:pic>
        <p:nvPicPr>
          <p:cNvPr id="10" name="Picture 9">
            <a:extLst>
              <a:ext uri="{FF2B5EF4-FFF2-40B4-BE49-F238E27FC236}">
                <a16:creationId xmlns:a16="http://schemas.microsoft.com/office/drawing/2014/main" id="{01B67990-F585-29EC-E3DE-54D68F6602B4}"/>
              </a:ext>
            </a:extLst>
          </p:cNvPr>
          <p:cNvPicPr>
            <a:picLocks noChangeAspect="1"/>
          </p:cNvPicPr>
          <p:nvPr/>
        </p:nvPicPr>
        <p:blipFill>
          <a:blip r:embed="rId2"/>
          <a:stretch>
            <a:fillRect/>
          </a:stretch>
        </p:blipFill>
        <p:spPr>
          <a:xfrm>
            <a:off x="985520" y="3017304"/>
            <a:ext cx="3901440" cy="1158672"/>
          </a:xfrm>
          <a:prstGeom prst="rect">
            <a:avLst/>
          </a:prstGeom>
        </p:spPr>
      </p:pic>
      <p:pic>
        <p:nvPicPr>
          <p:cNvPr id="11" name="Picture 10">
            <a:extLst>
              <a:ext uri="{FF2B5EF4-FFF2-40B4-BE49-F238E27FC236}">
                <a16:creationId xmlns:a16="http://schemas.microsoft.com/office/drawing/2014/main" id="{73368DF9-DA01-0D3D-1BBA-A97BAC4CB31B}"/>
              </a:ext>
            </a:extLst>
          </p:cNvPr>
          <p:cNvPicPr>
            <a:picLocks noChangeAspect="1"/>
          </p:cNvPicPr>
          <p:nvPr/>
        </p:nvPicPr>
        <p:blipFill>
          <a:blip r:embed="rId3"/>
          <a:stretch>
            <a:fillRect/>
          </a:stretch>
        </p:blipFill>
        <p:spPr>
          <a:xfrm>
            <a:off x="5994400" y="3007144"/>
            <a:ext cx="4348480" cy="1168832"/>
          </a:xfrm>
          <a:prstGeom prst="rect">
            <a:avLst/>
          </a:prstGeom>
        </p:spPr>
      </p:pic>
      <p:pic>
        <p:nvPicPr>
          <p:cNvPr id="12" name="Picture 11" descr="A graph of different colored bars&#10;&#10;AI-generated content may be incorrect.">
            <a:extLst>
              <a:ext uri="{FF2B5EF4-FFF2-40B4-BE49-F238E27FC236}">
                <a16:creationId xmlns:a16="http://schemas.microsoft.com/office/drawing/2014/main" id="{291C25B8-9BE4-7E13-A8EB-317C2FABCAB1}"/>
              </a:ext>
            </a:extLst>
          </p:cNvPr>
          <p:cNvPicPr>
            <a:picLocks noChangeAspect="1"/>
          </p:cNvPicPr>
          <p:nvPr/>
        </p:nvPicPr>
        <p:blipFill>
          <a:blip r:embed="rId4"/>
          <a:stretch>
            <a:fillRect/>
          </a:stretch>
        </p:blipFill>
        <p:spPr>
          <a:xfrm>
            <a:off x="5984240" y="4744504"/>
            <a:ext cx="4358640" cy="1158672"/>
          </a:xfrm>
          <a:prstGeom prst="rect">
            <a:avLst/>
          </a:prstGeom>
        </p:spPr>
      </p:pic>
      <p:pic>
        <p:nvPicPr>
          <p:cNvPr id="13" name="Picture 12" descr="newplot (1).png">
            <a:extLst>
              <a:ext uri="{FF2B5EF4-FFF2-40B4-BE49-F238E27FC236}">
                <a16:creationId xmlns:a16="http://schemas.microsoft.com/office/drawing/2014/main" id="{8F8F47EC-1024-D806-2AF0-CA63261F8B75}"/>
              </a:ext>
            </a:extLst>
          </p:cNvPr>
          <p:cNvPicPr>
            <a:picLocks noChangeAspect="1"/>
          </p:cNvPicPr>
          <p:nvPr/>
        </p:nvPicPr>
        <p:blipFill>
          <a:blip r:embed="rId5"/>
          <a:stretch>
            <a:fillRect/>
          </a:stretch>
        </p:blipFill>
        <p:spPr>
          <a:xfrm>
            <a:off x="982662" y="4749165"/>
            <a:ext cx="3907155" cy="1149350"/>
          </a:xfrm>
          <a:prstGeom prst="rect">
            <a:avLst/>
          </a:prstGeom>
        </p:spPr>
      </p:pic>
      <p:sp>
        <p:nvSpPr>
          <p:cNvPr id="14" name="TextBox 13">
            <a:extLst>
              <a:ext uri="{FF2B5EF4-FFF2-40B4-BE49-F238E27FC236}">
                <a16:creationId xmlns:a16="http://schemas.microsoft.com/office/drawing/2014/main" id="{97432C57-686D-E801-DFE8-5EF61B0D5260}"/>
              </a:ext>
            </a:extLst>
          </p:cNvPr>
          <p:cNvSpPr txBox="1"/>
          <p:nvPr/>
        </p:nvSpPr>
        <p:spPr>
          <a:xfrm>
            <a:off x="982747" y="5905080"/>
            <a:ext cx="434407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44546A"/>
                </a:solidFill>
                <a:latin typeface="Times New Roman"/>
                <a:ea typeface="+mn-lt"/>
                <a:cs typeface="Times New Roman"/>
              </a:rPr>
              <a:t>Visualization using scatter plot when there are three references </a:t>
            </a:r>
          </a:p>
        </p:txBody>
      </p:sp>
      <p:sp>
        <p:nvSpPr>
          <p:cNvPr id="16" name="TextBox 15">
            <a:extLst>
              <a:ext uri="{FF2B5EF4-FFF2-40B4-BE49-F238E27FC236}">
                <a16:creationId xmlns:a16="http://schemas.microsoft.com/office/drawing/2014/main" id="{50E247BE-33AA-EE8A-0992-5E97D53CB83F}"/>
              </a:ext>
            </a:extLst>
          </p:cNvPr>
          <p:cNvSpPr txBox="1"/>
          <p:nvPr/>
        </p:nvSpPr>
        <p:spPr>
          <a:xfrm>
            <a:off x="5984240" y="5902960"/>
            <a:ext cx="483616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44546A"/>
                </a:solidFill>
                <a:latin typeface="Times New Roman"/>
                <a:ea typeface="+mn-lt"/>
                <a:cs typeface="Times New Roman"/>
              </a:rPr>
              <a:t>Visualization using scatter plot when there are two references </a:t>
            </a:r>
          </a:p>
        </p:txBody>
      </p:sp>
      <p:sp>
        <p:nvSpPr>
          <p:cNvPr id="17" name="TextBox 16">
            <a:extLst>
              <a:ext uri="{FF2B5EF4-FFF2-40B4-BE49-F238E27FC236}">
                <a16:creationId xmlns:a16="http://schemas.microsoft.com/office/drawing/2014/main" id="{DAC9F822-3B5E-A330-1805-2E53DB99936B}"/>
              </a:ext>
            </a:extLst>
          </p:cNvPr>
          <p:cNvSpPr txBox="1"/>
          <p:nvPr/>
        </p:nvSpPr>
        <p:spPr>
          <a:xfrm>
            <a:off x="5984240" y="4175760"/>
            <a:ext cx="464312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44546A"/>
                </a:solidFill>
                <a:latin typeface="Times New Roman"/>
                <a:ea typeface="+mn-lt"/>
                <a:cs typeface="Times New Roman"/>
              </a:rPr>
              <a:t>Visualization using scatter plot when there are two references </a:t>
            </a:r>
            <a:endParaRPr lang="en-US" sz="1400">
              <a:solidFill>
                <a:srgbClr val="44546A"/>
              </a:solidFill>
              <a:latin typeface="Times New Roman"/>
              <a:ea typeface="Calibri"/>
              <a:cs typeface="Times New Roman"/>
            </a:endParaRPr>
          </a:p>
        </p:txBody>
      </p:sp>
      <p:sp>
        <p:nvSpPr>
          <p:cNvPr id="19" name="TextBox 18">
            <a:extLst>
              <a:ext uri="{FF2B5EF4-FFF2-40B4-BE49-F238E27FC236}">
                <a16:creationId xmlns:a16="http://schemas.microsoft.com/office/drawing/2014/main" id="{597E930A-8708-939D-D9B9-8888BD717224}"/>
              </a:ext>
            </a:extLst>
          </p:cNvPr>
          <p:cNvSpPr txBox="1"/>
          <p:nvPr/>
        </p:nvSpPr>
        <p:spPr>
          <a:xfrm>
            <a:off x="985520" y="4175760"/>
            <a:ext cx="412496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44546A"/>
                </a:solidFill>
                <a:latin typeface="Times New Roman"/>
                <a:cs typeface="Times New Roman"/>
              </a:rPr>
              <a:t>Visualization using bar graph when there is only one reference </a:t>
            </a:r>
            <a:endParaRPr lang="en-US" sz="1400">
              <a:solidFill>
                <a:srgbClr val="44546A"/>
              </a:solidFill>
              <a:latin typeface="Times New Roman"/>
              <a:ea typeface="Calibri"/>
              <a:cs typeface="Times New Roman"/>
            </a:endParaRPr>
          </a:p>
        </p:txBody>
      </p:sp>
    </p:spTree>
    <p:extLst>
      <p:ext uri="{BB962C8B-B14F-4D97-AF65-F5344CB8AC3E}">
        <p14:creationId xmlns:p14="http://schemas.microsoft.com/office/powerpoint/2010/main" val="3782300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D05D1B-934C-EA0E-FD1D-4F2B0040A16A}"/>
            </a:ext>
          </a:extLst>
        </p:cNvPr>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44AB9954-40CC-2C53-CC09-2A1DED2F6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61">
            <a:extLst>
              <a:ext uri="{FF2B5EF4-FFF2-40B4-BE49-F238E27FC236}">
                <a16:creationId xmlns:a16="http://schemas.microsoft.com/office/drawing/2014/main" id="{1EA552AD-94BD-2C20-5FB3-EBA281524F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6" name="Freeform: Shape 15">
              <a:extLst>
                <a:ext uri="{FF2B5EF4-FFF2-40B4-BE49-F238E27FC236}">
                  <a16:creationId xmlns:a16="http://schemas.microsoft.com/office/drawing/2014/main" id="{F26AFC8F-A6B6-4001-8FCE-EF65BACBD3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63" name="Freeform: Shape 62">
              <a:extLst>
                <a:ext uri="{FF2B5EF4-FFF2-40B4-BE49-F238E27FC236}">
                  <a16:creationId xmlns:a16="http://schemas.microsoft.com/office/drawing/2014/main" id="{A83C5C10-8A7E-81F0-F904-C217BA0CC6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8" name="Freeform: Shape 17">
              <a:extLst>
                <a:ext uri="{FF2B5EF4-FFF2-40B4-BE49-F238E27FC236}">
                  <a16:creationId xmlns:a16="http://schemas.microsoft.com/office/drawing/2014/main" id="{08AEBB10-40C6-F1B4-4F5F-A017D13FCE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9" name="Freeform: Shape 18">
              <a:extLst>
                <a:ext uri="{FF2B5EF4-FFF2-40B4-BE49-F238E27FC236}">
                  <a16:creationId xmlns:a16="http://schemas.microsoft.com/office/drawing/2014/main" id="{911EFFEC-3CED-C7C6-9B48-3EC12F541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grpSp>
      <p:sp>
        <p:nvSpPr>
          <p:cNvPr id="3" name="Content Placeholder 2">
            <a:extLst>
              <a:ext uri="{FF2B5EF4-FFF2-40B4-BE49-F238E27FC236}">
                <a16:creationId xmlns:a16="http://schemas.microsoft.com/office/drawing/2014/main" id="{62F196C5-365E-5ADF-9367-A4E3C0649826}"/>
              </a:ext>
            </a:extLst>
          </p:cNvPr>
          <p:cNvSpPr>
            <a:spLocks noGrp="1"/>
          </p:cNvSpPr>
          <p:nvPr>
            <p:ph idx="1"/>
          </p:nvPr>
        </p:nvSpPr>
        <p:spPr>
          <a:xfrm>
            <a:off x="907083" y="943170"/>
            <a:ext cx="9833548" cy="5862943"/>
          </a:xfrm>
        </p:spPr>
        <p:txBody>
          <a:bodyPr vert="horz" lIns="91440" tIns="45720" rIns="91440" bIns="45720" rtlCol="0" anchor="ctr">
            <a:noAutofit/>
          </a:bodyPr>
          <a:lstStyle/>
          <a:p>
            <a:pPr marL="0" indent="0">
              <a:buNone/>
            </a:pPr>
            <a:endParaRPr lang="en-US" sz="1800" dirty="0">
              <a:solidFill>
                <a:srgbClr val="44546A"/>
              </a:solidFill>
              <a:latin typeface="Times New Roman"/>
              <a:ea typeface="+mn-lt"/>
              <a:cs typeface="Times New Roman"/>
            </a:endParaRPr>
          </a:p>
          <a:p>
            <a:pPr>
              <a:lnSpc>
                <a:spcPct val="100000"/>
              </a:lnSpc>
              <a:spcBef>
                <a:spcPts val="0"/>
              </a:spcBef>
              <a:buFont typeface="Arial"/>
              <a:buChar char="•"/>
            </a:pPr>
            <a:endParaRPr lang="en-US" sz="1800" dirty="0">
              <a:solidFill>
                <a:srgbClr val="44546A"/>
              </a:solidFill>
              <a:latin typeface="Times New Roman"/>
              <a:ea typeface="Calibri"/>
              <a:cs typeface="Times New Roman"/>
            </a:endParaRPr>
          </a:p>
          <a:p>
            <a:endParaRPr lang="en-US" sz="1000" dirty="0">
              <a:solidFill>
                <a:srgbClr val="44546A"/>
              </a:solidFill>
              <a:latin typeface="Times New Roman"/>
              <a:ea typeface="Calibri"/>
              <a:cs typeface="Times New Roman"/>
            </a:endParaRPr>
          </a:p>
          <a:p>
            <a:pPr marL="0" indent="0">
              <a:buNone/>
            </a:pPr>
            <a:endParaRPr lang="en-US" sz="1000" dirty="0">
              <a:solidFill>
                <a:srgbClr val="44546A"/>
              </a:solidFill>
              <a:latin typeface="Times New Roman"/>
              <a:ea typeface="Calibri"/>
              <a:cs typeface="Times New Roman"/>
            </a:endParaRPr>
          </a:p>
          <a:p>
            <a:endParaRPr lang="en-US" sz="1000" dirty="0">
              <a:solidFill>
                <a:srgbClr val="44546A"/>
              </a:solidFill>
              <a:latin typeface="Times New Roman"/>
              <a:ea typeface="Calibri"/>
              <a:cs typeface="Times New Roman"/>
            </a:endParaRPr>
          </a:p>
        </p:txBody>
      </p:sp>
      <p:sp>
        <p:nvSpPr>
          <p:cNvPr id="6" name="Slide Number Placeholder 5">
            <a:extLst>
              <a:ext uri="{FF2B5EF4-FFF2-40B4-BE49-F238E27FC236}">
                <a16:creationId xmlns:a16="http://schemas.microsoft.com/office/drawing/2014/main" id="{00D75D00-EAC3-9AD1-1088-021B5B930B53}"/>
              </a:ext>
            </a:extLst>
          </p:cNvPr>
          <p:cNvSpPr>
            <a:spLocks noGrp="1"/>
          </p:cNvSpPr>
          <p:nvPr>
            <p:ph type="sldNum" sz="quarter" idx="12"/>
          </p:nvPr>
        </p:nvSpPr>
        <p:spPr>
          <a:xfrm>
            <a:off x="8610600" y="6356350"/>
            <a:ext cx="2743200" cy="365125"/>
          </a:xfrm>
        </p:spPr>
        <p:txBody>
          <a:bodyPr>
            <a:normAutofit/>
          </a:bodyPr>
          <a:lstStyle/>
          <a:p>
            <a:pPr>
              <a:spcAft>
                <a:spcPts val="600"/>
              </a:spcAft>
            </a:pPr>
            <a:fld id="{A65A5C87-DF58-40C8-B092-1DE63DB4547E}" type="slidenum">
              <a:rPr lang="en-US" dirty="0">
                <a:solidFill>
                  <a:srgbClr val="44546A"/>
                </a:solidFill>
                <a:latin typeface="Times New Roman"/>
                <a:cs typeface="Times New Roman"/>
              </a:rPr>
              <a:pPr>
                <a:spcAft>
                  <a:spcPts val="600"/>
                </a:spcAft>
              </a:pPr>
              <a:t>15</a:t>
            </a:fld>
            <a:endParaRPr lang="en-US">
              <a:solidFill>
                <a:srgbClr val="44546A"/>
              </a:solidFill>
              <a:latin typeface="Times New Roman"/>
              <a:cs typeface="Times New Roman"/>
            </a:endParaRPr>
          </a:p>
        </p:txBody>
      </p:sp>
      <p:sp>
        <p:nvSpPr>
          <p:cNvPr id="4" name="Date Placeholder 3">
            <a:extLst>
              <a:ext uri="{FF2B5EF4-FFF2-40B4-BE49-F238E27FC236}">
                <a16:creationId xmlns:a16="http://schemas.microsoft.com/office/drawing/2014/main" id="{5ED0627A-25D9-B24A-5281-B4FB3001F152}"/>
              </a:ext>
            </a:extLst>
          </p:cNvPr>
          <p:cNvSpPr>
            <a:spLocks noGrp="1"/>
          </p:cNvSpPr>
          <p:nvPr>
            <p:ph type="dt" sz="half" idx="10"/>
          </p:nvPr>
        </p:nvSpPr>
        <p:spPr>
          <a:xfrm>
            <a:off x="804672" y="6356350"/>
            <a:ext cx="2743200" cy="365125"/>
          </a:xfrm>
        </p:spPr>
        <p:txBody>
          <a:bodyPr>
            <a:normAutofit/>
          </a:bodyPr>
          <a:lstStyle/>
          <a:p>
            <a:pPr>
              <a:spcAft>
                <a:spcPts val="600"/>
              </a:spcAft>
            </a:pPr>
            <a:fld id="{347B3B64-E82E-4B4A-9E04-97E41708B91C}" type="datetime1">
              <a:rPr lang="en-US"/>
              <a:pPr>
                <a:spcAft>
                  <a:spcPts val="600"/>
                </a:spcAft>
              </a:pPr>
              <a:t>3/31/2025</a:t>
            </a:fld>
            <a:endParaRPr lang="en-US"/>
          </a:p>
        </p:txBody>
      </p:sp>
      <p:sp>
        <p:nvSpPr>
          <p:cNvPr id="5" name="Title 1">
            <a:extLst>
              <a:ext uri="{FF2B5EF4-FFF2-40B4-BE49-F238E27FC236}">
                <a16:creationId xmlns:a16="http://schemas.microsoft.com/office/drawing/2014/main" id="{36550156-0E73-A7A6-8325-9662557CBE12}"/>
              </a:ext>
            </a:extLst>
          </p:cNvPr>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44546A"/>
                </a:solidFill>
                <a:latin typeface="Times New Roman"/>
                <a:cs typeface="Times New Roman"/>
              </a:rPr>
              <a:t>Limitations</a:t>
            </a:r>
          </a:p>
        </p:txBody>
      </p:sp>
      <p:sp>
        <p:nvSpPr>
          <p:cNvPr id="7" name="TextBox 4">
            <a:extLst>
              <a:ext uri="{FF2B5EF4-FFF2-40B4-BE49-F238E27FC236}">
                <a16:creationId xmlns:a16="http://schemas.microsoft.com/office/drawing/2014/main" id="{AD1218B7-D831-2AA6-66CF-FC63919B8FAD}"/>
              </a:ext>
            </a:extLst>
          </p:cNvPr>
          <p:cNvSpPr txBox="1"/>
          <p:nvPr/>
        </p:nvSpPr>
        <p:spPr>
          <a:xfrm>
            <a:off x="839273" y="1558344"/>
            <a:ext cx="10728101" cy="58785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Calibri"/>
              <a:buChar char="-"/>
            </a:pPr>
            <a:r>
              <a:rPr lang="en-US" b="1" dirty="0">
                <a:solidFill>
                  <a:srgbClr val="44546A"/>
                </a:solidFill>
                <a:latin typeface="Times New Roman"/>
                <a:cs typeface="Times New Roman"/>
              </a:rPr>
              <a:t>Increased processing time and compute power</a:t>
            </a:r>
            <a:r>
              <a:rPr lang="en-US" dirty="0">
                <a:solidFill>
                  <a:srgbClr val="44546A"/>
                </a:solidFill>
                <a:latin typeface="Times New Roman"/>
                <a:cs typeface="Times New Roman"/>
              </a:rPr>
              <a:t> – As documents are processed in smaller chunks now,  the </a:t>
            </a:r>
            <a:r>
              <a:rPr lang="en-US">
                <a:solidFill>
                  <a:srgbClr val="44546A"/>
                </a:solidFill>
                <a:latin typeface="Times New Roman"/>
                <a:cs typeface="Times New Roman"/>
              </a:rPr>
              <a:t>computational costs and processing time have increased, and may slow down the application, particularly for large-scale comparisons of large documents.</a:t>
            </a:r>
          </a:p>
          <a:p>
            <a:endParaRPr lang="en-US" dirty="0">
              <a:solidFill>
                <a:srgbClr val="44546A"/>
              </a:solidFill>
              <a:latin typeface="Times New Roman"/>
              <a:ea typeface="Calibri" panose="020F0502020204030204"/>
              <a:cs typeface="Times New Roman"/>
            </a:endParaRPr>
          </a:p>
          <a:p>
            <a:r>
              <a:rPr lang="en-US" sz="4400" dirty="0">
                <a:solidFill>
                  <a:srgbClr val="44546A"/>
                </a:solidFill>
                <a:latin typeface="Times New Roman"/>
                <a:ea typeface="Calibri Light"/>
                <a:cs typeface="Times New Roman"/>
              </a:rPr>
              <a:t>Future Work</a:t>
            </a:r>
          </a:p>
          <a:p>
            <a:pPr marL="285750" indent="-285750">
              <a:buFont typeface="Calibri"/>
              <a:buChar char="-"/>
            </a:pPr>
            <a:r>
              <a:rPr lang="en-US" b="1" dirty="0">
                <a:solidFill>
                  <a:srgbClr val="44546A"/>
                </a:solidFill>
                <a:latin typeface="Times New Roman"/>
                <a:ea typeface="+mn-lt"/>
                <a:cs typeface="Times New Roman"/>
              </a:rPr>
              <a:t>Optimizing Performance</a:t>
            </a:r>
            <a:r>
              <a:rPr lang="en-US" dirty="0">
                <a:solidFill>
                  <a:srgbClr val="44546A"/>
                </a:solidFill>
                <a:latin typeface="Times New Roman"/>
                <a:ea typeface="+mn-lt"/>
                <a:cs typeface="Times New Roman"/>
              </a:rPr>
              <a:t> – Implement multithreading to speed up embedding generation and similarity calculations, reducing processing time for large datasets.</a:t>
            </a:r>
            <a:endParaRPr lang="en-US" dirty="0">
              <a:solidFill>
                <a:srgbClr val="44546A"/>
              </a:solidFill>
              <a:latin typeface="Times New Roman"/>
              <a:ea typeface="Calibri Light"/>
              <a:cs typeface="Times New Roman"/>
            </a:endParaRPr>
          </a:p>
          <a:p>
            <a:pPr marL="285750" indent="-285750">
              <a:buFont typeface="Calibri"/>
              <a:buChar char="-"/>
            </a:pPr>
            <a:r>
              <a:rPr lang="en-US" b="1" dirty="0">
                <a:solidFill>
                  <a:srgbClr val="44546A"/>
                </a:solidFill>
                <a:latin typeface="Times New Roman"/>
                <a:ea typeface="+mn-lt"/>
                <a:cs typeface="Times New Roman"/>
              </a:rPr>
              <a:t>Domain-Specific Customization </a:t>
            </a:r>
            <a:r>
              <a:rPr lang="en-US" dirty="0">
                <a:solidFill>
                  <a:srgbClr val="44546A"/>
                </a:solidFill>
                <a:latin typeface="Times New Roman"/>
                <a:ea typeface="+mn-lt"/>
                <a:cs typeface="Times New Roman"/>
              </a:rPr>
              <a:t>– </a:t>
            </a:r>
            <a:r>
              <a:rPr lang="en-US" b="1" dirty="0">
                <a:solidFill>
                  <a:srgbClr val="44546A"/>
                </a:solidFill>
                <a:latin typeface="Times New Roman"/>
                <a:ea typeface="+mn-lt"/>
                <a:cs typeface="Times New Roman"/>
              </a:rPr>
              <a:t> </a:t>
            </a:r>
            <a:r>
              <a:rPr lang="en-US" dirty="0">
                <a:solidFill>
                  <a:srgbClr val="44546A"/>
                </a:solidFill>
                <a:latin typeface="Times New Roman"/>
                <a:ea typeface="+mn-lt"/>
                <a:cs typeface="Times New Roman"/>
              </a:rPr>
              <a:t>The application can be adapted for specific use cases in different fields by </a:t>
            </a:r>
            <a:r>
              <a:rPr lang="en-US">
                <a:solidFill>
                  <a:srgbClr val="44546A"/>
                </a:solidFill>
                <a:latin typeface="Times New Roman"/>
                <a:ea typeface="+mn-lt"/>
                <a:cs typeface="Times New Roman"/>
              </a:rPr>
              <a:t>customizing the preprocessing steps, and fine-</a:t>
            </a:r>
            <a:r>
              <a:rPr lang="en-US" dirty="0">
                <a:solidFill>
                  <a:srgbClr val="44546A"/>
                </a:solidFill>
                <a:latin typeface="Times New Roman"/>
                <a:ea typeface="+mn-lt"/>
                <a:cs typeface="Times New Roman"/>
              </a:rPr>
              <a:t>tuning the β value in the exponentially weighted mean function </a:t>
            </a:r>
            <a:r>
              <a:rPr lang="en-US">
                <a:solidFill>
                  <a:srgbClr val="44546A"/>
                </a:solidFill>
                <a:latin typeface="Times New Roman"/>
                <a:ea typeface="+mn-lt"/>
                <a:cs typeface="Times New Roman"/>
              </a:rPr>
              <a:t>to optimize similarity scoring based on domain-specific requirements. There is opportunity to integrate semantic chunking that can improve accuracy and optimize the chunking process.</a:t>
            </a:r>
            <a:endParaRPr lang="en-US" dirty="0">
              <a:solidFill>
                <a:srgbClr val="44546A"/>
              </a:solidFill>
              <a:latin typeface="Times New Roman"/>
              <a:ea typeface="+mn-lt"/>
              <a:cs typeface="Times New Roman"/>
            </a:endParaRPr>
          </a:p>
          <a:p>
            <a:pPr marL="285750" indent="-285750">
              <a:buFont typeface="Calibri"/>
              <a:buChar char="-"/>
            </a:pPr>
            <a:r>
              <a:rPr lang="en-US" b="1" dirty="0">
                <a:solidFill>
                  <a:srgbClr val="44546A"/>
                </a:solidFill>
                <a:latin typeface="Times New Roman"/>
                <a:ea typeface="+mn-lt"/>
                <a:cs typeface="Times New Roman"/>
              </a:rPr>
              <a:t>Integration with Additional Models</a:t>
            </a:r>
            <a:r>
              <a:rPr lang="en-US" dirty="0">
                <a:solidFill>
                  <a:srgbClr val="44546A"/>
                </a:solidFill>
                <a:latin typeface="Times New Roman"/>
                <a:ea typeface="+mn-lt"/>
                <a:cs typeface="Times New Roman"/>
              </a:rPr>
              <a:t> – Extend the application to support newer embedding models, for enhanced flexibility and to improve performance.</a:t>
            </a:r>
            <a:endParaRPr lang="en-US" dirty="0">
              <a:solidFill>
                <a:srgbClr val="44546A"/>
              </a:solidFill>
              <a:latin typeface="Times New Roman"/>
              <a:ea typeface="Calibri" panose="020F0502020204030204"/>
              <a:cs typeface="Times New Roman"/>
            </a:endParaRPr>
          </a:p>
          <a:p>
            <a:endParaRPr lang="en-US" sz="4400" dirty="0">
              <a:solidFill>
                <a:srgbClr val="44546A"/>
              </a:solidFill>
              <a:latin typeface="Times New Roman"/>
              <a:ea typeface="Calibri Light"/>
              <a:cs typeface="Times New Roman"/>
            </a:endParaRPr>
          </a:p>
          <a:p>
            <a:endParaRPr lang="en-US">
              <a:solidFill>
                <a:srgbClr val="44546A"/>
              </a:solidFill>
              <a:latin typeface="Times New Roman"/>
              <a:ea typeface="Calibri" panose="020F0502020204030204"/>
              <a:cs typeface="Times New Roman"/>
            </a:endParaRPr>
          </a:p>
          <a:p>
            <a:endParaRPr lang="en-US">
              <a:solidFill>
                <a:srgbClr val="44546A"/>
              </a:solidFill>
              <a:latin typeface="Times New Roman"/>
              <a:ea typeface="Calibri" panose="020F0502020204030204"/>
              <a:cs typeface="Times New Roman"/>
            </a:endParaRPr>
          </a:p>
          <a:p>
            <a:endParaRPr lang="en-US">
              <a:solidFill>
                <a:srgbClr val="44546A"/>
              </a:solidFill>
              <a:latin typeface="Times New Roman"/>
              <a:ea typeface="Calibri" panose="020F0502020204030204"/>
              <a:cs typeface="Times New Roman"/>
            </a:endParaRPr>
          </a:p>
          <a:p>
            <a:endParaRPr lang="en-US" b="1">
              <a:solidFill>
                <a:srgbClr val="44546A"/>
              </a:solidFill>
              <a:latin typeface="Times New Roman"/>
              <a:ea typeface="Calibri" panose="020F0502020204030204"/>
              <a:cs typeface="Times New Roman"/>
            </a:endParaRPr>
          </a:p>
        </p:txBody>
      </p:sp>
    </p:spTree>
    <p:extLst>
      <p:ext uri="{BB962C8B-B14F-4D97-AF65-F5344CB8AC3E}">
        <p14:creationId xmlns:p14="http://schemas.microsoft.com/office/powerpoint/2010/main" val="3196774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4CCFB9-38BA-DCB4-ABEF-B0329DD36181}"/>
            </a:ext>
          </a:extLst>
        </p:cNvPr>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22C77B95-60F8-D0F8-4D38-DEF40E2CF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61">
            <a:extLst>
              <a:ext uri="{FF2B5EF4-FFF2-40B4-BE49-F238E27FC236}">
                <a16:creationId xmlns:a16="http://schemas.microsoft.com/office/drawing/2014/main" id="{495B81F0-85AE-B128-640D-23C91B16A8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6" name="Freeform: Shape 15">
              <a:extLst>
                <a:ext uri="{FF2B5EF4-FFF2-40B4-BE49-F238E27FC236}">
                  <a16:creationId xmlns:a16="http://schemas.microsoft.com/office/drawing/2014/main" id="{AC35F43B-7020-EE2A-D45F-7DA57231B5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63" name="Freeform: Shape 62">
              <a:extLst>
                <a:ext uri="{FF2B5EF4-FFF2-40B4-BE49-F238E27FC236}">
                  <a16:creationId xmlns:a16="http://schemas.microsoft.com/office/drawing/2014/main" id="{6475FF74-6918-EE76-4FE9-0B62D44838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8" name="Freeform: Shape 17">
              <a:extLst>
                <a:ext uri="{FF2B5EF4-FFF2-40B4-BE49-F238E27FC236}">
                  <a16:creationId xmlns:a16="http://schemas.microsoft.com/office/drawing/2014/main" id="{1BC208A7-E285-93FC-A308-3DDF871403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9" name="Freeform: Shape 18">
              <a:extLst>
                <a:ext uri="{FF2B5EF4-FFF2-40B4-BE49-F238E27FC236}">
                  <a16:creationId xmlns:a16="http://schemas.microsoft.com/office/drawing/2014/main" id="{3DB13009-2FBE-AF58-C4ED-C3D05EB5E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grpSp>
      <p:sp>
        <p:nvSpPr>
          <p:cNvPr id="6" name="Slide Number Placeholder 5">
            <a:extLst>
              <a:ext uri="{FF2B5EF4-FFF2-40B4-BE49-F238E27FC236}">
                <a16:creationId xmlns:a16="http://schemas.microsoft.com/office/drawing/2014/main" id="{ABEA6F2A-3263-178B-B043-B3FE85051364}"/>
              </a:ext>
            </a:extLst>
          </p:cNvPr>
          <p:cNvSpPr>
            <a:spLocks noGrp="1"/>
          </p:cNvSpPr>
          <p:nvPr>
            <p:ph type="sldNum" sz="quarter" idx="12"/>
          </p:nvPr>
        </p:nvSpPr>
        <p:spPr>
          <a:xfrm>
            <a:off x="8610600" y="6356350"/>
            <a:ext cx="2743200" cy="365125"/>
          </a:xfrm>
        </p:spPr>
        <p:txBody>
          <a:bodyPr>
            <a:normAutofit/>
          </a:bodyPr>
          <a:lstStyle/>
          <a:p>
            <a:pPr>
              <a:spcAft>
                <a:spcPts val="600"/>
              </a:spcAft>
            </a:pPr>
            <a:fld id="{A65A5C87-DF58-40C8-B092-1DE63DB4547E}" type="slidenum">
              <a:rPr lang="en-US" dirty="0">
                <a:solidFill>
                  <a:srgbClr val="44546A"/>
                </a:solidFill>
                <a:latin typeface="Times New Roman"/>
                <a:cs typeface="Times New Roman"/>
              </a:rPr>
              <a:pPr>
                <a:spcAft>
                  <a:spcPts val="600"/>
                </a:spcAft>
              </a:pPr>
              <a:t>16</a:t>
            </a:fld>
            <a:endParaRPr lang="en-US">
              <a:solidFill>
                <a:srgbClr val="44546A"/>
              </a:solidFill>
              <a:latin typeface="Times New Roman"/>
              <a:cs typeface="Times New Roman"/>
            </a:endParaRPr>
          </a:p>
        </p:txBody>
      </p:sp>
      <p:sp>
        <p:nvSpPr>
          <p:cNvPr id="4" name="Date Placeholder 3">
            <a:extLst>
              <a:ext uri="{FF2B5EF4-FFF2-40B4-BE49-F238E27FC236}">
                <a16:creationId xmlns:a16="http://schemas.microsoft.com/office/drawing/2014/main" id="{FB8A53AD-9557-B851-5F5D-E64F8FA6689F}"/>
              </a:ext>
            </a:extLst>
          </p:cNvPr>
          <p:cNvSpPr>
            <a:spLocks noGrp="1"/>
          </p:cNvSpPr>
          <p:nvPr>
            <p:ph type="dt" sz="half" idx="10"/>
          </p:nvPr>
        </p:nvSpPr>
        <p:spPr>
          <a:xfrm>
            <a:off x="804672" y="6356350"/>
            <a:ext cx="2743200" cy="365125"/>
          </a:xfrm>
        </p:spPr>
        <p:txBody>
          <a:bodyPr>
            <a:normAutofit/>
          </a:bodyPr>
          <a:lstStyle/>
          <a:p>
            <a:pPr>
              <a:spcAft>
                <a:spcPts val="600"/>
              </a:spcAft>
            </a:pPr>
            <a:fld id="{347B3B64-E82E-4B4A-9E04-97E41708B91C}" type="datetime1">
              <a:rPr lang="en-US"/>
              <a:pPr>
                <a:spcAft>
                  <a:spcPts val="600"/>
                </a:spcAft>
              </a:pPr>
              <a:t>3/31/2025</a:t>
            </a:fld>
            <a:endParaRPr lang="en-US"/>
          </a:p>
        </p:txBody>
      </p:sp>
      <p:sp>
        <p:nvSpPr>
          <p:cNvPr id="29" name="Title 1">
            <a:extLst>
              <a:ext uri="{FF2B5EF4-FFF2-40B4-BE49-F238E27FC236}">
                <a16:creationId xmlns:a16="http://schemas.microsoft.com/office/drawing/2014/main" id="{199446B9-A2EB-90F4-9225-10D6E73FDC16}"/>
              </a:ext>
            </a:extLst>
          </p:cNvPr>
          <p:cNvSpPr>
            <a:spLocks noGrp="1"/>
          </p:cNvSpPr>
          <p:nvPr/>
        </p:nvSpPr>
        <p:spPr>
          <a:xfrm>
            <a:off x="838200" y="365125"/>
            <a:ext cx="10515600" cy="1325563"/>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44546A"/>
                </a:solidFill>
                <a:latin typeface="Times New Roman"/>
                <a:cs typeface="Times New Roman"/>
              </a:rPr>
              <a:t>Conclusion</a:t>
            </a:r>
          </a:p>
        </p:txBody>
      </p:sp>
      <p:sp>
        <p:nvSpPr>
          <p:cNvPr id="30" name="Content Placeholder 2">
            <a:extLst>
              <a:ext uri="{FF2B5EF4-FFF2-40B4-BE49-F238E27FC236}">
                <a16:creationId xmlns:a16="http://schemas.microsoft.com/office/drawing/2014/main" id="{97D559AD-2E15-DD56-B770-769D64E02BA3}"/>
              </a:ext>
            </a:extLst>
          </p:cNvPr>
          <p:cNvSpPr>
            <a:spLocks noGrp="1"/>
          </p:cNvSpPr>
          <p:nvPr/>
        </p:nvSpPr>
        <p:spPr>
          <a:xfrm>
            <a:off x="838200" y="1825625"/>
            <a:ext cx="10515600" cy="4351338"/>
          </a:xfrm>
          <a:prstGeom prst="rect">
            <a:avLst/>
          </a:prstGeom>
        </p:spPr>
        <p:txBody>
          <a:bodyPr vert="horz" lIns="91440" tIns="45720" rIns="91440" bIns="45720" rtlCol="0" anchor="t">
            <a:norm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a:solidFill>
                  <a:srgbClr val="44546A"/>
                </a:solidFill>
                <a:latin typeface="Times New Roman"/>
                <a:ea typeface="+mn-lt"/>
                <a:cs typeface="Times New Roman"/>
              </a:rPr>
              <a:t>Successfully developed a C# application to compute and analyze semantic similarity across different textual levels.</a:t>
            </a:r>
            <a:endParaRPr lang="en-US" sz="2000">
              <a:solidFill>
                <a:srgbClr val="44546A"/>
              </a:solidFill>
              <a:latin typeface="Times New Roman"/>
              <a:ea typeface="Calibri"/>
              <a:cs typeface="Times New Roman"/>
            </a:endParaRPr>
          </a:p>
          <a:p>
            <a:pPr>
              <a:buFont typeface="Calibri" panose="020B0604020202020204" pitchFamily="34" charset="0"/>
              <a:buChar char="-"/>
            </a:pPr>
            <a:r>
              <a:rPr lang="en-US" sz="2000">
                <a:solidFill>
                  <a:srgbClr val="44546A"/>
                </a:solidFill>
                <a:latin typeface="Times New Roman"/>
                <a:ea typeface="+mn-lt"/>
                <a:cs typeface="Times New Roman"/>
              </a:rPr>
              <a:t>Implemented OpenAI embeddings and advanced similarity metrics to enhance accuracy.</a:t>
            </a:r>
            <a:endParaRPr lang="en-US" sz="2000">
              <a:solidFill>
                <a:srgbClr val="44546A"/>
              </a:solidFill>
              <a:latin typeface="Times New Roman"/>
              <a:ea typeface="Calibri"/>
              <a:cs typeface="Times New Roman"/>
            </a:endParaRPr>
          </a:p>
          <a:p>
            <a:pPr>
              <a:buFont typeface="Calibri" panose="020B0604020202020204" pitchFamily="34" charset="0"/>
              <a:buChar char="-"/>
            </a:pPr>
            <a:r>
              <a:rPr lang="en-US" sz="2000">
                <a:solidFill>
                  <a:srgbClr val="44546A"/>
                </a:solidFill>
                <a:latin typeface="Times New Roman"/>
                <a:ea typeface="+mn-lt"/>
                <a:cs typeface="Times New Roman"/>
              </a:rPr>
              <a:t>Integrated an interactive Python Dash-based visualization tool for better interpretability.</a:t>
            </a:r>
            <a:endParaRPr lang="en-US" sz="2000">
              <a:solidFill>
                <a:srgbClr val="44546A"/>
              </a:solidFill>
              <a:latin typeface="Times New Roman"/>
              <a:ea typeface="Calibri"/>
              <a:cs typeface="Times New Roman"/>
            </a:endParaRPr>
          </a:p>
          <a:p>
            <a:pPr>
              <a:buFont typeface="Calibri" panose="020B0604020202020204" pitchFamily="34" charset="0"/>
              <a:buChar char="-"/>
            </a:pPr>
            <a:r>
              <a:rPr lang="en-US" sz="2000">
                <a:solidFill>
                  <a:srgbClr val="44546A"/>
                </a:solidFill>
                <a:latin typeface="Times New Roman"/>
                <a:ea typeface="+mn-lt"/>
                <a:cs typeface="Times New Roman"/>
              </a:rPr>
              <a:t>Demonstrated the effectiveness of exponentially weighted mean similarity for fine-grained document differentiation.</a:t>
            </a:r>
          </a:p>
          <a:p>
            <a:pPr>
              <a:buFont typeface="Calibri" panose="020B0604020202020204" pitchFamily="34" charset="0"/>
              <a:buChar char="-"/>
            </a:pPr>
            <a:r>
              <a:rPr lang="en-US" sz="2000">
                <a:solidFill>
                  <a:srgbClr val="44546A"/>
                </a:solidFill>
                <a:latin typeface="Times New Roman"/>
                <a:ea typeface="+mn-lt"/>
                <a:cs typeface="Times New Roman"/>
              </a:rPr>
              <a:t>The project lays the foundation for more efficient and adaptable text similarity analysis in various domains.</a:t>
            </a:r>
            <a:endParaRPr lang="en-US" sz="2000">
              <a:solidFill>
                <a:srgbClr val="44546A"/>
              </a:solidFill>
              <a:latin typeface="Times New Roman"/>
              <a:ea typeface="Calibri"/>
              <a:cs typeface="Times New Roman"/>
            </a:endParaRPr>
          </a:p>
          <a:p>
            <a:pPr>
              <a:buFont typeface="Calibri" panose="020B0604020202020204" pitchFamily="34" charset="0"/>
              <a:buChar char="-"/>
            </a:pPr>
            <a:endParaRPr lang="en-US" dirty="0">
              <a:solidFill>
                <a:srgbClr val="44546A"/>
              </a:solidFill>
              <a:latin typeface="Times New Roman"/>
              <a:ea typeface="+mn-lt"/>
              <a:cs typeface="Times New Roman"/>
            </a:endParaRPr>
          </a:p>
          <a:p>
            <a:pPr>
              <a:buFont typeface="Calibri" panose="020B0604020202020204" pitchFamily="34" charset="0"/>
              <a:buChar char="-"/>
            </a:pPr>
            <a:endParaRPr lang="en-US" dirty="0">
              <a:solidFill>
                <a:srgbClr val="44546A"/>
              </a:solidFill>
              <a:latin typeface="Times New Roman"/>
              <a:ea typeface="Calibri"/>
              <a:cs typeface="Times New Roman"/>
            </a:endParaRPr>
          </a:p>
        </p:txBody>
      </p:sp>
    </p:spTree>
    <p:extLst>
      <p:ext uri="{BB962C8B-B14F-4D97-AF65-F5344CB8AC3E}">
        <p14:creationId xmlns:p14="http://schemas.microsoft.com/office/powerpoint/2010/main" val="147580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523395-BEDF-DFE8-111E-CBE3E52BFE64}"/>
            </a:ext>
          </a:extLst>
        </p:cNvPr>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405C84E0-349B-229B-D77C-B7DD3F4AB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61">
            <a:extLst>
              <a:ext uri="{FF2B5EF4-FFF2-40B4-BE49-F238E27FC236}">
                <a16:creationId xmlns:a16="http://schemas.microsoft.com/office/drawing/2014/main" id="{8A4E5063-DDB6-EB02-9F4C-6B8C8F1948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6" name="Freeform: Shape 15">
              <a:extLst>
                <a:ext uri="{FF2B5EF4-FFF2-40B4-BE49-F238E27FC236}">
                  <a16:creationId xmlns:a16="http://schemas.microsoft.com/office/drawing/2014/main" id="{8B139344-9B41-90C1-A3A2-44558EED5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63" name="Freeform: Shape 62">
              <a:extLst>
                <a:ext uri="{FF2B5EF4-FFF2-40B4-BE49-F238E27FC236}">
                  <a16:creationId xmlns:a16="http://schemas.microsoft.com/office/drawing/2014/main" id="{E7116324-49A1-58E6-2452-3D52A3E9E7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8" name="Freeform: Shape 17">
              <a:extLst>
                <a:ext uri="{FF2B5EF4-FFF2-40B4-BE49-F238E27FC236}">
                  <a16:creationId xmlns:a16="http://schemas.microsoft.com/office/drawing/2014/main" id="{FB091D57-B5AB-C065-AEA4-2E10A6BD43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sp>
          <p:nvSpPr>
            <p:cNvPr id="19" name="Freeform: Shape 18">
              <a:extLst>
                <a:ext uri="{FF2B5EF4-FFF2-40B4-BE49-F238E27FC236}">
                  <a16:creationId xmlns:a16="http://schemas.microsoft.com/office/drawing/2014/main" id="{B80041E3-D2BC-3129-141A-A026A45EF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4546A"/>
                </a:solidFill>
                <a:latin typeface="Times New Roman"/>
                <a:cs typeface="Times New Roman"/>
              </a:endParaRPr>
            </a:p>
          </p:txBody>
        </p:sp>
      </p:grpSp>
      <p:sp>
        <p:nvSpPr>
          <p:cNvPr id="6" name="Slide Number Placeholder 5">
            <a:extLst>
              <a:ext uri="{FF2B5EF4-FFF2-40B4-BE49-F238E27FC236}">
                <a16:creationId xmlns:a16="http://schemas.microsoft.com/office/drawing/2014/main" id="{30D7F3FA-730C-5F74-B650-A65013EF0B04}"/>
              </a:ext>
            </a:extLst>
          </p:cNvPr>
          <p:cNvSpPr>
            <a:spLocks noGrp="1"/>
          </p:cNvSpPr>
          <p:nvPr>
            <p:ph type="sldNum" sz="quarter" idx="12"/>
          </p:nvPr>
        </p:nvSpPr>
        <p:spPr>
          <a:xfrm>
            <a:off x="8610600" y="6356350"/>
            <a:ext cx="2743200" cy="365125"/>
          </a:xfrm>
        </p:spPr>
        <p:txBody>
          <a:bodyPr>
            <a:normAutofit/>
          </a:bodyPr>
          <a:lstStyle/>
          <a:p>
            <a:pPr>
              <a:spcAft>
                <a:spcPts val="600"/>
              </a:spcAft>
            </a:pPr>
            <a:fld id="{A65A5C87-DF58-40C8-B092-1DE63DB4547E}" type="slidenum">
              <a:rPr lang="en-US" dirty="0">
                <a:solidFill>
                  <a:srgbClr val="44546A"/>
                </a:solidFill>
                <a:latin typeface="Times New Roman"/>
                <a:cs typeface="Times New Roman"/>
              </a:rPr>
              <a:pPr>
                <a:spcAft>
                  <a:spcPts val="600"/>
                </a:spcAft>
              </a:pPr>
              <a:t>17</a:t>
            </a:fld>
            <a:endParaRPr lang="en-US">
              <a:solidFill>
                <a:srgbClr val="44546A"/>
              </a:solidFill>
              <a:latin typeface="Times New Roman"/>
              <a:cs typeface="Times New Roman"/>
            </a:endParaRPr>
          </a:p>
        </p:txBody>
      </p:sp>
      <p:sp>
        <p:nvSpPr>
          <p:cNvPr id="4" name="Date Placeholder 3">
            <a:extLst>
              <a:ext uri="{FF2B5EF4-FFF2-40B4-BE49-F238E27FC236}">
                <a16:creationId xmlns:a16="http://schemas.microsoft.com/office/drawing/2014/main" id="{B634C180-4BB6-6D08-7873-6C73639DEEEE}"/>
              </a:ext>
            </a:extLst>
          </p:cNvPr>
          <p:cNvSpPr>
            <a:spLocks noGrp="1"/>
          </p:cNvSpPr>
          <p:nvPr>
            <p:ph type="dt" sz="half" idx="10"/>
          </p:nvPr>
        </p:nvSpPr>
        <p:spPr>
          <a:xfrm>
            <a:off x="804672" y="6356350"/>
            <a:ext cx="2743200" cy="365125"/>
          </a:xfrm>
        </p:spPr>
        <p:txBody>
          <a:bodyPr>
            <a:normAutofit/>
          </a:bodyPr>
          <a:lstStyle/>
          <a:p>
            <a:pPr>
              <a:spcAft>
                <a:spcPts val="600"/>
              </a:spcAft>
            </a:pPr>
            <a:fld id="{347B3B64-E82E-4B4A-9E04-97E41708B91C}" type="datetime1">
              <a:rPr lang="en-US"/>
              <a:pPr>
                <a:spcAft>
                  <a:spcPts val="600"/>
                </a:spcAft>
              </a:pPr>
              <a:t>3/31/2025</a:t>
            </a:fld>
            <a:endParaRPr lang="en-US"/>
          </a:p>
        </p:txBody>
      </p:sp>
      <p:sp>
        <p:nvSpPr>
          <p:cNvPr id="29" name="Title 1">
            <a:extLst>
              <a:ext uri="{FF2B5EF4-FFF2-40B4-BE49-F238E27FC236}">
                <a16:creationId xmlns:a16="http://schemas.microsoft.com/office/drawing/2014/main" id="{7A23A297-55E4-C47F-E3E2-26CAAAA3D8CD}"/>
              </a:ext>
            </a:extLst>
          </p:cNvPr>
          <p:cNvSpPr>
            <a:spLocks noGrp="1"/>
          </p:cNvSpPr>
          <p:nvPr/>
        </p:nvSpPr>
        <p:spPr>
          <a:xfrm>
            <a:off x="838200" y="365125"/>
            <a:ext cx="10515600" cy="1325563"/>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44546A"/>
                </a:solidFill>
                <a:latin typeface="Times New Roman"/>
                <a:cs typeface="Times New Roman"/>
              </a:rPr>
              <a:t>References</a:t>
            </a:r>
          </a:p>
        </p:txBody>
      </p:sp>
      <p:sp>
        <p:nvSpPr>
          <p:cNvPr id="30" name="Content Placeholder 2">
            <a:extLst>
              <a:ext uri="{FF2B5EF4-FFF2-40B4-BE49-F238E27FC236}">
                <a16:creationId xmlns:a16="http://schemas.microsoft.com/office/drawing/2014/main" id="{8DCBBEC9-42B5-EA52-E119-3D4850BBC3E3}"/>
              </a:ext>
            </a:extLst>
          </p:cNvPr>
          <p:cNvSpPr>
            <a:spLocks noGrp="1"/>
          </p:cNvSpPr>
          <p:nvPr/>
        </p:nvSpPr>
        <p:spPr>
          <a:xfrm>
            <a:off x="838200" y="2008505"/>
            <a:ext cx="10515600" cy="4351338"/>
          </a:xfrm>
          <a:prstGeom prst="rect">
            <a:avLst/>
          </a:prstGeom>
        </p:spPr>
        <p:txBody>
          <a:bodyPr vert="horz" lIns="91440" tIns="45720" rIns="91440" bIns="45720" rtlCol="0" anchor="t">
            <a:norm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AutoNum type="arabicPeriod"/>
            </a:pPr>
            <a:r>
              <a:rPr lang="en-US" sz="2000">
                <a:solidFill>
                  <a:srgbClr val="44546A"/>
                </a:solidFill>
                <a:latin typeface="Times New Roman"/>
                <a:ea typeface="+mn-lt"/>
                <a:cs typeface="Times New Roman"/>
              </a:rPr>
              <a:t>H. Cao, “Recent advances in text embedding: A comprehensive review of top-performing methods on the MTEB benchmark,” arXiv preprint, arXiv:2406.01607, 2024. Available: </a:t>
            </a:r>
            <a:r>
              <a:rPr lang="en-US" sz="2000" dirty="0">
                <a:solidFill>
                  <a:srgbClr val="44546A"/>
                </a:solidFill>
                <a:latin typeface="Times New Roman"/>
                <a:ea typeface="+mn-lt"/>
                <a:cs typeface="Times New Roman"/>
                <a:hlinkClick r:id="rId2">
                  <a:extLst>
                    <a:ext uri="{A12FA001-AC4F-418D-AE19-62706E023703}">
                      <ahyp:hlinkClr xmlns:ahyp="http://schemas.microsoft.com/office/drawing/2018/hyperlinkcolor" val="tx"/>
                    </a:ext>
                  </a:extLst>
                </a:hlinkClick>
              </a:rPr>
              <a:t>https://arxiv.org/abs/2406.01607</a:t>
            </a:r>
            <a:r>
              <a:rPr lang="en-US" sz="2000" dirty="0">
                <a:solidFill>
                  <a:srgbClr val="44546A"/>
                </a:solidFill>
                <a:latin typeface="Times New Roman"/>
                <a:ea typeface="+mn-lt"/>
                <a:cs typeface="Times New Roman"/>
              </a:rPr>
              <a:t>. </a:t>
            </a:r>
            <a:endParaRPr lang="en-US" sz="2000">
              <a:solidFill>
                <a:srgbClr val="44546A"/>
              </a:solidFill>
              <a:latin typeface="Times New Roman"/>
              <a:ea typeface="Calibri"/>
              <a:cs typeface="Times New Roman"/>
            </a:endParaRPr>
          </a:p>
          <a:p>
            <a:pPr marL="514350" indent="-514350">
              <a:buAutoNum type="arabicPeriod"/>
            </a:pPr>
            <a:endParaRPr lang="en-US" sz="2000" dirty="0">
              <a:solidFill>
                <a:srgbClr val="44546A"/>
              </a:solidFill>
              <a:latin typeface="Times New Roman"/>
              <a:ea typeface="+mn-lt"/>
              <a:cs typeface="Times New Roman"/>
            </a:endParaRPr>
          </a:p>
          <a:p>
            <a:pPr marL="514350" indent="-514350">
              <a:buAutoNum type="arabicPeriod"/>
            </a:pPr>
            <a:r>
              <a:rPr lang="en-US" sz="2000">
                <a:solidFill>
                  <a:srgbClr val="44546A"/>
                </a:solidFill>
                <a:latin typeface="Times New Roman"/>
                <a:ea typeface="+mn-lt"/>
                <a:cs typeface="Times New Roman"/>
              </a:rPr>
              <a:t>S. Zhang, Y. Liang, M. Gong, D. Jiang, and N. Duan, “Multi-view document representation learning for open-domain dense retrieval,” arXiv preprint, vol. 2203.08372, 2022. Available: </a:t>
            </a:r>
            <a:r>
              <a:rPr lang="en-US" sz="2000" dirty="0">
                <a:solidFill>
                  <a:srgbClr val="44546A"/>
                </a:solidFill>
                <a:latin typeface="Times New Roman"/>
                <a:ea typeface="+mn-lt"/>
                <a:cs typeface="Times New Roman"/>
              </a:rPr>
              <a:t>https://arxiv.org/abs/2203.08372. </a:t>
            </a:r>
          </a:p>
          <a:p>
            <a:pPr marL="514350" indent="-514350">
              <a:buAutoNum type="arabicPeriod"/>
            </a:pPr>
            <a:endParaRPr lang="en-US" dirty="0">
              <a:solidFill>
                <a:srgbClr val="44546A"/>
              </a:solidFill>
              <a:latin typeface="Times New Roman"/>
              <a:ea typeface="+mn-lt"/>
              <a:cs typeface="Times New Roman"/>
            </a:endParaRPr>
          </a:p>
          <a:p>
            <a:pPr>
              <a:buAutoNum type="arabicPeriod"/>
            </a:pPr>
            <a:endParaRPr lang="en-US" dirty="0">
              <a:solidFill>
                <a:srgbClr val="44546A"/>
              </a:solidFill>
              <a:latin typeface="Times New Roman"/>
              <a:ea typeface="Calibri"/>
              <a:cs typeface="Times New Roman"/>
            </a:endParaRPr>
          </a:p>
        </p:txBody>
      </p:sp>
    </p:spTree>
    <p:extLst>
      <p:ext uri="{BB962C8B-B14F-4D97-AF65-F5344CB8AC3E}">
        <p14:creationId xmlns:p14="http://schemas.microsoft.com/office/powerpoint/2010/main" val="3282098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6DA71C-9C32-F1C6-75C5-C0269DF74FE7}"/>
            </a:ext>
          </a:extLst>
        </p:cNvPr>
        <p:cNvGrpSpPr/>
        <p:nvPr/>
      </p:nvGrpSpPr>
      <p:grpSpPr>
        <a:xfrm>
          <a:off x="0" y="0"/>
          <a:ext cx="0" cy="0"/>
          <a:chOff x="0" y="0"/>
          <a:chExt cx="0" cy="0"/>
        </a:xfrm>
      </p:grpSpPr>
      <p:grpSp>
        <p:nvGrpSpPr>
          <p:cNvPr id="62" name="Group 61">
            <a:extLst>
              <a:ext uri="{FF2B5EF4-FFF2-40B4-BE49-F238E27FC236}">
                <a16:creationId xmlns:a16="http://schemas.microsoft.com/office/drawing/2014/main" id="{B3CD0141-B15B-9709-1C97-EAB0D22D02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6" name="Freeform: Shape 15">
              <a:extLst>
                <a:ext uri="{FF2B5EF4-FFF2-40B4-BE49-F238E27FC236}">
                  <a16:creationId xmlns:a16="http://schemas.microsoft.com/office/drawing/2014/main" id="{4C14454C-A063-9421-B907-0E5D7D145B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C814AD31-8F2A-7885-F463-B50CE95821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EE83D6F-E0AD-DC7B-C04B-A80CE53D1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263EC50F-564C-7148-F20B-52812C223A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lide Number Placeholder 5">
            <a:extLst>
              <a:ext uri="{FF2B5EF4-FFF2-40B4-BE49-F238E27FC236}">
                <a16:creationId xmlns:a16="http://schemas.microsoft.com/office/drawing/2014/main" id="{712C87F9-851D-D5B5-5B84-CB6F023830D2}"/>
              </a:ext>
            </a:extLst>
          </p:cNvPr>
          <p:cNvSpPr>
            <a:spLocks noGrp="1"/>
          </p:cNvSpPr>
          <p:nvPr>
            <p:ph type="sldNum" sz="quarter" idx="12"/>
          </p:nvPr>
        </p:nvSpPr>
        <p:spPr>
          <a:xfrm>
            <a:off x="8610600" y="6356350"/>
            <a:ext cx="2743200" cy="365125"/>
          </a:xfrm>
        </p:spPr>
        <p:txBody>
          <a:bodyPr>
            <a:normAutofit/>
          </a:bodyPr>
          <a:lstStyle/>
          <a:p>
            <a:pPr>
              <a:spcAft>
                <a:spcPts val="600"/>
              </a:spcAft>
            </a:pPr>
            <a:fld id="{A65A5C87-DF58-40C8-B092-1DE63DB4547E}" type="slidenum">
              <a:rPr lang="en-US" dirty="0"/>
              <a:pPr>
                <a:spcAft>
                  <a:spcPts val="600"/>
                </a:spcAft>
              </a:pPr>
              <a:t>18</a:t>
            </a:fld>
            <a:endParaRPr lang="en-US"/>
          </a:p>
        </p:txBody>
      </p:sp>
      <p:sp>
        <p:nvSpPr>
          <p:cNvPr id="4" name="Date Placeholder 3">
            <a:extLst>
              <a:ext uri="{FF2B5EF4-FFF2-40B4-BE49-F238E27FC236}">
                <a16:creationId xmlns:a16="http://schemas.microsoft.com/office/drawing/2014/main" id="{DCFFB3FE-B512-59BF-65D8-EAC001FB693D}"/>
              </a:ext>
            </a:extLst>
          </p:cNvPr>
          <p:cNvSpPr>
            <a:spLocks noGrp="1"/>
          </p:cNvSpPr>
          <p:nvPr>
            <p:ph type="dt" sz="half" idx="10"/>
          </p:nvPr>
        </p:nvSpPr>
        <p:spPr>
          <a:xfrm>
            <a:off x="804672" y="6356350"/>
            <a:ext cx="2743200" cy="365125"/>
          </a:xfrm>
        </p:spPr>
        <p:txBody>
          <a:bodyPr>
            <a:normAutofit/>
          </a:bodyPr>
          <a:lstStyle/>
          <a:p>
            <a:pPr>
              <a:spcAft>
                <a:spcPts val="600"/>
              </a:spcAft>
            </a:pPr>
            <a:fld id="{347B3B64-E82E-4B4A-9E04-97E41708B91C}" type="datetime1">
              <a:rPr lang="en-US"/>
              <a:pPr>
                <a:spcAft>
                  <a:spcPts val="600"/>
                </a:spcAft>
              </a:pPr>
              <a:t>3/31/2025</a:t>
            </a:fld>
            <a:endParaRPr lang="en-US"/>
          </a:p>
        </p:txBody>
      </p:sp>
      <p:sp>
        <p:nvSpPr>
          <p:cNvPr id="3" name="Title 1">
            <a:extLst>
              <a:ext uri="{FF2B5EF4-FFF2-40B4-BE49-F238E27FC236}">
                <a16:creationId xmlns:a16="http://schemas.microsoft.com/office/drawing/2014/main" id="{36A28BA0-98BC-9F5B-3AC2-4E44D8630975}"/>
              </a:ext>
            </a:extLst>
          </p:cNvPr>
          <p:cNvSpPr>
            <a:spLocks noGrp="1"/>
          </p:cNvSpPr>
          <p:nvPr/>
        </p:nvSpPr>
        <p:spPr>
          <a:xfrm>
            <a:off x="1300480" y="592773"/>
            <a:ext cx="5318760" cy="43719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a:solidFill>
                  <a:schemeClr val="tx2"/>
                </a:solidFill>
                <a:latin typeface="Times New Roman"/>
                <a:cs typeface="Times New Roman"/>
              </a:rPr>
              <a:t>THANK YOU !</a:t>
            </a:r>
          </a:p>
        </p:txBody>
      </p:sp>
    </p:spTree>
    <p:extLst>
      <p:ext uri="{BB962C8B-B14F-4D97-AF65-F5344CB8AC3E}">
        <p14:creationId xmlns:p14="http://schemas.microsoft.com/office/powerpoint/2010/main" val="380126310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ML 24/25-09  Semantic Similarity Analysis  of Textual Data</vt:lpstr>
      <vt:lpstr>CONTENTS</vt:lpstr>
      <vt:lpstr>OBJECTIVE</vt:lpstr>
      <vt:lpstr> Introduction </vt:lpstr>
      <vt:lpstr>Introduction </vt:lpstr>
      <vt:lpstr>System Design</vt:lpstr>
      <vt:lpstr>System Design</vt:lpstr>
      <vt:lpstr>Mode – Compare Words/Phrases with Words/Phrases</vt:lpstr>
      <vt:lpstr>Mode – Compare Documents with Words/Phrases</vt:lpstr>
      <vt:lpstr>Mode – Compare Documents with Words/Phrases</vt:lpstr>
      <vt:lpstr>Mode – Compare Documents with Words/Phrases</vt:lpstr>
      <vt:lpstr>PowerPoint Presentation</vt:lpstr>
      <vt:lpstr>Python app for visualization</vt:lpstr>
      <vt:lpstr>Results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1485</cp:revision>
  <dcterms:created xsi:type="dcterms:W3CDTF">2025-03-28T17:49:58Z</dcterms:created>
  <dcterms:modified xsi:type="dcterms:W3CDTF">2025-03-31T10:34:42Z</dcterms:modified>
</cp:coreProperties>
</file>